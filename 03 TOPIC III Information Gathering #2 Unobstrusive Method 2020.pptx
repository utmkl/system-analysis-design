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73" r:id="rId2"/>
    <p:sldId id="266" r:id="rId3"/>
    <p:sldId id="268" r:id="rId4"/>
    <p:sldId id="267" r:id="rId5"/>
    <p:sldId id="269" r:id="rId6"/>
    <p:sldId id="272" r:id="rId7"/>
    <p:sldId id="273" r:id="rId8"/>
    <p:sldId id="264" r:id="rId9"/>
    <p:sldId id="265" r:id="rId10"/>
    <p:sldId id="274" r:id="rId11"/>
    <p:sldId id="275" r:id="rId12"/>
    <p:sldId id="270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71" r:id="rId21"/>
    <p:sldId id="283" r:id="rId22"/>
    <p:sldId id="284" r:id="rId23"/>
    <p:sldId id="285" r:id="rId24"/>
    <p:sldId id="286" r:id="rId25"/>
    <p:sldId id="287" r:id="rId26"/>
    <p:sldId id="288" r:id="rId27"/>
    <p:sldId id="262" r:id="rId2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D7A3"/>
    <a:srgbClr val="FFCB63"/>
    <a:srgbClr val="B43500"/>
    <a:srgbClr val="AE6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3842" autoAdjust="0"/>
  </p:normalViewPr>
  <p:slideViewPr>
    <p:cSldViewPr snapToGrid="0">
      <p:cViewPr varScale="1">
        <p:scale>
          <a:sx n="67" d="100"/>
          <a:sy n="67" d="100"/>
        </p:scale>
        <p:origin x="4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525FF7B7-45DF-FA40-BA8F-C3AA0B2AD2CA}">
      <dgm:prSet/>
      <dgm:spPr/>
      <dgm:t>
        <a:bodyPr/>
        <a:lstStyle/>
        <a:p>
          <a:r>
            <a:rPr lang="en-MY" dirty="0"/>
            <a:t>SAMPLING</a:t>
          </a:r>
        </a:p>
      </dgm:t>
    </dgm:pt>
    <dgm:pt modelId="{44614C75-33C9-1346-AE33-01AF9E91DA71}" type="parTrans" cxnId="{6A891B55-669D-4243-B528-3201E49C598D}">
      <dgm:prSet/>
      <dgm:spPr/>
      <dgm:t>
        <a:bodyPr/>
        <a:lstStyle/>
        <a:p>
          <a:endParaRPr lang="en-GB"/>
        </a:p>
      </dgm:t>
    </dgm:pt>
    <dgm:pt modelId="{FBB7AF22-E434-544A-BCC1-0E1B0B2AC122}" type="sibTrans" cxnId="{6A891B55-669D-4243-B528-3201E49C598D}">
      <dgm:prSet/>
      <dgm:spPr/>
      <dgm:t>
        <a:bodyPr/>
        <a:lstStyle/>
        <a:p>
          <a:endParaRPr lang="en-GB"/>
        </a:p>
      </dgm:t>
    </dgm:pt>
    <dgm:pt modelId="{29CA0E37-B777-1B45-8D42-5505C7EF4DD6}">
      <dgm:prSet/>
      <dgm:spPr/>
      <dgm:t>
        <a:bodyPr/>
        <a:lstStyle/>
        <a:p>
          <a:r>
            <a:rPr lang="en-MY" dirty="0"/>
            <a:t>INVESTIGATION</a:t>
          </a:r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4AA98B38-E5F2-2346-8449-3A4F2B68B624}">
      <dgm:prSet/>
      <dgm:spPr/>
      <dgm:t>
        <a:bodyPr/>
        <a:lstStyle/>
        <a:p>
          <a:r>
            <a:rPr lang="en-GB" dirty="0"/>
            <a:t>Quantitative</a:t>
          </a:r>
        </a:p>
      </dgm:t>
    </dgm:pt>
    <dgm:pt modelId="{78F25BB2-FB4C-0C40-9EC6-7E209B7A7959}" type="parTrans" cxnId="{7F0F6BDB-E644-FB47-8ED7-F841642B3251}">
      <dgm:prSet/>
      <dgm:spPr/>
      <dgm:t>
        <a:bodyPr/>
        <a:lstStyle/>
        <a:p>
          <a:endParaRPr lang="en-GB"/>
        </a:p>
      </dgm:t>
    </dgm:pt>
    <dgm:pt modelId="{A147DA46-FB8F-6342-A9CB-18B8CEC73C78}" type="sibTrans" cxnId="{7F0F6BDB-E644-FB47-8ED7-F841642B3251}">
      <dgm:prSet/>
      <dgm:spPr/>
      <dgm:t>
        <a:bodyPr/>
        <a:lstStyle/>
        <a:p>
          <a:endParaRPr lang="en-GB"/>
        </a:p>
      </dgm:t>
    </dgm:pt>
    <dgm:pt modelId="{B5767DEE-0C59-1743-A8EE-CFFAC36D3474}">
      <dgm:prSet/>
      <dgm:spPr/>
      <dgm:t>
        <a:bodyPr/>
        <a:lstStyle/>
        <a:p>
          <a:r>
            <a:rPr lang="en-GB" dirty="0"/>
            <a:t>Qualitative</a:t>
          </a:r>
        </a:p>
      </dgm:t>
    </dgm:pt>
    <dgm:pt modelId="{285B8102-9930-6649-BAD1-103B32EE037C}" type="parTrans" cxnId="{595FD539-05D5-0441-841D-0D25EB0A53B8}">
      <dgm:prSet/>
      <dgm:spPr/>
      <dgm:t>
        <a:bodyPr/>
        <a:lstStyle/>
        <a:p>
          <a:endParaRPr lang="en-GB"/>
        </a:p>
      </dgm:t>
    </dgm:pt>
    <dgm:pt modelId="{9429575E-035A-854D-B37E-25DABE599D39}" type="sibTrans" cxnId="{595FD539-05D5-0441-841D-0D25EB0A53B8}">
      <dgm:prSet/>
      <dgm:spPr/>
      <dgm:t>
        <a:bodyPr/>
        <a:lstStyle/>
        <a:p>
          <a:endParaRPr lang="en-GB"/>
        </a:p>
      </dgm:t>
    </dgm:pt>
    <dgm:pt modelId="{41FBE87C-157B-214E-87C9-6A1C7ED7FE03}">
      <dgm:prSet/>
      <dgm:spPr/>
      <dgm:t>
        <a:bodyPr/>
        <a:lstStyle/>
        <a:p>
          <a:r>
            <a:rPr lang="en-US" b="1" dirty="0"/>
            <a:t>OBSERVATION</a:t>
          </a:r>
          <a:endParaRPr lang="en-MY" dirty="0"/>
        </a:p>
      </dgm:t>
    </dgm:pt>
    <dgm:pt modelId="{9155D718-1FC1-3F4D-8F2E-781E49A169FF}" type="sibTrans" cxnId="{5B127372-A974-D54E-ABAB-CC45AABEE999}">
      <dgm:prSet/>
      <dgm:spPr/>
      <dgm:t>
        <a:bodyPr/>
        <a:lstStyle/>
        <a:p>
          <a:endParaRPr lang="en-GB"/>
        </a:p>
      </dgm:t>
    </dgm:pt>
    <dgm:pt modelId="{D4BA1163-1DCF-D34A-82C1-EBE08534E676}" type="parTrans" cxnId="{5B127372-A974-D54E-ABAB-CC45AABEE999}">
      <dgm:prSet/>
      <dgm:spPr/>
      <dgm:t>
        <a:bodyPr/>
        <a:lstStyle/>
        <a:p>
          <a:endParaRPr lang="en-GB"/>
        </a:p>
      </dgm:t>
    </dgm:pt>
    <dgm:pt modelId="{D05BE251-5223-0E45-8FE9-B29429E1ED6C}">
      <dgm:prSet/>
      <dgm:spPr/>
      <dgm:t>
        <a:bodyPr/>
        <a:lstStyle/>
        <a:p>
          <a:r>
            <a:rPr lang="en-GB" dirty="0"/>
            <a:t>STROBE</a:t>
          </a:r>
        </a:p>
      </dgm:t>
    </dgm:pt>
    <dgm:pt modelId="{FED15990-40CA-974B-9D56-EC831F99287F}" type="parTrans" cxnId="{9832E87D-E320-3A48-BEF0-BF26278D345C}">
      <dgm:prSet/>
      <dgm:spPr/>
      <dgm:t>
        <a:bodyPr/>
        <a:lstStyle/>
        <a:p>
          <a:endParaRPr lang="en-GB"/>
        </a:p>
      </dgm:t>
    </dgm:pt>
    <dgm:pt modelId="{E867C8B7-7AA0-6F4A-ADDA-FE4D3678A5C1}" type="sibTrans" cxnId="{9832E87D-E320-3A48-BEF0-BF26278D345C}">
      <dgm:prSet/>
      <dgm:spPr/>
      <dgm:t>
        <a:bodyPr/>
        <a:lstStyle/>
        <a:p>
          <a:endParaRPr lang="en-GB"/>
        </a:p>
      </dgm:t>
    </dgm:pt>
    <dgm:pt modelId="{02E4B243-8CDA-A241-8188-ABDE0C2BC7CD}">
      <dgm:prSet/>
      <dgm:spPr/>
      <dgm:t>
        <a:bodyPr/>
        <a:lstStyle/>
        <a:p>
          <a:r>
            <a:rPr lang="en-MY" dirty="0"/>
            <a:t>Types of Sampling</a:t>
          </a:r>
        </a:p>
      </dgm:t>
    </dgm:pt>
    <dgm:pt modelId="{00FED560-DF69-3445-B969-5E7E37E62793}" type="parTrans" cxnId="{FB2BFE54-7F3E-3B46-B324-7AB32C9CCA2B}">
      <dgm:prSet/>
      <dgm:spPr/>
      <dgm:t>
        <a:bodyPr/>
        <a:lstStyle/>
        <a:p>
          <a:endParaRPr lang="en-GB"/>
        </a:p>
      </dgm:t>
    </dgm:pt>
    <dgm:pt modelId="{4165B81B-24ED-784B-8152-E0192BBF24B2}" type="sibTrans" cxnId="{FB2BFE54-7F3E-3B46-B324-7AB32C9CCA2B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267EA5D5-E941-8541-9A49-9B5A3E7AA808}" type="pres">
      <dgm:prSet presAssocID="{525FF7B7-45DF-FA40-BA8F-C3AA0B2AD2CA}" presName="linNode" presStyleCnt="0"/>
      <dgm:spPr/>
    </dgm:pt>
    <dgm:pt modelId="{3E0D387A-B967-1140-8AD6-3ED717D320AA}" type="pres">
      <dgm:prSet presAssocID="{525FF7B7-45DF-FA40-BA8F-C3AA0B2AD2C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8EE4304-683A-B24B-917D-EB887AE51392}" type="pres">
      <dgm:prSet presAssocID="{525FF7B7-45DF-FA40-BA8F-C3AA0B2AD2CA}" presName="descendantText" presStyleLbl="alignAccFollowNode1" presStyleIdx="0" presStyleCnt="3">
        <dgm:presLayoutVars>
          <dgm:bulletEnabled val="1"/>
        </dgm:presLayoutVars>
      </dgm:prSet>
      <dgm:spPr/>
    </dgm:pt>
    <dgm:pt modelId="{D29D6126-FEF5-D943-B195-03050CF36A5D}" type="pres">
      <dgm:prSet presAssocID="{FBB7AF22-E434-544A-BCC1-0E1B0B2AC122}" presName="sp" presStyleCnt="0"/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909DCAD-A626-344D-B261-E724B29F0CEE}" type="pres">
      <dgm:prSet presAssocID="{29CA0E37-B777-1B45-8D42-5505C7EF4DD6}" presName="descendantText" presStyleLbl="alignAccFollowNode1" presStyleIdx="1" presStyleCnt="3">
        <dgm:presLayoutVars>
          <dgm:bulletEnabled val="1"/>
        </dgm:presLayoutVars>
      </dgm:prSet>
      <dgm:spPr/>
    </dgm:pt>
    <dgm:pt modelId="{3629FC86-0326-9246-B9D9-79ACBCB14890}" type="pres">
      <dgm:prSet presAssocID="{A5EB22FF-A85E-764D-B3B3-B399B012CDCD}" presName="sp" presStyleCnt="0"/>
      <dgm:spPr/>
    </dgm:pt>
    <dgm:pt modelId="{CBF80E1D-D967-C84E-9C4F-F8CD0EAB51C7}" type="pres">
      <dgm:prSet presAssocID="{41FBE87C-157B-214E-87C9-6A1C7ED7FE03}" presName="linNode" presStyleCnt="0"/>
      <dgm:spPr/>
    </dgm:pt>
    <dgm:pt modelId="{282AF86B-5651-D740-B3E2-314500A8BB47}" type="pres">
      <dgm:prSet presAssocID="{41FBE87C-157B-214E-87C9-6A1C7ED7FE0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FDF0917-8051-D946-9D89-38E545DE9D05}" type="pres">
      <dgm:prSet presAssocID="{41FBE87C-157B-214E-87C9-6A1C7ED7FE0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595FD539-05D5-0441-841D-0D25EB0A53B8}" srcId="{29CA0E37-B777-1B45-8D42-5505C7EF4DD6}" destId="{B5767DEE-0C59-1743-A8EE-CFFAC36D3474}" srcOrd="1" destOrd="0" parTransId="{285B8102-9930-6649-BAD1-103B32EE037C}" sibTransId="{9429575E-035A-854D-B37E-25DABE599D39}"/>
    <dgm:cxn modelId="{5A56B747-AE64-4B4E-96CA-72F403951E9A}" srcId="{66E13D44-AA4E-B140-965B-FB71BC866BAD}" destId="{29CA0E37-B777-1B45-8D42-5505C7EF4DD6}" srcOrd="1" destOrd="0" parTransId="{4050C5FE-8BDA-0C4E-94B9-599367D9D16D}" sibTransId="{A5EB22FF-A85E-764D-B3B3-B399B012CDCD}"/>
    <dgm:cxn modelId="{4BD8834B-8014-7D40-B82B-0B10D59F4C4E}" type="presOf" srcId="{41FBE87C-157B-214E-87C9-6A1C7ED7FE03}" destId="{282AF86B-5651-D740-B3E2-314500A8BB47}" srcOrd="0" destOrd="0" presId="urn:microsoft.com/office/officeart/2005/8/layout/vList5"/>
    <dgm:cxn modelId="{89F14350-F91A-9B42-8B3D-D13300FE0024}" type="presOf" srcId="{B5767DEE-0C59-1743-A8EE-CFFAC36D3474}" destId="{7909DCAD-A626-344D-B261-E724B29F0CEE}" srcOrd="0" destOrd="1" presId="urn:microsoft.com/office/officeart/2005/8/layout/vList5"/>
    <dgm:cxn modelId="{5B127372-A974-D54E-ABAB-CC45AABEE999}" srcId="{66E13D44-AA4E-B140-965B-FB71BC866BAD}" destId="{41FBE87C-157B-214E-87C9-6A1C7ED7FE03}" srcOrd="2" destOrd="0" parTransId="{D4BA1163-1DCF-D34A-82C1-EBE08534E676}" sibTransId="{9155D718-1FC1-3F4D-8F2E-781E49A169FF}"/>
    <dgm:cxn modelId="{350D9972-79A0-A94C-AB5E-1D75C31946E5}" type="presOf" srcId="{02E4B243-8CDA-A241-8188-ABDE0C2BC7CD}" destId="{28EE4304-683A-B24B-917D-EB887AE51392}" srcOrd="0" destOrd="0" presId="urn:microsoft.com/office/officeart/2005/8/layout/vList5"/>
    <dgm:cxn modelId="{C7E80073-C806-B148-82E8-9E834E178DFE}" type="presOf" srcId="{525FF7B7-45DF-FA40-BA8F-C3AA0B2AD2CA}" destId="{3E0D387A-B967-1140-8AD6-3ED717D320AA}" srcOrd="0" destOrd="0" presId="urn:microsoft.com/office/officeart/2005/8/layout/vList5"/>
    <dgm:cxn modelId="{FB2BFE54-7F3E-3B46-B324-7AB32C9CCA2B}" srcId="{525FF7B7-45DF-FA40-BA8F-C3AA0B2AD2CA}" destId="{02E4B243-8CDA-A241-8188-ABDE0C2BC7CD}" srcOrd="0" destOrd="0" parTransId="{00FED560-DF69-3445-B969-5E7E37E62793}" sibTransId="{4165B81B-24ED-784B-8152-E0192BBF24B2}"/>
    <dgm:cxn modelId="{6A891B55-669D-4243-B528-3201E49C598D}" srcId="{66E13D44-AA4E-B140-965B-FB71BC866BAD}" destId="{525FF7B7-45DF-FA40-BA8F-C3AA0B2AD2CA}" srcOrd="0" destOrd="0" parTransId="{44614C75-33C9-1346-AE33-01AF9E91DA71}" sibTransId="{FBB7AF22-E434-544A-BCC1-0E1B0B2AC122}"/>
    <dgm:cxn modelId="{9832E87D-E320-3A48-BEF0-BF26278D345C}" srcId="{41FBE87C-157B-214E-87C9-6A1C7ED7FE03}" destId="{D05BE251-5223-0E45-8FE9-B29429E1ED6C}" srcOrd="0" destOrd="0" parTransId="{FED15990-40CA-974B-9D56-EC831F99287F}" sibTransId="{E867C8B7-7AA0-6F4A-ADDA-FE4D3678A5C1}"/>
    <dgm:cxn modelId="{4BCBB58E-CA42-3B45-B0C0-7C090005AB0B}" type="presOf" srcId="{D05BE251-5223-0E45-8FE9-B29429E1ED6C}" destId="{9FDF0917-8051-D946-9D89-38E545DE9D05}" srcOrd="0" destOrd="0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7F0F6BDB-E644-FB47-8ED7-F841642B3251}" srcId="{29CA0E37-B777-1B45-8D42-5505C7EF4DD6}" destId="{4AA98B38-E5F2-2346-8449-3A4F2B68B624}" srcOrd="0" destOrd="0" parTransId="{78F25BB2-FB4C-0C40-9EC6-7E209B7A7959}" sibTransId="{A147DA46-FB8F-6342-A9CB-18B8CEC73C78}"/>
    <dgm:cxn modelId="{B9DA3DF2-6338-E440-B487-E9FBA3333DCD}" type="presOf" srcId="{4AA98B38-E5F2-2346-8449-3A4F2B68B624}" destId="{7909DCAD-A626-344D-B261-E724B29F0CEE}" srcOrd="0" destOrd="0" presId="urn:microsoft.com/office/officeart/2005/8/layout/vList5"/>
    <dgm:cxn modelId="{95C59005-5123-3E47-9B14-AEAE4E33C8A4}" type="presParOf" srcId="{9403BA41-611A-FA42-8804-EA979A74D0A5}" destId="{267EA5D5-E941-8541-9A49-9B5A3E7AA808}" srcOrd="0" destOrd="0" presId="urn:microsoft.com/office/officeart/2005/8/layout/vList5"/>
    <dgm:cxn modelId="{8F93950F-D678-284C-AD27-6B3A5D52111D}" type="presParOf" srcId="{267EA5D5-E941-8541-9A49-9B5A3E7AA808}" destId="{3E0D387A-B967-1140-8AD6-3ED717D320AA}" srcOrd="0" destOrd="0" presId="urn:microsoft.com/office/officeart/2005/8/layout/vList5"/>
    <dgm:cxn modelId="{E5CB24BE-ABFD-D042-B768-A0D9546397D5}" type="presParOf" srcId="{267EA5D5-E941-8541-9A49-9B5A3E7AA808}" destId="{28EE4304-683A-B24B-917D-EB887AE51392}" srcOrd="1" destOrd="0" presId="urn:microsoft.com/office/officeart/2005/8/layout/vList5"/>
    <dgm:cxn modelId="{656ACA59-E023-364F-9E43-81FE8D7CF41B}" type="presParOf" srcId="{9403BA41-611A-FA42-8804-EA979A74D0A5}" destId="{D29D6126-FEF5-D943-B195-03050CF36A5D}" srcOrd="1" destOrd="0" presId="urn:microsoft.com/office/officeart/2005/8/layout/vList5"/>
    <dgm:cxn modelId="{B00F0DBE-D9A6-1343-AEB6-0884DB3FBD6E}" type="presParOf" srcId="{9403BA41-611A-FA42-8804-EA979A74D0A5}" destId="{FFECDE15-43EA-BD48-9814-7BB57CB3D4EA}" srcOrd="2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F300E734-C7DC-7F4E-B8EF-66E58A5C4BDB}" type="presParOf" srcId="{FFECDE15-43EA-BD48-9814-7BB57CB3D4EA}" destId="{7909DCAD-A626-344D-B261-E724B29F0CEE}" srcOrd="1" destOrd="0" presId="urn:microsoft.com/office/officeart/2005/8/layout/vList5"/>
    <dgm:cxn modelId="{99D7267C-091C-FE47-956E-A45D1CBD71F7}" type="presParOf" srcId="{9403BA41-611A-FA42-8804-EA979A74D0A5}" destId="{3629FC86-0326-9246-B9D9-79ACBCB14890}" srcOrd="3" destOrd="0" presId="urn:microsoft.com/office/officeart/2005/8/layout/vList5"/>
    <dgm:cxn modelId="{2CAD2E9F-7C2C-2D48-91C0-B4CBBEEBABDE}" type="presParOf" srcId="{9403BA41-611A-FA42-8804-EA979A74D0A5}" destId="{CBF80E1D-D967-C84E-9C4F-F8CD0EAB51C7}" srcOrd="4" destOrd="0" presId="urn:microsoft.com/office/officeart/2005/8/layout/vList5"/>
    <dgm:cxn modelId="{BC55CD20-0A0C-C543-9370-48FBC63A2A2C}" type="presParOf" srcId="{CBF80E1D-D967-C84E-9C4F-F8CD0EAB51C7}" destId="{282AF86B-5651-D740-B3E2-314500A8BB47}" srcOrd="0" destOrd="0" presId="urn:microsoft.com/office/officeart/2005/8/layout/vList5"/>
    <dgm:cxn modelId="{4FD2FBB6-A863-D84F-B89F-5AA95BF7EFEF}" type="presParOf" srcId="{CBF80E1D-D967-C84E-9C4F-F8CD0EAB51C7}" destId="{9FDF0917-8051-D946-9D89-38E545DE9D0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525FF7B7-45DF-FA40-BA8F-C3AA0B2AD2CA}">
      <dgm:prSet/>
      <dgm:spPr/>
      <dgm:t>
        <a:bodyPr/>
        <a:lstStyle/>
        <a:p>
          <a:r>
            <a:rPr lang="en-MY" dirty="0"/>
            <a:t>SAMPLING</a:t>
          </a:r>
        </a:p>
      </dgm:t>
    </dgm:pt>
    <dgm:pt modelId="{44614C75-33C9-1346-AE33-01AF9E91DA71}" type="parTrans" cxnId="{6A891B55-669D-4243-B528-3201E49C598D}">
      <dgm:prSet/>
      <dgm:spPr/>
      <dgm:t>
        <a:bodyPr/>
        <a:lstStyle/>
        <a:p>
          <a:endParaRPr lang="en-GB"/>
        </a:p>
      </dgm:t>
    </dgm:pt>
    <dgm:pt modelId="{FBB7AF22-E434-544A-BCC1-0E1B0B2AC122}" type="sibTrans" cxnId="{6A891B55-669D-4243-B528-3201E49C598D}">
      <dgm:prSet/>
      <dgm:spPr/>
      <dgm:t>
        <a:bodyPr/>
        <a:lstStyle/>
        <a:p>
          <a:endParaRPr lang="en-GB"/>
        </a:p>
      </dgm:t>
    </dgm:pt>
    <dgm:pt modelId="{02E4B243-8CDA-A241-8188-ABDE0C2BC7CD}">
      <dgm:prSet custT="1"/>
      <dgm:spPr/>
      <dgm:t>
        <a:bodyPr/>
        <a:lstStyle/>
        <a:p>
          <a:r>
            <a:rPr lang="en-MY" sz="4400" dirty="0"/>
            <a:t>Types of Sampling</a:t>
          </a:r>
        </a:p>
      </dgm:t>
    </dgm:pt>
    <dgm:pt modelId="{00FED560-DF69-3445-B969-5E7E37E62793}" type="parTrans" cxnId="{FB2BFE54-7F3E-3B46-B324-7AB32C9CCA2B}">
      <dgm:prSet/>
      <dgm:spPr/>
      <dgm:t>
        <a:bodyPr/>
        <a:lstStyle/>
        <a:p>
          <a:endParaRPr lang="en-GB"/>
        </a:p>
      </dgm:t>
    </dgm:pt>
    <dgm:pt modelId="{4165B81B-24ED-784B-8152-E0192BBF24B2}" type="sibTrans" cxnId="{FB2BFE54-7F3E-3B46-B324-7AB32C9CCA2B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267EA5D5-E941-8541-9A49-9B5A3E7AA808}" type="pres">
      <dgm:prSet presAssocID="{525FF7B7-45DF-FA40-BA8F-C3AA0B2AD2CA}" presName="linNode" presStyleCnt="0"/>
      <dgm:spPr/>
    </dgm:pt>
    <dgm:pt modelId="{3E0D387A-B967-1140-8AD6-3ED717D320AA}" type="pres">
      <dgm:prSet presAssocID="{525FF7B7-45DF-FA40-BA8F-C3AA0B2AD2CA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28EE4304-683A-B24B-917D-EB887AE51392}" type="pres">
      <dgm:prSet presAssocID="{525FF7B7-45DF-FA40-BA8F-C3AA0B2AD2CA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350D9972-79A0-A94C-AB5E-1D75C31946E5}" type="presOf" srcId="{02E4B243-8CDA-A241-8188-ABDE0C2BC7CD}" destId="{28EE4304-683A-B24B-917D-EB887AE51392}" srcOrd="0" destOrd="0" presId="urn:microsoft.com/office/officeart/2005/8/layout/vList5"/>
    <dgm:cxn modelId="{C7E80073-C806-B148-82E8-9E834E178DFE}" type="presOf" srcId="{525FF7B7-45DF-FA40-BA8F-C3AA0B2AD2CA}" destId="{3E0D387A-B967-1140-8AD6-3ED717D320AA}" srcOrd="0" destOrd="0" presId="urn:microsoft.com/office/officeart/2005/8/layout/vList5"/>
    <dgm:cxn modelId="{FB2BFE54-7F3E-3B46-B324-7AB32C9CCA2B}" srcId="{525FF7B7-45DF-FA40-BA8F-C3AA0B2AD2CA}" destId="{02E4B243-8CDA-A241-8188-ABDE0C2BC7CD}" srcOrd="0" destOrd="0" parTransId="{00FED560-DF69-3445-B969-5E7E37E62793}" sibTransId="{4165B81B-24ED-784B-8152-E0192BBF24B2}"/>
    <dgm:cxn modelId="{6A891B55-669D-4243-B528-3201E49C598D}" srcId="{66E13D44-AA4E-B140-965B-FB71BC866BAD}" destId="{525FF7B7-45DF-FA40-BA8F-C3AA0B2AD2CA}" srcOrd="0" destOrd="0" parTransId="{44614C75-33C9-1346-AE33-01AF9E91DA71}" sibTransId="{FBB7AF22-E434-544A-BCC1-0E1B0B2AC122}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95C59005-5123-3E47-9B14-AEAE4E33C8A4}" type="presParOf" srcId="{9403BA41-611A-FA42-8804-EA979A74D0A5}" destId="{267EA5D5-E941-8541-9A49-9B5A3E7AA808}" srcOrd="0" destOrd="0" presId="urn:microsoft.com/office/officeart/2005/8/layout/vList5"/>
    <dgm:cxn modelId="{8F93950F-D678-284C-AD27-6B3A5D52111D}" type="presParOf" srcId="{267EA5D5-E941-8541-9A49-9B5A3E7AA808}" destId="{3E0D387A-B967-1140-8AD6-3ED717D320AA}" srcOrd="0" destOrd="0" presId="urn:microsoft.com/office/officeart/2005/8/layout/vList5"/>
    <dgm:cxn modelId="{E5CB24BE-ABFD-D042-B768-A0D9546397D5}" type="presParOf" srcId="{267EA5D5-E941-8541-9A49-9B5A3E7AA808}" destId="{28EE4304-683A-B24B-917D-EB887AE513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06BFD9-5865-5548-BB39-833EB5FE48DA}" type="doc">
      <dgm:prSet loTypeId="urn:microsoft.com/office/officeart/2005/8/layout/h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96B6502E-8B2F-AA47-A3B5-74B1F04B9327}">
      <dgm:prSet/>
      <dgm:spPr/>
      <dgm:t>
        <a:bodyPr/>
        <a:lstStyle/>
        <a:p>
          <a:r>
            <a:rPr lang="en-US"/>
            <a:t>WHAT?</a:t>
          </a:r>
          <a:endParaRPr lang="en-MY"/>
        </a:p>
      </dgm:t>
    </dgm:pt>
    <dgm:pt modelId="{FEA8DD35-FD57-9049-8307-0C1A7A3D2B1A}" type="parTrans" cxnId="{4F2461DE-7776-5C4A-908D-E81FA501D0F0}">
      <dgm:prSet/>
      <dgm:spPr/>
      <dgm:t>
        <a:bodyPr/>
        <a:lstStyle/>
        <a:p>
          <a:endParaRPr lang="en-GB"/>
        </a:p>
      </dgm:t>
    </dgm:pt>
    <dgm:pt modelId="{82A74EF8-6F32-F646-AD4A-27B0B635BE04}" type="sibTrans" cxnId="{4F2461DE-7776-5C4A-908D-E81FA501D0F0}">
      <dgm:prSet/>
      <dgm:spPr/>
      <dgm:t>
        <a:bodyPr/>
        <a:lstStyle/>
        <a:p>
          <a:endParaRPr lang="en-GB"/>
        </a:p>
      </dgm:t>
    </dgm:pt>
    <dgm:pt modelId="{6B0A075C-AA81-5C45-9039-62D3ABD4FE47}">
      <dgm:prSet custT="1"/>
      <dgm:spPr/>
      <dgm:t>
        <a:bodyPr/>
        <a:lstStyle/>
        <a:p>
          <a:r>
            <a:rPr lang="en-US" sz="1800" dirty="0"/>
            <a:t>A process to select population</a:t>
          </a:r>
          <a:endParaRPr lang="en-MY" sz="1800" dirty="0"/>
        </a:p>
      </dgm:t>
    </dgm:pt>
    <dgm:pt modelId="{D05349E0-4E7D-E242-BCFA-7EC545A4581E}" type="parTrans" cxnId="{38D5CE69-DB94-BE40-912B-5773179C8FDE}">
      <dgm:prSet/>
      <dgm:spPr/>
      <dgm:t>
        <a:bodyPr/>
        <a:lstStyle/>
        <a:p>
          <a:endParaRPr lang="en-GB"/>
        </a:p>
      </dgm:t>
    </dgm:pt>
    <dgm:pt modelId="{F3A57A30-6559-5948-A896-C63FA0C07D80}" type="sibTrans" cxnId="{38D5CE69-DB94-BE40-912B-5773179C8FDE}">
      <dgm:prSet/>
      <dgm:spPr/>
      <dgm:t>
        <a:bodyPr/>
        <a:lstStyle/>
        <a:p>
          <a:endParaRPr lang="en-GB"/>
        </a:p>
      </dgm:t>
    </dgm:pt>
    <dgm:pt modelId="{56127C57-2941-AF45-B468-1B7FBEB0A8F7}">
      <dgm:prSet custT="1"/>
      <dgm:spPr/>
      <dgm:t>
        <a:bodyPr/>
        <a:lstStyle/>
        <a:p>
          <a:r>
            <a:rPr lang="en-US" sz="1800"/>
            <a:t>Two key decision: WHAT TO EXAMINE and WHICH PEOPLE TO CONSIDER</a:t>
          </a:r>
          <a:endParaRPr lang="en-MY" sz="1800"/>
        </a:p>
      </dgm:t>
    </dgm:pt>
    <dgm:pt modelId="{8B0C92BC-084D-AD44-95FA-C6C5D59E1088}" type="parTrans" cxnId="{2AF9B15C-7D3A-C94A-8A84-0A26DA24FE96}">
      <dgm:prSet/>
      <dgm:spPr/>
      <dgm:t>
        <a:bodyPr/>
        <a:lstStyle/>
        <a:p>
          <a:endParaRPr lang="en-GB"/>
        </a:p>
      </dgm:t>
    </dgm:pt>
    <dgm:pt modelId="{2224BB20-2A8D-8B48-BAE3-8BF1E747A908}" type="sibTrans" cxnId="{2AF9B15C-7D3A-C94A-8A84-0A26DA24FE96}">
      <dgm:prSet/>
      <dgm:spPr/>
      <dgm:t>
        <a:bodyPr/>
        <a:lstStyle/>
        <a:p>
          <a:endParaRPr lang="en-GB"/>
        </a:p>
      </dgm:t>
    </dgm:pt>
    <dgm:pt modelId="{73CA9D3A-2924-4E49-90E9-316DF500DC0F}">
      <dgm:prSet/>
      <dgm:spPr/>
      <dgm:t>
        <a:bodyPr/>
        <a:lstStyle/>
        <a:p>
          <a:r>
            <a:rPr lang="en-US"/>
            <a:t>WHY?</a:t>
          </a:r>
          <a:endParaRPr lang="en-MY"/>
        </a:p>
      </dgm:t>
    </dgm:pt>
    <dgm:pt modelId="{8C5A2BF0-8A62-124A-B784-3A974CEFBAFB}" type="parTrans" cxnId="{135AF9F7-0201-1C43-846D-C3D19B9D7D80}">
      <dgm:prSet/>
      <dgm:spPr/>
      <dgm:t>
        <a:bodyPr/>
        <a:lstStyle/>
        <a:p>
          <a:endParaRPr lang="en-GB"/>
        </a:p>
      </dgm:t>
    </dgm:pt>
    <dgm:pt modelId="{F92FC77E-C4BB-374A-A9AD-90DA83934D7D}" type="sibTrans" cxnId="{135AF9F7-0201-1C43-846D-C3D19B9D7D80}">
      <dgm:prSet/>
      <dgm:spPr/>
      <dgm:t>
        <a:bodyPr/>
        <a:lstStyle/>
        <a:p>
          <a:endParaRPr lang="en-GB"/>
        </a:p>
      </dgm:t>
    </dgm:pt>
    <dgm:pt modelId="{B7DEFBE9-30DB-7040-856D-6FE26CFF4965}">
      <dgm:prSet custT="1"/>
      <dgm:spPr/>
      <dgm:t>
        <a:bodyPr/>
        <a:lstStyle/>
        <a:p>
          <a:r>
            <a:rPr lang="en-US" sz="1800"/>
            <a:t>Contain cost</a:t>
          </a:r>
          <a:endParaRPr lang="en-MY" sz="1800"/>
        </a:p>
      </dgm:t>
    </dgm:pt>
    <dgm:pt modelId="{272310A8-F16F-FD4F-8851-1FD4DF672FAF}" type="parTrans" cxnId="{B05FB06D-73FB-3D4B-980C-5043570CFA02}">
      <dgm:prSet/>
      <dgm:spPr/>
      <dgm:t>
        <a:bodyPr/>
        <a:lstStyle/>
        <a:p>
          <a:endParaRPr lang="en-GB"/>
        </a:p>
      </dgm:t>
    </dgm:pt>
    <dgm:pt modelId="{A44869C4-4C83-0843-BBF0-D17535914ADA}" type="sibTrans" cxnId="{B05FB06D-73FB-3D4B-980C-5043570CFA02}">
      <dgm:prSet/>
      <dgm:spPr/>
      <dgm:t>
        <a:bodyPr/>
        <a:lstStyle/>
        <a:p>
          <a:endParaRPr lang="en-GB"/>
        </a:p>
      </dgm:t>
    </dgm:pt>
    <dgm:pt modelId="{474AE075-1589-2647-A4B1-CB24D58AA40B}">
      <dgm:prSet custT="1"/>
      <dgm:spPr/>
      <dgm:t>
        <a:bodyPr/>
        <a:lstStyle/>
        <a:p>
          <a:r>
            <a:rPr lang="en-US" sz="1800"/>
            <a:t>Speed up data collection</a:t>
          </a:r>
          <a:endParaRPr lang="en-MY" sz="1800"/>
        </a:p>
      </dgm:t>
    </dgm:pt>
    <dgm:pt modelId="{CB34DF7A-4583-994C-A9AD-D8544A141BEF}" type="parTrans" cxnId="{C5A3ECDB-BE26-2149-AF57-F885ECA898B4}">
      <dgm:prSet/>
      <dgm:spPr/>
      <dgm:t>
        <a:bodyPr/>
        <a:lstStyle/>
        <a:p>
          <a:endParaRPr lang="en-GB"/>
        </a:p>
      </dgm:t>
    </dgm:pt>
    <dgm:pt modelId="{ED7AE2E8-1686-F844-9810-C10D0C8E30D4}" type="sibTrans" cxnId="{C5A3ECDB-BE26-2149-AF57-F885ECA898B4}">
      <dgm:prSet/>
      <dgm:spPr/>
      <dgm:t>
        <a:bodyPr/>
        <a:lstStyle/>
        <a:p>
          <a:endParaRPr lang="en-GB"/>
        </a:p>
      </dgm:t>
    </dgm:pt>
    <dgm:pt modelId="{6C9B37AF-4D0C-4E43-A980-C034D79AA906}">
      <dgm:prSet custT="1"/>
      <dgm:spPr/>
      <dgm:t>
        <a:bodyPr/>
        <a:lstStyle/>
        <a:p>
          <a:r>
            <a:rPr lang="en-US" sz="1800"/>
            <a:t>Reducing bias</a:t>
          </a:r>
          <a:endParaRPr lang="en-MY" sz="1800"/>
        </a:p>
      </dgm:t>
    </dgm:pt>
    <dgm:pt modelId="{BDE8298E-709F-A940-A3C5-91A493614462}" type="parTrans" cxnId="{EB0F6446-B634-844A-B169-2E45E76FBA02}">
      <dgm:prSet/>
      <dgm:spPr/>
      <dgm:t>
        <a:bodyPr/>
        <a:lstStyle/>
        <a:p>
          <a:endParaRPr lang="en-GB"/>
        </a:p>
      </dgm:t>
    </dgm:pt>
    <dgm:pt modelId="{9A4EE281-F692-2047-B062-0F9B7B8C51B3}" type="sibTrans" cxnId="{EB0F6446-B634-844A-B169-2E45E76FBA02}">
      <dgm:prSet/>
      <dgm:spPr/>
      <dgm:t>
        <a:bodyPr/>
        <a:lstStyle/>
        <a:p>
          <a:endParaRPr lang="en-GB"/>
        </a:p>
      </dgm:t>
    </dgm:pt>
    <dgm:pt modelId="{3EB4ED83-5DA3-BC48-B62F-A8A72B3889B8}">
      <dgm:prSet custT="1"/>
      <dgm:spPr/>
      <dgm:t>
        <a:bodyPr/>
        <a:lstStyle/>
        <a:p>
          <a:r>
            <a:rPr lang="en-US" sz="1800"/>
            <a:t>Reducing the time to collect data</a:t>
          </a:r>
          <a:endParaRPr lang="en-MY" sz="1800"/>
        </a:p>
      </dgm:t>
    </dgm:pt>
    <dgm:pt modelId="{D5C42C45-76A4-E349-964F-5B07F0F05598}" type="parTrans" cxnId="{F55AEC96-8937-854E-9D68-534CFDE51578}">
      <dgm:prSet/>
      <dgm:spPr/>
      <dgm:t>
        <a:bodyPr/>
        <a:lstStyle/>
        <a:p>
          <a:endParaRPr lang="en-GB"/>
        </a:p>
      </dgm:t>
    </dgm:pt>
    <dgm:pt modelId="{5DB43970-E19A-054B-97A2-19F1C165AD34}" type="sibTrans" cxnId="{F55AEC96-8937-854E-9D68-534CFDE51578}">
      <dgm:prSet/>
      <dgm:spPr/>
      <dgm:t>
        <a:bodyPr/>
        <a:lstStyle/>
        <a:p>
          <a:endParaRPr lang="en-GB"/>
        </a:p>
      </dgm:t>
    </dgm:pt>
    <dgm:pt modelId="{C5C12BC0-8AEC-EF4B-8DB2-2E7C94A9BAA1}">
      <dgm:prSet/>
      <dgm:spPr/>
      <dgm:t>
        <a:bodyPr/>
        <a:lstStyle/>
        <a:p>
          <a:r>
            <a:rPr lang="en-US"/>
            <a:t>HOW?</a:t>
          </a:r>
          <a:endParaRPr lang="en-MY"/>
        </a:p>
      </dgm:t>
    </dgm:pt>
    <dgm:pt modelId="{3830DE1D-688E-0543-B82E-1A73376FF907}" type="parTrans" cxnId="{BE4EFAE5-6EB4-EA4E-B380-5EB6A11B4EBE}">
      <dgm:prSet/>
      <dgm:spPr/>
      <dgm:t>
        <a:bodyPr/>
        <a:lstStyle/>
        <a:p>
          <a:endParaRPr lang="en-GB"/>
        </a:p>
      </dgm:t>
    </dgm:pt>
    <dgm:pt modelId="{97DB20A3-3C4B-A149-9EE4-BB8709F3D78F}" type="sibTrans" cxnId="{BE4EFAE5-6EB4-EA4E-B380-5EB6A11B4EBE}">
      <dgm:prSet/>
      <dgm:spPr/>
      <dgm:t>
        <a:bodyPr/>
        <a:lstStyle/>
        <a:p>
          <a:endParaRPr lang="en-GB"/>
        </a:p>
      </dgm:t>
    </dgm:pt>
    <dgm:pt modelId="{8470B06A-8AFE-4340-BC3C-4CC38F5EC18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Determine the data</a:t>
          </a:r>
          <a:endParaRPr lang="en-MY" dirty="0"/>
        </a:p>
      </dgm:t>
    </dgm:pt>
    <dgm:pt modelId="{61B24C49-9D8A-5445-B388-7C74AE83E5D8}" type="parTrans" cxnId="{C63D18A0-D8CF-5049-8BBC-97677783AF48}">
      <dgm:prSet/>
      <dgm:spPr/>
      <dgm:t>
        <a:bodyPr/>
        <a:lstStyle/>
        <a:p>
          <a:endParaRPr lang="en-GB"/>
        </a:p>
      </dgm:t>
    </dgm:pt>
    <dgm:pt modelId="{3DB9BB59-6286-F349-A52E-606C55DB1F9B}" type="sibTrans" cxnId="{C63D18A0-D8CF-5049-8BBC-97677783AF48}">
      <dgm:prSet/>
      <dgm:spPr/>
      <dgm:t>
        <a:bodyPr/>
        <a:lstStyle/>
        <a:p>
          <a:endParaRPr lang="en-GB"/>
        </a:p>
      </dgm:t>
    </dgm:pt>
    <dgm:pt modelId="{2221199C-9182-9346-B207-9815D2127B8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Determine the population</a:t>
          </a:r>
          <a:endParaRPr lang="en-MY" dirty="0"/>
        </a:p>
      </dgm:t>
    </dgm:pt>
    <dgm:pt modelId="{A60522A4-154E-FB44-A039-846A90E77A68}" type="parTrans" cxnId="{FF3CA290-2286-D842-9208-A7CBCA074AE9}">
      <dgm:prSet/>
      <dgm:spPr/>
      <dgm:t>
        <a:bodyPr/>
        <a:lstStyle/>
        <a:p>
          <a:endParaRPr lang="en-GB"/>
        </a:p>
      </dgm:t>
    </dgm:pt>
    <dgm:pt modelId="{C09BABC9-14A5-0643-96E3-1EA9EE3CEC35}" type="sibTrans" cxnId="{FF3CA290-2286-D842-9208-A7CBCA074AE9}">
      <dgm:prSet/>
      <dgm:spPr/>
      <dgm:t>
        <a:bodyPr/>
        <a:lstStyle/>
        <a:p>
          <a:endParaRPr lang="en-GB"/>
        </a:p>
      </dgm:t>
    </dgm:pt>
    <dgm:pt modelId="{0C95A93C-4380-E944-B3C4-E5E8D14AE15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Choose sampling types</a:t>
          </a:r>
          <a:endParaRPr lang="en-MY" dirty="0"/>
        </a:p>
      </dgm:t>
    </dgm:pt>
    <dgm:pt modelId="{769BCA77-D18B-A545-B207-D85046E606B1}" type="parTrans" cxnId="{53809CDA-7CED-FD4E-A507-A989D05F8D45}">
      <dgm:prSet/>
      <dgm:spPr/>
      <dgm:t>
        <a:bodyPr/>
        <a:lstStyle/>
        <a:p>
          <a:endParaRPr lang="en-GB"/>
        </a:p>
      </dgm:t>
    </dgm:pt>
    <dgm:pt modelId="{B5FDEE16-224C-244A-A8F0-634CC79E9648}" type="sibTrans" cxnId="{53809CDA-7CED-FD4E-A507-A989D05F8D45}">
      <dgm:prSet/>
      <dgm:spPr/>
      <dgm:t>
        <a:bodyPr/>
        <a:lstStyle/>
        <a:p>
          <a:endParaRPr lang="en-GB"/>
        </a:p>
      </dgm:t>
    </dgm:pt>
    <dgm:pt modelId="{77DFB119-5FA5-AB48-8C72-55CCCE1790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Convenience</a:t>
          </a:r>
          <a:endParaRPr lang="en-MY" dirty="0"/>
        </a:p>
      </dgm:t>
    </dgm:pt>
    <dgm:pt modelId="{877044B3-A857-6C48-9379-6837645E0CF4}" type="parTrans" cxnId="{CD84F29F-2646-484C-A8B1-2BE6A81CF4B0}">
      <dgm:prSet/>
      <dgm:spPr/>
      <dgm:t>
        <a:bodyPr/>
        <a:lstStyle/>
        <a:p>
          <a:endParaRPr lang="en-GB"/>
        </a:p>
      </dgm:t>
    </dgm:pt>
    <dgm:pt modelId="{E8F7A39D-3F4C-664D-81F6-3A884CB30638}" type="sibTrans" cxnId="{CD84F29F-2646-484C-A8B1-2BE6A81CF4B0}">
      <dgm:prSet/>
      <dgm:spPr/>
      <dgm:t>
        <a:bodyPr/>
        <a:lstStyle/>
        <a:p>
          <a:endParaRPr lang="en-GB"/>
        </a:p>
      </dgm:t>
    </dgm:pt>
    <dgm:pt modelId="{1DF6F487-13F6-4E4D-B804-84318EDB9D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Purposive</a:t>
          </a:r>
          <a:endParaRPr lang="en-MY" dirty="0"/>
        </a:p>
      </dgm:t>
    </dgm:pt>
    <dgm:pt modelId="{3E70165B-43F1-7F4C-81B0-16B2D5BCE004}" type="parTrans" cxnId="{262B9D3C-40AF-B148-9DA9-21B557A43D90}">
      <dgm:prSet/>
      <dgm:spPr/>
      <dgm:t>
        <a:bodyPr/>
        <a:lstStyle/>
        <a:p>
          <a:endParaRPr lang="en-GB"/>
        </a:p>
      </dgm:t>
    </dgm:pt>
    <dgm:pt modelId="{C646DBC7-0A1A-4F47-B53C-85A49AB58786}" type="sibTrans" cxnId="{262B9D3C-40AF-B148-9DA9-21B557A43D90}">
      <dgm:prSet/>
      <dgm:spPr/>
      <dgm:t>
        <a:bodyPr/>
        <a:lstStyle/>
        <a:p>
          <a:endParaRPr lang="en-GB"/>
        </a:p>
      </dgm:t>
    </dgm:pt>
    <dgm:pt modelId="{F57A66C1-3C8F-3F43-AFA1-F2BEFB7BE1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Simple Random</a:t>
          </a:r>
          <a:endParaRPr lang="en-MY" dirty="0"/>
        </a:p>
      </dgm:t>
    </dgm:pt>
    <dgm:pt modelId="{787FBCFF-CB1A-0D42-BEA8-798BF9407430}" type="parTrans" cxnId="{7B99A1FA-EE1F-6444-BB42-302A8FB8DE99}">
      <dgm:prSet/>
      <dgm:spPr/>
      <dgm:t>
        <a:bodyPr/>
        <a:lstStyle/>
        <a:p>
          <a:endParaRPr lang="en-GB"/>
        </a:p>
      </dgm:t>
    </dgm:pt>
    <dgm:pt modelId="{06DEACA4-FFE2-7E4E-85E1-A1D7CB4D29CF}" type="sibTrans" cxnId="{7B99A1FA-EE1F-6444-BB42-302A8FB8DE99}">
      <dgm:prSet/>
      <dgm:spPr/>
      <dgm:t>
        <a:bodyPr/>
        <a:lstStyle/>
        <a:p>
          <a:endParaRPr lang="en-GB"/>
        </a:p>
      </dgm:t>
    </dgm:pt>
    <dgm:pt modelId="{AECA0AD8-7EBF-EE49-95D1-A180DC444A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Complex Random</a:t>
          </a:r>
          <a:endParaRPr lang="en-MY" dirty="0"/>
        </a:p>
      </dgm:t>
    </dgm:pt>
    <dgm:pt modelId="{77CE19B7-F24E-FA47-99C4-3E5FBEBA39E1}" type="parTrans" cxnId="{4E086D7D-328A-F84B-A668-AB649335B9F5}">
      <dgm:prSet/>
      <dgm:spPr/>
      <dgm:t>
        <a:bodyPr/>
        <a:lstStyle/>
        <a:p>
          <a:endParaRPr lang="en-GB"/>
        </a:p>
      </dgm:t>
    </dgm:pt>
    <dgm:pt modelId="{6D5DAD2B-93D6-B448-9877-280DDDDFD1E0}" type="sibTrans" cxnId="{4E086D7D-328A-F84B-A668-AB649335B9F5}">
      <dgm:prSet/>
      <dgm:spPr/>
      <dgm:t>
        <a:bodyPr/>
        <a:lstStyle/>
        <a:p>
          <a:endParaRPr lang="en-GB"/>
        </a:p>
      </dgm:t>
    </dgm:pt>
    <dgm:pt modelId="{F0C44C0D-51CE-3E43-8F78-05AD7F931D1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Decide sample size</a:t>
          </a:r>
          <a:endParaRPr lang="en-MY" dirty="0"/>
        </a:p>
      </dgm:t>
    </dgm:pt>
    <dgm:pt modelId="{54E5C083-1CC8-5047-8C98-B6904E4666D2}" type="parTrans" cxnId="{97CE8518-C70B-EB4A-81B8-7E76EE89C4A0}">
      <dgm:prSet/>
      <dgm:spPr/>
      <dgm:t>
        <a:bodyPr/>
        <a:lstStyle/>
        <a:p>
          <a:endParaRPr lang="en-GB"/>
        </a:p>
      </dgm:t>
    </dgm:pt>
    <dgm:pt modelId="{E5B0B3B4-DC90-774C-B0E6-A3F5363983DC}" type="sibTrans" cxnId="{97CE8518-C70B-EB4A-81B8-7E76EE89C4A0}">
      <dgm:prSet/>
      <dgm:spPr/>
      <dgm:t>
        <a:bodyPr/>
        <a:lstStyle/>
        <a:p>
          <a:endParaRPr lang="en-GB"/>
        </a:p>
      </dgm:t>
    </dgm:pt>
    <dgm:pt modelId="{032467E9-F64C-2E4A-B988-2E104DC75E40}" type="pres">
      <dgm:prSet presAssocID="{9906BFD9-5865-5548-BB39-833EB5FE48DA}" presName="Name0" presStyleCnt="0">
        <dgm:presLayoutVars>
          <dgm:dir/>
          <dgm:animLvl val="lvl"/>
          <dgm:resizeHandles val="exact"/>
        </dgm:presLayoutVars>
      </dgm:prSet>
      <dgm:spPr/>
    </dgm:pt>
    <dgm:pt modelId="{4AD76C17-77F8-7443-9FEE-C2A86C45B0E6}" type="pres">
      <dgm:prSet presAssocID="{9906BFD9-5865-5548-BB39-833EB5FE48DA}" presName="tSp" presStyleCnt="0"/>
      <dgm:spPr/>
    </dgm:pt>
    <dgm:pt modelId="{5A099CC0-5B84-034F-8F29-4195481F5F00}" type="pres">
      <dgm:prSet presAssocID="{9906BFD9-5865-5548-BB39-833EB5FE48DA}" presName="bSp" presStyleCnt="0"/>
      <dgm:spPr/>
    </dgm:pt>
    <dgm:pt modelId="{E941AE95-E8E3-BC45-B368-6111A72468C5}" type="pres">
      <dgm:prSet presAssocID="{9906BFD9-5865-5548-BB39-833EB5FE48DA}" presName="process" presStyleCnt="0"/>
      <dgm:spPr/>
    </dgm:pt>
    <dgm:pt modelId="{A0C4967A-263F-EB44-9F71-63BA544F5F4E}" type="pres">
      <dgm:prSet presAssocID="{96B6502E-8B2F-AA47-A3B5-74B1F04B9327}" presName="composite1" presStyleCnt="0"/>
      <dgm:spPr/>
    </dgm:pt>
    <dgm:pt modelId="{BF2795E3-3212-CE46-9F1F-5744848C55A1}" type="pres">
      <dgm:prSet presAssocID="{96B6502E-8B2F-AA47-A3B5-74B1F04B9327}" presName="dummyNode1" presStyleLbl="node1" presStyleIdx="0" presStyleCnt="3"/>
      <dgm:spPr/>
    </dgm:pt>
    <dgm:pt modelId="{50E51803-BB18-D840-ABF3-9059A4BDD781}" type="pres">
      <dgm:prSet presAssocID="{96B6502E-8B2F-AA47-A3B5-74B1F04B9327}" presName="childNode1" presStyleLbl="bgAcc1" presStyleIdx="0" presStyleCnt="3" custScaleY="112570">
        <dgm:presLayoutVars>
          <dgm:bulletEnabled val="1"/>
        </dgm:presLayoutVars>
      </dgm:prSet>
      <dgm:spPr/>
    </dgm:pt>
    <dgm:pt modelId="{CF7E624B-C2A8-874E-8825-9052262D97D7}" type="pres">
      <dgm:prSet presAssocID="{96B6502E-8B2F-AA47-A3B5-74B1F04B9327}" presName="childNode1tx" presStyleLbl="bgAcc1" presStyleIdx="0" presStyleCnt="3">
        <dgm:presLayoutVars>
          <dgm:bulletEnabled val="1"/>
        </dgm:presLayoutVars>
      </dgm:prSet>
      <dgm:spPr/>
    </dgm:pt>
    <dgm:pt modelId="{F026E775-0E45-4F44-A318-B2A4C12DD35E}" type="pres">
      <dgm:prSet presAssocID="{96B6502E-8B2F-AA47-A3B5-74B1F04B9327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865CA362-D987-014A-8C52-B1BE70DE6D79}" type="pres">
      <dgm:prSet presAssocID="{96B6502E-8B2F-AA47-A3B5-74B1F04B9327}" presName="connSite1" presStyleCnt="0"/>
      <dgm:spPr/>
    </dgm:pt>
    <dgm:pt modelId="{4FAF26E4-2E99-CF49-8B7B-E83D37AA3CF8}" type="pres">
      <dgm:prSet presAssocID="{82A74EF8-6F32-F646-AD4A-27B0B635BE04}" presName="Name9" presStyleLbl="sibTrans2D1" presStyleIdx="0" presStyleCnt="2"/>
      <dgm:spPr/>
    </dgm:pt>
    <dgm:pt modelId="{6E3718C2-3B49-1748-B704-89240E44DFCD}" type="pres">
      <dgm:prSet presAssocID="{73CA9D3A-2924-4E49-90E9-316DF500DC0F}" presName="composite2" presStyleCnt="0"/>
      <dgm:spPr/>
    </dgm:pt>
    <dgm:pt modelId="{1FE759F1-3BCE-CE45-ADBB-26B175E8FDD0}" type="pres">
      <dgm:prSet presAssocID="{73CA9D3A-2924-4E49-90E9-316DF500DC0F}" presName="dummyNode2" presStyleLbl="node1" presStyleIdx="0" presStyleCnt="3"/>
      <dgm:spPr/>
    </dgm:pt>
    <dgm:pt modelId="{91F69228-8F80-FD43-8499-6AD75051EAE8}" type="pres">
      <dgm:prSet presAssocID="{73CA9D3A-2924-4E49-90E9-316DF500DC0F}" presName="childNode2" presStyleLbl="bgAcc1" presStyleIdx="1" presStyleCnt="3">
        <dgm:presLayoutVars>
          <dgm:bulletEnabled val="1"/>
        </dgm:presLayoutVars>
      </dgm:prSet>
      <dgm:spPr/>
    </dgm:pt>
    <dgm:pt modelId="{D55E33F3-5C4A-EC4D-A5DF-279486BCF1EF}" type="pres">
      <dgm:prSet presAssocID="{73CA9D3A-2924-4E49-90E9-316DF500DC0F}" presName="childNode2tx" presStyleLbl="bgAcc1" presStyleIdx="1" presStyleCnt="3">
        <dgm:presLayoutVars>
          <dgm:bulletEnabled val="1"/>
        </dgm:presLayoutVars>
      </dgm:prSet>
      <dgm:spPr/>
    </dgm:pt>
    <dgm:pt modelId="{7B016932-E0B8-394B-A596-5D6E8F4C0C9D}" type="pres">
      <dgm:prSet presAssocID="{73CA9D3A-2924-4E49-90E9-316DF500DC0F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8D11011C-7B1F-B14F-A069-160B4C1AB115}" type="pres">
      <dgm:prSet presAssocID="{73CA9D3A-2924-4E49-90E9-316DF500DC0F}" presName="connSite2" presStyleCnt="0"/>
      <dgm:spPr/>
    </dgm:pt>
    <dgm:pt modelId="{A2A848B8-657E-284F-8C5B-C58A454F2C2F}" type="pres">
      <dgm:prSet presAssocID="{F92FC77E-C4BB-374A-A9AD-90DA83934D7D}" presName="Name18" presStyleLbl="sibTrans2D1" presStyleIdx="1" presStyleCnt="2"/>
      <dgm:spPr/>
    </dgm:pt>
    <dgm:pt modelId="{5603637D-D3A1-F147-A98B-C504F20D9E7F}" type="pres">
      <dgm:prSet presAssocID="{C5C12BC0-8AEC-EF4B-8DB2-2E7C94A9BAA1}" presName="composite1" presStyleCnt="0"/>
      <dgm:spPr/>
    </dgm:pt>
    <dgm:pt modelId="{3D2FF8AD-3CB0-2F4F-AEAA-F56D6013E7B6}" type="pres">
      <dgm:prSet presAssocID="{C5C12BC0-8AEC-EF4B-8DB2-2E7C94A9BAA1}" presName="dummyNode1" presStyleLbl="node1" presStyleIdx="1" presStyleCnt="3"/>
      <dgm:spPr/>
    </dgm:pt>
    <dgm:pt modelId="{C0A06C82-442B-7A4D-A33A-5AFB10FB7441}" type="pres">
      <dgm:prSet presAssocID="{C5C12BC0-8AEC-EF4B-8DB2-2E7C94A9BAA1}" presName="childNode1" presStyleLbl="bgAcc1" presStyleIdx="2" presStyleCnt="3" custScaleY="129490">
        <dgm:presLayoutVars>
          <dgm:bulletEnabled val="1"/>
        </dgm:presLayoutVars>
      </dgm:prSet>
      <dgm:spPr/>
    </dgm:pt>
    <dgm:pt modelId="{0397CD26-BA5B-004A-A407-39FFF0C5E6E2}" type="pres">
      <dgm:prSet presAssocID="{C5C12BC0-8AEC-EF4B-8DB2-2E7C94A9BAA1}" presName="childNode1tx" presStyleLbl="bgAcc1" presStyleIdx="2" presStyleCnt="3">
        <dgm:presLayoutVars>
          <dgm:bulletEnabled val="1"/>
        </dgm:presLayoutVars>
      </dgm:prSet>
      <dgm:spPr/>
    </dgm:pt>
    <dgm:pt modelId="{4BE040B6-1639-E54F-8063-E309F7AA7818}" type="pres">
      <dgm:prSet presAssocID="{C5C12BC0-8AEC-EF4B-8DB2-2E7C94A9BAA1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5096A316-1F03-B947-9577-E274F25AF4D1}" type="pres">
      <dgm:prSet presAssocID="{C5C12BC0-8AEC-EF4B-8DB2-2E7C94A9BAA1}" presName="connSite1" presStyleCnt="0"/>
      <dgm:spPr/>
    </dgm:pt>
  </dgm:ptLst>
  <dgm:cxnLst>
    <dgm:cxn modelId="{37E8C400-5424-4646-993F-CA6194E84234}" type="presOf" srcId="{F0C44C0D-51CE-3E43-8F78-05AD7F931D1F}" destId="{0397CD26-BA5B-004A-A407-39FFF0C5E6E2}" srcOrd="1" destOrd="7" presId="urn:microsoft.com/office/officeart/2005/8/layout/hProcess4"/>
    <dgm:cxn modelId="{C6B4F501-9FA5-D345-9B29-EC7C4B186A34}" type="presOf" srcId="{C5C12BC0-8AEC-EF4B-8DB2-2E7C94A9BAA1}" destId="{4BE040B6-1639-E54F-8063-E309F7AA7818}" srcOrd="0" destOrd="0" presId="urn:microsoft.com/office/officeart/2005/8/layout/hProcess4"/>
    <dgm:cxn modelId="{D5E8350F-9D8B-AC4E-A7D9-4080EDEEBB6F}" type="presOf" srcId="{AECA0AD8-7EBF-EE49-95D1-A180DC444AC3}" destId="{C0A06C82-442B-7A4D-A33A-5AFB10FB7441}" srcOrd="0" destOrd="6" presId="urn:microsoft.com/office/officeart/2005/8/layout/hProcess4"/>
    <dgm:cxn modelId="{97CE8518-C70B-EB4A-81B8-7E76EE89C4A0}" srcId="{C5C12BC0-8AEC-EF4B-8DB2-2E7C94A9BAA1}" destId="{F0C44C0D-51CE-3E43-8F78-05AD7F931D1F}" srcOrd="3" destOrd="0" parTransId="{54E5C083-1CC8-5047-8C98-B6904E4666D2}" sibTransId="{E5B0B3B4-DC90-774C-B0E6-A3F5363983DC}"/>
    <dgm:cxn modelId="{95D98718-2906-E44E-B5CF-BFA324CF842A}" type="presOf" srcId="{77DFB119-5FA5-AB48-8C72-55CCCE179041}" destId="{0397CD26-BA5B-004A-A407-39FFF0C5E6E2}" srcOrd="1" destOrd="3" presId="urn:microsoft.com/office/officeart/2005/8/layout/hProcess4"/>
    <dgm:cxn modelId="{D5C6051E-57D2-E043-958D-A1F6D50E0434}" type="presOf" srcId="{6C9B37AF-4D0C-4E43-A980-C034D79AA906}" destId="{91F69228-8F80-FD43-8499-6AD75051EAE8}" srcOrd="0" destOrd="2" presId="urn:microsoft.com/office/officeart/2005/8/layout/hProcess4"/>
    <dgm:cxn modelId="{2E199A22-831E-2B40-B88F-8926CBC95D45}" type="presOf" srcId="{96B6502E-8B2F-AA47-A3B5-74B1F04B9327}" destId="{F026E775-0E45-4F44-A318-B2A4C12DD35E}" srcOrd="0" destOrd="0" presId="urn:microsoft.com/office/officeart/2005/8/layout/hProcess4"/>
    <dgm:cxn modelId="{4C39C034-D8F3-1B41-A0DE-C9B9E27E37BF}" type="presOf" srcId="{F57A66C1-3C8F-3F43-AFA1-F2BEFB7BE115}" destId="{0397CD26-BA5B-004A-A407-39FFF0C5E6E2}" srcOrd="1" destOrd="5" presId="urn:microsoft.com/office/officeart/2005/8/layout/hProcess4"/>
    <dgm:cxn modelId="{2B41BB3A-ED2E-874F-A97A-0D9834AF5CBE}" type="presOf" srcId="{73CA9D3A-2924-4E49-90E9-316DF500DC0F}" destId="{7B016932-E0B8-394B-A596-5D6E8F4C0C9D}" srcOrd="0" destOrd="0" presId="urn:microsoft.com/office/officeart/2005/8/layout/hProcess4"/>
    <dgm:cxn modelId="{262B9D3C-40AF-B148-9DA9-21B557A43D90}" srcId="{0C95A93C-4380-E944-B3C4-E5E8D14AE15C}" destId="{1DF6F487-13F6-4E4D-B804-84318EDB9D3E}" srcOrd="1" destOrd="0" parTransId="{3E70165B-43F1-7F4C-81B0-16B2D5BCE004}" sibTransId="{C646DBC7-0A1A-4F47-B53C-85A49AB58786}"/>
    <dgm:cxn modelId="{2AF9B15C-7D3A-C94A-8A84-0A26DA24FE96}" srcId="{96B6502E-8B2F-AA47-A3B5-74B1F04B9327}" destId="{56127C57-2941-AF45-B468-1B7FBEB0A8F7}" srcOrd="1" destOrd="0" parTransId="{8B0C92BC-084D-AD44-95FA-C6C5D59E1088}" sibTransId="{2224BB20-2A8D-8B48-BAE3-8BF1E747A908}"/>
    <dgm:cxn modelId="{49C8A445-7357-0844-A06D-02666FBE783D}" type="presOf" srcId="{56127C57-2941-AF45-B468-1B7FBEB0A8F7}" destId="{50E51803-BB18-D840-ABF3-9059A4BDD781}" srcOrd="0" destOrd="1" presId="urn:microsoft.com/office/officeart/2005/8/layout/hProcess4"/>
    <dgm:cxn modelId="{EB0F6446-B634-844A-B169-2E45E76FBA02}" srcId="{73CA9D3A-2924-4E49-90E9-316DF500DC0F}" destId="{6C9B37AF-4D0C-4E43-A980-C034D79AA906}" srcOrd="2" destOrd="0" parTransId="{BDE8298E-709F-A940-A3C5-91A493614462}" sibTransId="{9A4EE281-F692-2047-B062-0F9B7B8C51B3}"/>
    <dgm:cxn modelId="{31306347-8CB3-E64A-9167-ED790B9D6A53}" type="presOf" srcId="{0C95A93C-4380-E944-B3C4-E5E8D14AE15C}" destId="{0397CD26-BA5B-004A-A407-39FFF0C5E6E2}" srcOrd="1" destOrd="2" presId="urn:microsoft.com/office/officeart/2005/8/layout/hProcess4"/>
    <dgm:cxn modelId="{38D5CE69-DB94-BE40-912B-5773179C8FDE}" srcId="{96B6502E-8B2F-AA47-A3B5-74B1F04B9327}" destId="{6B0A075C-AA81-5C45-9039-62D3ABD4FE47}" srcOrd="0" destOrd="0" parTransId="{D05349E0-4E7D-E242-BCFA-7EC545A4581E}" sibTransId="{F3A57A30-6559-5948-A896-C63FA0C07D80}"/>
    <dgm:cxn modelId="{B05FB06D-73FB-3D4B-980C-5043570CFA02}" srcId="{73CA9D3A-2924-4E49-90E9-316DF500DC0F}" destId="{B7DEFBE9-30DB-7040-856D-6FE26CFF4965}" srcOrd="0" destOrd="0" parTransId="{272310A8-F16F-FD4F-8851-1FD4DF672FAF}" sibTransId="{A44869C4-4C83-0843-BBF0-D17535914ADA}"/>
    <dgm:cxn modelId="{F7398E6E-2053-3745-8C3B-59BC62B6CB18}" type="presOf" srcId="{56127C57-2941-AF45-B468-1B7FBEB0A8F7}" destId="{CF7E624B-C2A8-874E-8825-9052262D97D7}" srcOrd="1" destOrd="1" presId="urn:microsoft.com/office/officeart/2005/8/layout/hProcess4"/>
    <dgm:cxn modelId="{1452AD72-FD37-124C-B478-73E9E5FCBDD1}" type="presOf" srcId="{9906BFD9-5865-5548-BB39-833EB5FE48DA}" destId="{032467E9-F64C-2E4A-B988-2E104DC75E40}" srcOrd="0" destOrd="0" presId="urn:microsoft.com/office/officeart/2005/8/layout/hProcess4"/>
    <dgm:cxn modelId="{2EDD0E54-AED0-B74A-9DA5-CF014F2CAE01}" type="presOf" srcId="{2221199C-9182-9346-B207-9815D2127B8F}" destId="{C0A06C82-442B-7A4D-A33A-5AFB10FB7441}" srcOrd="0" destOrd="1" presId="urn:microsoft.com/office/officeart/2005/8/layout/hProcess4"/>
    <dgm:cxn modelId="{CA8DAD74-B675-284F-8077-0853B95D8C67}" type="presOf" srcId="{0C95A93C-4380-E944-B3C4-E5E8D14AE15C}" destId="{C0A06C82-442B-7A4D-A33A-5AFB10FB7441}" srcOrd="0" destOrd="2" presId="urn:microsoft.com/office/officeart/2005/8/layout/hProcess4"/>
    <dgm:cxn modelId="{BCEECA56-7E0B-184A-97F4-228975B04BE4}" type="presOf" srcId="{474AE075-1589-2647-A4B1-CB24D58AA40B}" destId="{D55E33F3-5C4A-EC4D-A5DF-279486BCF1EF}" srcOrd="1" destOrd="1" presId="urn:microsoft.com/office/officeart/2005/8/layout/hProcess4"/>
    <dgm:cxn modelId="{7FFFFA78-A575-914A-BDC7-D86F1E899C4E}" type="presOf" srcId="{F0C44C0D-51CE-3E43-8F78-05AD7F931D1F}" destId="{C0A06C82-442B-7A4D-A33A-5AFB10FB7441}" srcOrd="0" destOrd="7" presId="urn:microsoft.com/office/officeart/2005/8/layout/hProcess4"/>
    <dgm:cxn modelId="{F714D559-30BC-FA45-BCB3-4E35375FDF77}" type="presOf" srcId="{B7DEFBE9-30DB-7040-856D-6FE26CFF4965}" destId="{91F69228-8F80-FD43-8499-6AD75051EAE8}" srcOrd="0" destOrd="0" presId="urn:microsoft.com/office/officeart/2005/8/layout/hProcess4"/>
    <dgm:cxn modelId="{368B767C-F26D-1349-9A8C-AF7E72A57C44}" type="presOf" srcId="{6B0A075C-AA81-5C45-9039-62D3ABD4FE47}" destId="{50E51803-BB18-D840-ABF3-9059A4BDD781}" srcOrd="0" destOrd="0" presId="urn:microsoft.com/office/officeart/2005/8/layout/hProcess4"/>
    <dgm:cxn modelId="{4E086D7D-328A-F84B-A668-AB649335B9F5}" srcId="{0C95A93C-4380-E944-B3C4-E5E8D14AE15C}" destId="{AECA0AD8-7EBF-EE49-95D1-A180DC444AC3}" srcOrd="3" destOrd="0" parTransId="{77CE19B7-F24E-FA47-99C4-3E5FBEBA39E1}" sibTransId="{6D5DAD2B-93D6-B448-9877-280DDDDFD1E0}"/>
    <dgm:cxn modelId="{29565B8A-8426-F44B-BC72-5BF3DDAE7B81}" type="presOf" srcId="{77DFB119-5FA5-AB48-8C72-55CCCE179041}" destId="{C0A06C82-442B-7A4D-A33A-5AFB10FB7441}" srcOrd="0" destOrd="3" presId="urn:microsoft.com/office/officeart/2005/8/layout/hProcess4"/>
    <dgm:cxn modelId="{E742458C-3D61-284B-BF36-2629B0DA572E}" type="presOf" srcId="{82A74EF8-6F32-F646-AD4A-27B0B635BE04}" destId="{4FAF26E4-2E99-CF49-8B7B-E83D37AA3CF8}" srcOrd="0" destOrd="0" presId="urn:microsoft.com/office/officeart/2005/8/layout/hProcess4"/>
    <dgm:cxn modelId="{FF3CA290-2286-D842-9208-A7CBCA074AE9}" srcId="{C5C12BC0-8AEC-EF4B-8DB2-2E7C94A9BAA1}" destId="{2221199C-9182-9346-B207-9815D2127B8F}" srcOrd="1" destOrd="0" parTransId="{A60522A4-154E-FB44-A039-846A90E77A68}" sibTransId="{C09BABC9-14A5-0643-96E3-1EA9EE3CEC35}"/>
    <dgm:cxn modelId="{17108B95-30C4-644A-AC3B-814C3BD86AA0}" type="presOf" srcId="{2221199C-9182-9346-B207-9815D2127B8F}" destId="{0397CD26-BA5B-004A-A407-39FFF0C5E6E2}" srcOrd="1" destOrd="1" presId="urn:microsoft.com/office/officeart/2005/8/layout/hProcess4"/>
    <dgm:cxn modelId="{1A11A695-0FA6-1F4E-ACF0-95F52657DCE3}" type="presOf" srcId="{1DF6F487-13F6-4E4D-B804-84318EDB9D3E}" destId="{0397CD26-BA5B-004A-A407-39FFF0C5E6E2}" srcOrd="1" destOrd="4" presId="urn:microsoft.com/office/officeart/2005/8/layout/hProcess4"/>
    <dgm:cxn modelId="{F55AEC96-8937-854E-9D68-534CFDE51578}" srcId="{73CA9D3A-2924-4E49-90E9-316DF500DC0F}" destId="{3EB4ED83-5DA3-BC48-B62F-A8A72B3889B8}" srcOrd="3" destOrd="0" parTransId="{D5C42C45-76A4-E349-964F-5B07F0F05598}" sibTransId="{5DB43970-E19A-054B-97A2-19F1C165AD34}"/>
    <dgm:cxn modelId="{FC1D969B-44CA-9D4E-8FF2-818F494FA92C}" type="presOf" srcId="{3EB4ED83-5DA3-BC48-B62F-A8A72B3889B8}" destId="{91F69228-8F80-FD43-8499-6AD75051EAE8}" srcOrd="0" destOrd="3" presId="urn:microsoft.com/office/officeart/2005/8/layout/hProcess4"/>
    <dgm:cxn modelId="{CD84F29F-2646-484C-A8B1-2BE6A81CF4B0}" srcId="{0C95A93C-4380-E944-B3C4-E5E8D14AE15C}" destId="{77DFB119-5FA5-AB48-8C72-55CCCE179041}" srcOrd="0" destOrd="0" parTransId="{877044B3-A857-6C48-9379-6837645E0CF4}" sibTransId="{E8F7A39D-3F4C-664D-81F6-3A884CB30638}"/>
    <dgm:cxn modelId="{C63D18A0-D8CF-5049-8BBC-97677783AF48}" srcId="{C5C12BC0-8AEC-EF4B-8DB2-2E7C94A9BAA1}" destId="{8470B06A-8AFE-4340-BC3C-4CC38F5EC18F}" srcOrd="0" destOrd="0" parTransId="{61B24C49-9D8A-5445-B388-7C74AE83E5D8}" sibTransId="{3DB9BB59-6286-F349-A52E-606C55DB1F9B}"/>
    <dgm:cxn modelId="{E89A6EAB-3C38-364D-906B-6B566B2B2F01}" type="presOf" srcId="{6B0A075C-AA81-5C45-9039-62D3ABD4FE47}" destId="{CF7E624B-C2A8-874E-8825-9052262D97D7}" srcOrd="1" destOrd="0" presId="urn:microsoft.com/office/officeart/2005/8/layout/hProcess4"/>
    <dgm:cxn modelId="{3BD60BC2-4756-CE46-BD84-18E18F113BCF}" type="presOf" srcId="{B7DEFBE9-30DB-7040-856D-6FE26CFF4965}" destId="{D55E33F3-5C4A-EC4D-A5DF-279486BCF1EF}" srcOrd="1" destOrd="0" presId="urn:microsoft.com/office/officeart/2005/8/layout/hProcess4"/>
    <dgm:cxn modelId="{783973C4-5391-DF40-A391-D644633C5101}" type="presOf" srcId="{8470B06A-8AFE-4340-BC3C-4CC38F5EC18F}" destId="{C0A06C82-442B-7A4D-A33A-5AFB10FB7441}" srcOrd="0" destOrd="0" presId="urn:microsoft.com/office/officeart/2005/8/layout/hProcess4"/>
    <dgm:cxn modelId="{1B6A9FC8-4C53-E046-B6C3-E8DB870F3BC1}" type="presOf" srcId="{474AE075-1589-2647-A4B1-CB24D58AA40B}" destId="{91F69228-8F80-FD43-8499-6AD75051EAE8}" srcOrd="0" destOrd="1" presId="urn:microsoft.com/office/officeart/2005/8/layout/hProcess4"/>
    <dgm:cxn modelId="{AB0938D3-52C5-454B-A928-5C078DEF4EBE}" type="presOf" srcId="{F92FC77E-C4BB-374A-A9AD-90DA83934D7D}" destId="{A2A848B8-657E-284F-8C5B-C58A454F2C2F}" srcOrd="0" destOrd="0" presId="urn:microsoft.com/office/officeart/2005/8/layout/hProcess4"/>
    <dgm:cxn modelId="{F1FD98D3-25CD-5A48-91AD-1F3289CE4CF4}" type="presOf" srcId="{AECA0AD8-7EBF-EE49-95D1-A180DC444AC3}" destId="{0397CD26-BA5B-004A-A407-39FFF0C5E6E2}" srcOrd="1" destOrd="6" presId="urn:microsoft.com/office/officeart/2005/8/layout/hProcess4"/>
    <dgm:cxn modelId="{53809CDA-7CED-FD4E-A507-A989D05F8D45}" srcId="{C5C12BC0-8AEC-EF4B-8DB2-2E7C94A9BAA1}" destId="{0C95A93C-4380-E944-B3C4-E5E8D14AE15C}" srcOrd="2" destOrd="0" parTransId="{769BCA77-D18B-A545-B207-D85046E606B1}" sibTransId="{B5FDEE16-224C-244A-A8F0-634CC79E9648}"/>
    <dgm:cxn modelId="{C5A3ECDB-BE26-2149-AF57-F885ECA898B4}" srcId="{73CA9D3A-2924-4E49-90E9-316DF500DC0F}" destId="{474AE075-1589-2647-A4B1-CB24D58AA40B}" srcOrd="1" destOrd="0" parTransId="{CB34DF7A-4583-994C-A9AD-D8544A141BEF}" sibTransId="{ED7AE2E8-1686-F844-9810-C10D0C8E30D4}"/>
    <dgm:cxn modelId="{4F2461DE-7776-5C4A-908D-E81FA501D0F0}" srcId="{9906BFD9-5865-5548-BB39-833EB5FE48DA}" destId="{96B6502E-8B2F-AA47-A3B5-74B1F04B9327}" srcOrd="0" destOrd="0" parTransId="{FEA8DD35-FD57-9049-8307-0C1A7A3D2B1A}" sibTransId="{82A74EF8-6F32-F646-AD4A-27B0B635BE04}"/>
    <dgm:cxn modelId="{74098FDF-CE72-6D40-8E90-C813870968C4}" type="presOf" srcId="{1DF6F487-13F6-4E4D-B804-84318EDB9D3E}" destId="{C0A06C82-442B-7A4D-A33A-5AFB10FB7441}" srcOrd="0" destOrd="4" presId="urn:microsoft.com/office/officeart/2005/8/layout/hProcess4"/>
    <dgm:cxn modelId="{673004E4-6098-1643-BDD0-6717BAF10978}" type="presOf" srcId="{8470B06A-8AFE-4340-BC3C-4CC38F5EC18F}" destId="{0397CD26-BA5B-004A-A407-39FFF0C5E6E2}" srcOrd="1" destOrd="0" presId="urn:microsoft.com/office/officeart/2005/8/layout/hProcess4"/>
    <dgm:cxn modelId="{BE4EFAE5-6EB4-EA4E-B380-5EB6A11B4EBE}" srcId="{9906BFD9-5865-5548-BB39-833EB5FE48DA}" destId="{C5C12BC0-8AEC-EF4B-8DB2-2E7C94A9BAA1}" srcOrd="2" destOrd="0" parTransId="{3830DE1D-688E-0543-B82E-1A73376FF907}" sibTransId="{97DB20A3-3C4B-A149-9EE4-BB8709F3D78F}"/>
    <dgm:cxn modelId="{F162CFEA-CD4B-6B41-878C-E3006435E9BE}" type="presOf" srcId="{F57A66C1-3C8F-3F43-AFA1-F2BEFB7BE115}" destId="{C0A06C82-442B-7A4D-A33A-5AFB10FB7441}" srcOrd="0" destOrd="5" presId="urn:microsoft.com/office/officeart/2005/8/layout/hProcess4"/>
    <dgm:cxn modelId="{F7068BF5-D8A6-8144-B58E-50B67DD8A1F3}" type="presOf" srcId="{3EB4ED83-5DA3-BC48-B62F-A8A72B3889B8}" destId="{D55E33F3-5C4A-EC4D-A5DF-279486BCF1EF}" srcOrd="1" destOrd="3" presId="urn:microsoft.com/office/officeart/2005/8/layout/hProcess4"/>
    <dgm:cxn modelId="{135AF9F7-0201-1C43-846D-C3D19B9D7D80}" srcId="{9906BFD9-5865-5548-BB39-833EB5FE48DA}" destId="{73CA9D3A-2924-4E49-90E9-316DF500DC0F}" srcOrd="1" destOrd="0" parTransId="{8C5A2BF0-8A62-124A-B784-3A974CEFBAFB}" sibTransId="{F92FC77E-C4BB-374A-A9AD-90DA83934D7D}"/>
    <dgm:cxn modelId="{35353CFA-F48A-114E-A94F-32F9FC73E6DB}" type="presOf" srcId="{6C9B37AF-4D0C-4E43-A980-C034D79AA906}" destId="{D55E33F3-5C4A-EC4D-A5DF-279486BCF1EF}" srcOrd="1" destOrd="2" presId="urn:microsoft.com/office/officeart/2005/8/layout/hProcess4"/>
    <dgm:cxn modelId="{7B99A1FA-EE1F-6444-BB42-302A8FB8DE99}" srcId="{0C95A93C-4380-E944-B3C4-E5E8D14AE15C}" destId="{F57A66C1-3C8F-3F43-AFA1-F2BEFB7BE115}" srcOrd="2" destOrd="0" parTransId="{787FBCFF-CB1A-0D42-BEA8-798BF9407430}" sibTransId="{06DEACA4-FFE2-7E4E-85E1-A1D7CB4D29CF}"/>
    <dgm:cxn modelId="{11750687-1648-CE47-A93F-CC41C8D2C7FD}" type="presParOf" srcId="{032467E9-F64C-2E4A-B988-2E104DC75E40}" destId="{4AD76C17-77F8-7443-9FEE-C2A86C45B0E6}" srcOrd="0" destOrd="0" presId="urn:microsoft.com/office/officeart/2005/8/layout/hProcess4"/>
    <dgm:cxn modelId="{E0A0980C-3731-8B43-BFDD-1A242CB03EE5}" type="presParOf" srcId="{032467E9-F64C-2E4A-B988-2E104DC75E40}" destId="{5A099CC0-5B84-034F-8F29-4195481F5F00}" srcOrd="1" destOrd="0" presId="urn:microsoft.com/office/officeart/2005/8/layout/hProcess4"/>
    <dgm:cxn modelId="{AD6C349B-4BDC-EF4F-81BF-11B0848C2EFE}" type="presParOf" srcId="{032467E9-F64C-2E4A-B988-2E104DC75E40}" destId="{E941AE95-E8E3-BC45-B368-6111A72468C5}" srcOrd="2" destOrd="0" presId="urn:microsoft.com/office/officeart/2005/8/layout/hProcess4"/>
    <dgm:cxn modelId="{F88C4F61-DAF9-844C-88FD-12881F2F145F}" type="presParOf" srcId="{E941AE95-E8E3-BC45-B368-6111A72468C5}" destId="{A0C4967A-263F-EB44-9F71-63BA544F5F4E}" srcOrd="0" destOrd="0" presId="urn:microsoft.com/office/officeart/2005/8/layout/hProcess4"/>
    <dgm:cxn modelId="{70E3CF65-839C-5D4E-8924-286770F28679}" type="presParOf" srcId="{A0C4967A-263F-EB44-9F71-63BA544F5F4E}" destId="{BF2795E3-3212-CE46-9F1F-5744848C55A1}" srcOrd="0" destOrd="0" presId="urn:microsoft.com/office/officeart/2005/8/layout/hProcess4"/>
    <dgm:cxn modelId="{FFD8C207-0D43-5943-B418-79C142473EDD}" type="presParOf" srcId="{A0C4967A-263F-EB44-9F71-63BA544F5F4E}" destId="{50E51803-BB18-D840-ABF3-9059A4BDD781}" srcOrd="1" destOrd="0" presId="urn:microsoft.com/office/officeart/2005/8/layout/hProcess4"/>
    <dgm:cxn modelId="{3F3D05FE-A4C1-8341-A1F5-4AE777CACB20}" type="presParOf" srcId="{A0C4967A-263F-EB44-9F71-63BA544F5F4E}" destId="{CF7E624B-C2A8-874E-8825-9052262D97D7}" srcOrd="2" destOrd="0" presId="urn:microsoft.com/office/officeart/2005/8/layout/hProcess4"/>
    <dgm:cxn modelId="{4B93FD4B-6B88-AE44-8923-18FB59BB2E93}" type="presParOf" srcId="{A0C4967A-263F-EB44-9F71-63BA544F5F4E}" destId="{F026E775-0E45-4F44-A318-B2A4C12DD35E}" srcOrd="3" destOrd="0" presId="urn:microsoft.com/office/officeart/2005/8/layout/hProcess4"/>
    <dgm:cxn modelId="{1B4B3DE6-8F9F-E34F-A55A-1137F68D8D4C}" type="presParOf" srcId="{A0C4967A-263F-EB44-9F71-63BA544F5F4E}" destId="{865CA362-D987-014A-8C52-B1BE70DE6D79}" srcOrd="4" destOrd="0" presId="urn:microsoft.com/office/officeart/2005/8/layout/hProcess4"/>
    <dgm:cxn modelId="{8E77FBDE-917D-9645-87C6-5867F28F27D1}" type="presParOf" srcId="{E941AE95-E8E3-BC45-B368-6111A72468C5}" destId="{4FAF26E4-2E99-CF49-8B7B-E83D37AA3CF8}" srcOrd="1" destOrd="0" presId="urn:microsoft.com/office/officeart/2005/8/layout/hProcess4"/>
    <dgm:cxn modelId="{1A1942DC-DCDE-9A40-9696-9521F980D716}" type="presParOf" srcId="{E941AE95-E8E3-BC45-B368-6111A72468C5}" destId="{6E3718C2-3B49-1748-B704-89240E44DFCD}" srcOrd="2" destOrd="0" presId="urn:microsoft.com/office/officeart/2005/8/layout/hProcess4"/>
    <dgm:cxn modelId="{A64A8F54-37E8-4F4B-A029-16BE9D2C209B}" type="presParOf" srcId="{6E3718C2-3B49-1748-B704-89240E44DFCD}" destId="{1FE759F1-3BCE-CE45-ADBB-26B175E8FDD0}" srcOrd="0" destOrd="0" presId="urn:microsoft.com/office/officeart/2005/8/layout/hProcess4"/>
    <dgm:cxn modelId="{DAC9FA49-A62E-9E4C-AAFB-66394D08DC29}" type="presParOf" srcId="{6E3718C2-3B49-1748-B704-89240E44DFCD}" destId="{91F69228-8F80-FD43-8499-6AD75051EAE8}" srcOrd="1" destOrd="0" presId="urn:microsoft.com/office/officeart/2005/8/layout/hProcess4"/>
    <dgm:cxn modelId="{DFD79078-9D38-EA42-805A-E3BB5B01AA39}" type="presParOf" srcId="{6E3718C2-3B49-1748-B704-89240E44DFCD}" destId="{D55E33F3-5C4A-EC4D-A5DF-279486BCF1EF}" srcOrd="2" destOrd="0" presId="urn:microsoft.com/office/officeart/2005/8/layout/hProcess4"/>
    <dgm:cxn modelId="{3C5F9D05-7A2D-954A-9279-C3389518FFCA}" type="presParOf" srcId="{6E3718C2-3B49-1748-B704-89240E44DFCD}" destId="{7B016932-E0B8-394B-A596-5D6E8F4C0C9D}" srcOrd="3" destOrd="0" presId="urn:microsoft.com/office/officeart/2005/8/layout/hProcess4"/>
    <dgm:cxn modelId="{9C8B2E02-8BF2-9C43-A261-94B76F91E58E}" type="presParOf" srcId="{6E3718C2-3B49-1748-B704-89240E44DFCD}" destId="{8D11011C-7B1F-B14F-A069-160B4C1AB115}" srcOrd="4" destOrd="0" presId="urn:microsoft.com/office/officeart/2005/8/layout/hProcess4"/>
    <dgm:cxn modelId="{9D9E34AB-38F3-F244-958A-45530BA79F0C}" type="presParOf" srcId="{E941AE95-E8E3-BC45-B368-6111A72468C5}" destId="{A2A848B8-657E-284F-8C5B-C58A454F2C2F}" srcOrd="3" destOrd="0" presId="urn:microsoft.com/office/officeart/2005/8/layout/hProcess4"/>
    <dgm:cxn modelId="{013D13FB-C567-E94B-B370-E062937D1FF3}" type="presParOf" srcId="{E941AE95-E8E3-BC45-B368-6111A72468C5}" destId="{5603637D-D3A1-F147-A98B-C504F20D9E7F}" srcOrd="4" destOrd="0" presId="urn:microsoft.com/office/officeart/2005/8/layout/hProcess4"/>
    <dgm:cxn modelId="{3E1F5324-EC5D-694A-9677-97BBF5FD07E9}" type="presParOf" srcId="{5603637D-D3A1-F147-A98B-C504F20D9E7F}" destId="{3D2FF8AD-3CB0-2F4F-AEAA-F56D6013E7B6}" srcOrd="0" destOrd="0" presId="urn:microsoft.com/office/officeart/2005/8/layout/hProcess4"/>
    <dgm:cxn modelId="{4DEAE666-F183-7B4E-A98C-873AF15B09F8}" type="presParOf" srcId="{5603637D-D3A1-F147-A98B-C504F20D9E7F}" destId="{C0A06C82-442B-7A4D-A33A-5AFB10FB7441}" srcOrd="1" destOrd="0" presId="urn:microsoft.com/office/officeart/2005/8/layout/hProcess4"/>
    <dgm:cxn modelId="{0F13D27F-8636-244D-9C32-ECB3463470EB}" type="presParOf" srcId="{5603637D-D3A1-F147-A98B-C504F20D9E7F}" destId="{0397CD26-BA5B-004A-A407-39FFF0C5E6E2}" srcOrd="2" destOrd="0" presId="urn:microsoft.com/office/officeart/2005/8/layout/hProcess4"/>
    <dgm:cxn modelId="{252A5824-0357-3C48-8D68-41F69D029EA8}" type="presParOf" srcId="{5603637D-D3A1-F147-A98B-C504F20D9E7F}" destId="{4BE040B6-1639-E54F-8063-E309F7AA7818}" srcOrd="3" destOrd="0" presId="urn:microsoft.com/office/officeart/2005/8/layout/hProcess4"/>
    <dgm:cxn modelId="{8104558C-6A1E-CC41-96FB-3FEF3B90B9C3}" type="presParOf" srcId="{5603637D-D3A1-F147-A98B-C504F20D9E7F}" destId="{5096A316-1F03-B947-9577-E274F25AF4D1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9CA0E37-B777-1B45-8D42-5505C7EF4DD6}">
      <dgm:prSet/>
      <dgm:spPr>
        <a:solidFill>
          <a:srgbClr val="AE6300"/>
        </a:solidFill>
      </dgm:spPr>
      <dgm:t>
        <a:bodyPr/>
        <a:lstStyle/>
        <a:p>
          <a:r>
            <a:rPr lang="en-MY" dirty="0"/>
            <a:t>INVESTIGATION</a:t>
          </a:r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4AA98B38-E5F2-2346-8449-3A4F2B68B624}">
      <dgm:prSet custT="1"/>
      <dgm:spPr>
        <a:solidFill>
          <a:srgbClr val="F1D7A3"/>
        </a:solidFill>
      </dgm:spPr>
      <dgm:t>
        <a:bodyPr/>
        <a:lstStyle/>
        <a:p>
          <a:r>
            <a:rPr lang="en-GB" sz="3600" dirty="0"/>
            <a:t>Quantitative</a:t>
          </a:r>
        </a:p>
      </dgm:t>
    </dgm:pt>
    <dgm:pt modelId="{78F25BB2-FB4C-0C40-9EC6-7E209B7A7959}" type="parTrans" cxnId="{7F0F6BDB-E644-FB47-8ED7-F841642B3251}">
      <dgm:prSet/>
      <dgm:spPr/>
      <dgm:t>
        <a:bodyPr/>
        <a:lstStyle/>
        <a:p>
          <a:endParaRPr lang="en-GB"/>
        </a:p>
      </dgm:t>
    </dgm:pt>
    <dgm:pt modelId="{A147DA46-FB8F-6342-A9CB-18B8CEC73C78}" type="sibTrans" cxnId="{7F0F6BDB-E644-FB47-8ED7-F841642B3251}">
      <dgm:prSet/>
      <dgm:spPr/>
      <dgm:t>
        <a:bodyPr/>
        <a:lstStyle/>
        <a:p>
          <a:endParaRPr lang="en-GB"/>
        </a:p>
      </dgm:t>
    </dgm:pt>
    <dgm:pt modelId="{B5767DEE-0C59-1743-A8EE-CFFAC36D3474}">
      <dgm:prSet custT="1"/>
      <dgm:spPr>
        <a:solidFill>
          <a:srgbClr val="F1D7A3"/>
        </a:solidFill>
      </dgm:spPr>
      <dgm:t>
        <a:bodyPr/>
        <a:lstStyle/>
        <a:p>
          <a:r>
            <a:rPr lang="en-GB" sz="3600" dirty="0"/>
            <a:t>Qualitative</a:t>
          </a:r>
        </a:p>
      </dgm:t>
    </dgm:pt>
    <dgm:pt modelId="{285B8102-9930-6649-BAD1-103B32EE037C}" type="parTrans" cxnId="{595FD539-05D5-0441-841D-0D25EB0A53B8}">
      <dgm:prSet/>
      <dgm:spPr/>
      <dgm:t>
        <a:bodyPr/>
        <a:lstStyle/>
        <a:p>
          <a:endParaRPr lang="en-GB"/>
        </a:p>
      </dgm:t>
    </dgm:pt>
    <dgm:pt modelId="{9429575E-035A-854D-B37E-25DABE599D39}" type="sibTrans" cxnId="{595FD539-05D5-0441-841D-0D25EB0A53B8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0" presStyleCnt="1" custScaleX="134280">
        <dgm:presLayoutVars>
          <dgm:chMax val="1"/>
          <dgm:bulletEnabled val="1"/>
        </dgm:presLayoutVars>
      </dgm:prSet>
      <dgm:spPr/>
    </dgm:pt>
    <dgm:pt modelId="{7909DCAD-A626-344D-B261-E724B29F0CEE}" type="pres">
      <dgm:prSet presAssocID="{29CA0E37-B777-1B45-8D42-5505C7EF4DD6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595FD539-05D5-0441-841D-0D25EB0A53B8}" srcId="{29CA0E37-B777-1B45-8D42-5505C7EF4DD6}" destId="{B5767DEE-0C59-1743-A8EE-CFFAC36D3474}" srcOrd="1" destOrd="0" parTransId="{285B8102-9930-6649-BAD1-103B32EE037C}" sibTransId="{9429575E-035A-854D-B37E-25DABE599D39}"/>
    <dgm:cxn modelId="{5A56B747-AE64-4B4E-96CA-72F403951E9A}" srcId="{66E13D44-AA4E-B140-965B-FB71BC866BAD}" destId="{29CA0E37-B777-1B45-8D42-5505C7EF4DD6}" srcOrd="0" destOrd="0" parTransId="{4050C5FE-8BDA-0C4E-94B9-599367D9D16D}" sibTransId="{A5EB22FF-A85E-764D-B3B3-B399B012CDCD}"/>
    <dgm:cxn modelId="{89F14350-F91A-9B42-8B3D-D13300FE0024}" type="presOf" srcId="{B5767DEE-0C59-1743-A8EE-CFFAC36D3474}" destId="{7909DCAD-A626-344D-B261-E724B29F0CEE}" srcOrd="0" destOrd="1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7F0F6BDB-E644-FB47-8ED7-F841642B3251}" srcId="{29CA0E37-B777-1B45-8D42-5505C7EF4DD6}" destId="{4AA98B38-E5F2-2346-8449-3A4F2B68B624}" srcOrd="0" destOrd="0" parTransId="{78F25BB2-FB4C-0C40-9EC6-7E209B7A7959}" sibTransId="{A147DA46-FB8F-6342-A9CB-18B8CEC73C78}"/>
    <dgm:cxn modelId="{B9DA3DF2-6338-E440-B487-E9FBA3333DCD}" type="presOf" srcId="{4AA98B38-E5F2-2346-8449-3A4F2B68B624}" destId="{7909DCAD-A626-344D-B261-E724B29F0CEE}" srcOrd="0" destOrd="0" presId="urn:microsoft.com/office/officeart/2005/8/layout/vList5"/>
    <dgm:cxn modelId="{B00F0DBE-D9A6-1343-AEB6-0884DB3FBD6E}" type="presParOf" srcId="{9403BA41-611A-FA42-8804-EA979A74D0A5}" destId="{FFECDE15-43EA-BD48-9814-7BB57CB3D4EA}" srcOrd="0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F300E734-C7DC-7F4E-B8EF-66E58A5C4BDB}" type="presParOf" srcId="{FFECDE15-43EA-BD48-9814-7BB57CB3D4EA}" destId="{7909DCAD-A626-344D-B261-E724B29F0CE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1FBE87C-157B-214E-87C9-6A1C7ED7FE03}">
      <dgm:prSet/>
      <dgm:spPr>
        <a:solidFill>
          <a:srgbClr val="B43500"/>
        </a:solidFill>
      </dgm:spPr>
      <dgm:t>
        <a:bodyPr/>
        <a:lstStyle/>
        <a:p>
          <a:r>
            <a:rPr lang="en-US" b="1" dirty="0"/>
            <a:t>OBSERVATION</a:t>
          </a:r>
          <a:endParaRPr lang="en-MY" dirty="0"/>
        </a:p>
      </dgm:t>
    </dgm:pt>
    <dgm:pt modelId="{9155D718-1FC1-3F4D-8F2E-781E49A169FF}" type="sibTrans" cxnId="{5B127372-A974-D54E-ABAB-CC45AABEE999}">
      <dgm:prSet/>
      <dgm:spPr/>
      <dgm:t>
        <a:bodyPr/>
        <a:lstStyle/>
        <a:p>
          <a:endParaRPr lang="en-GB"/>
        </a:p>
      </dgm:t>
    </dgm:pt>
    <dgm:pt modelId="{D4BA1163-1DCF-D34A-82C1-EBE08534E676}" type="parTrans" cxnId="{5B127372-A974-D54E-ABAB-CC45AABEE999}">
      <dgm:prSet/>
      <dgm:spPr/>
      <dgm:t>
        <a:bodyPr/>
        <a:lstStyle/>
        <a:p>
          <a:endParaRPr lang="en-GB"/>
        </a:p>
      </dgm:t>
    </dgm:pt>
    <dgm:pt modelId="{D05BE251-5223-0E45-8FE9-B29429E1ED6C}">
      <dgm:prSet custT="1"/>
      <dgm:spPr>
        <a:solidFill>
          <a:srgbClr val="FFCB63"/>
        </a:solidFill>
      </dgm:spPr>
      <dgm:t>
        <a:bodyPr/>
        <a:lstStyle/>
        <a:p>
          <a:r>
            <a:rPr lang="en-GB" sz="4800" dirty="0"/>
            <a:t>STROBE</a:t>
          </a:r>
        </a:p>
      </dgm:t>
    </dgm:pt>
    <dgm:pt modelId="{FED15990-40CA-974B-9D56-EC831F99287F}" type="parTrans" cxnId="{9832E87D-E320-3A48-BEF0-BF26278D345C}">
      <dgm:prSet/>
      <dgm:spPr/>
      <dgm:t>
        <a:bodyPr/>
        <a:lstStyle/>
        <a:p>
          <a:endParaRPr lang="en-GB"/>
        </a:p>
      </dgm:t>
    </dgm:pt>
    <dgm:pt modelId="{E867C8B7-7AA0-6F4A-ADDA-FE4D3678A5C1}" type="sibTrans" cxnId="{9832E87D-E320-3A48-BEF0-BF26278D345C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CBF80E1D-D967-C84E-9C4F-F8CD0EAB51C7}" type="pres">
      <dgm:prSet presAssocID="{41FBE87C-157B-214E-87C9-6A1C7ED7FE03}" presName="linNode" presStyleCnt="0"/>
      <dgm:spPr/>
    </dgm:pt>
    <dgm:pt modelId="{282AF86B-5651-D740-B3E2-314500A8BB47}" type="pres">
      <dgm:prSet presAssocID="{41FBE87C-157B-214E-87C9-6A1C7ED7FE03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9FDF0917-8051-D946-9D89-38E545DE9D05}" type="pres">
      <dgm:prSet presAssocID="{41FBE87C-157B-214E-87C9-6A1C7ED7FE03}" presName="descendantText" presStyleLbl="alignAccFollowNode1" presStyleIdx="0" presStyleCnt="1" custLinFactNeighborX="-666">
        <dgm:presLayoutVars>
          <dgm:bulletEnabled val="1"/>
        </dgm:presLayoutVars>
      </dgm:prSet>
      <dgm:spPr/>
    </dgm:pt>
  </dgm:ptLst>
  <dgm:cxnLst>
    <dgm:cxn modelId="{4BD8834B-8014-7D40-B82B-0B10D59F4C4E}" type="presOf" srcId="{41FBE87C-157B-214E-87C9-6A1C7ED7FE03}" destId="{282AF86B-5651-D740-B3E2-314500A8BB47}" srcOrd="0" destOrd="0" presId="urn:microsoft.com/office/officeart/2005/8/layout/vList5"/>
    <dgm:cxn modelId="{5B127372-A974-D54E-ABAB-CC45AABEE999}" srcId="{66E13D44-AA4E-B140-965B-FB71BC866BAD}" destId="{41FBE87C-157B-214E-87C9-6A1C7ED7FE03}" srcOrd="0" destOrd="0" parTransId="{D4BA1163-1DCF-D34A-82C1-EBE08534E676}" sibTransId="{9155D718-1FC1-3F4D-8F2E-781E49A169FF}"/>
    <dgm:cxn modelId="{9832E87D-E320-3A48-BEF0-BF26278D345C}" srcId="{41FBE87C-157B-214E-87C9-6A1C7ED7FE03}" destId="{D05BE251-5223-0E45-8FE9-B29429E1ED6C}" srcOrd="0" destOrd="0" parTransId="{FED15990-40CA-974B-9D56-EC831F99287F}" sibTransId="{E867C8B7-7AA0-6F4A-ADDA-FE4D3678A5C1}"/>
    <dgm:cxn modelId="{4BCBB58E-CA42-3B45-B0C0-7C090005AB0B}" type="presOf" srcId="{D05BE251-5223-0E45-8FE9-B29429E1ED6C}" destId="{9FDF0917-8051-D946-9D89-38E545DE9D05}" srcOrd="0" destOrd="0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2CAD2E9F-7C2C-2D48-91C0-B4CBBEEBABDE}" type="presParOf" srcId="{9403BA41-611A-FA42-8804-EA979A74D0A5}" destId="{CBF80E1D-D967-C84E-9C4F-F8CD0EAB51C7}" srcOrd="0" destOrd="0" presId="urn:microsoft.com/office/officeart/2005/8/layout/vList5"/>
    <dgm:cxn modelId="{BC55CD20-0A0C-C543-9370-48FBC63A2A2C}" type="presParOf" srcId="{CBF80E1D-D967-C84E-9C4F-F8CD0EAB51C7}" destId="{282AF86B-5651-D740-B3E2-314500A8BB47}" srcOrd="0" destOrd="0" presId="urn:microsoft.com/office/officeart/2005/8/layout/vList5"/>
    <dgm:cxn modelId="{4FD2FBB6-A863-D84F-B89F-5AA95BF7EFEF}" type="presParOf" srcId="{CBF80E1D-D967-C84E-9C4F-F8CD0EAB51C7}" destId="{9FDF0917-8051-D946-9D89-38E545DE9D0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E4304-683A-B24B-917D-EB887AE51392}">
      <dsp:nvSpPr>
        <dsp:cNvPr id="0" name=""/>
        <dsp:cNvSpPr/>
      </dsp:nvSpPr>
      <dsp:spPr>
        <a:xfrm rot="5400000">
          <a:off x="7153674" y="-2898758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3100" kern="1200" dirty="0"/>
            <a:t>Types of Sampling</a:t>
          </a:r>
        </a:p>
      </dsp:txBody>
      <dsp:txXfrm rot="-5400000">
        <a:off x="4103370" y="209846"/>
        <a:ext cx="7236580" cy="1077671"/>
      </dsp:txXfrm>
    </dsp:sp>
    <dsp:sp modelId="{3E0D387A-B967-1140-8AD6-3ED717D320AA}">
      <dsp:nvSpPr>
        <dsp:cNvPr id="0" name=""/>
        <dsp:cNvSpPr/>
      </dsp:nvSpPr>
      <dsp:spPr>
        <a:xfrm>
          <a:off x="0" y="2261"/>
          <a:ext cx="4103370" cy="14928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200" kern="1200" dirty="0"/>
            <a:t>SAMPLING</a:t>
          </a:r>
        </a:p>
      </dsp:txBody>
      <dsp:txXfrm>
        <a:off x="72874" y="75135"/>
        <a:ext cx="3957622" cy="1347091"/>
      </dsp:txXfrm>
    </dsp:sp>
    <dsp:sp modelId="{7909DCAD-A626-344D-B261-E724B29F0CEE}">
      <dsp:nvSpPr>
        <dsp:cNvPr id="0" name=""/>
        <dsp:cNvSpPr/>
      </dsp:nvSpPr>
      <dsp:spPr>
        <a:xfrm rot="5400000">
          <a:off x="7153674" y="-1331277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100" kern="1200" dirty="0"/>
            <a:t>Quantitative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100" kern="1200" dirty="0"/>
            <a:t>Qualitative</a:t>
          </a:r>
        </a:p>
      </dsp:txBody>
      <dsp:txXfrm rot="-5400000">
        <a:off x="4103370" y="1777327"/>
        <a:ext cx="7236580" cy="1077671"/>
      </dsp:txXfrm>
    </dsp:sp>
    <dsp:sp modelId="{0F5C74DA-8593-D54A-8A8A-E5B629D54B1F}">
      <dsp:nvSpPr>
        <dsp:cNvPr id="0" name=""/>
        <dsp:cNvSpPr/>
      </dsp:nvSpPr>
      <dsp:spPr>
        <a:xfrm>
          <a:off x="0" y="1569742"/>
          <a:ext cx="4103370" cy="1492839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200" kern="1200" dirty="0"/>
            <a:t>INVESTIGATION</a:t>
          </a:r>
        </a:p>
      </dsp:txBody>
      <dsp:txXfrm>
        <a:off x="72874" y="1642616"/>
        <a:ext cx="3957622" cy="1347091"/>
      </dsp:txXfrm>
    </dsp:sp>
    <dsp:sp modelId="{9FDF0917-8051-D946-9D89-38E545DE9D05}">
      <dsp:nvSpPr>
        <dsp:cNvPr id="0" name=""/>
        <dsp:cNvSpPr/>
      </dsp:nvSpPr>
      <dsp:spPr>
        <a:xfrm rot="5400000">
          <a:off x="7153674" y="236203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100" kern="1200" dirty="0"/>
            <a:t>STROBE</a:t>
          </a:r>
        </a:p>
      </dsp:txBody>
      <dsp:txXfrm rot="-5400000">
        <a:off x="4103370" y="3344807"/>
        <a:ext cx="7236580" cy="1077671"/>
      </dsp:txXfrm>
    </dsp:sp>
    <dsp:sp modelId="{282AF86B-5651-D740-B3E2-314500A8BB47}">
      <dsp:nvSpPr>
        <dsp:cNvPr id="0" name=""/>
        <dsp:cNvSpPr/>
      </dsp:nvSpPr>
      <dsp:spPr>
        <a:xfrm>
          <a:off x="0" y="3137224"/>
          <a:ext cx="4103370" cy="1492839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/>
            <a:t>OBSERVATION</a:t>
          </a:r>
          <a:endParaRPr lang="en-MY" sz="4200" kern="1200" dirty="0"/>
        </a:p>
      </dsp:txBody>
      <dsp:txXfrm>
        <a:off x="72874" y="3210098"/>
        <a:ext cx="3957622" cy="1347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E4304-683A-B24B-917D-EB887AE51392}">
      <dsp:nvSpPr>
        <dsp:cNvPr id="0" name=""/>
        <dsp:cNvSpPr/>
      </dsp:nvSpPr>
      <dsp:spPr>
        <a:xfrm rot="5400000">
          <a:off x="6265823" y="-1791206"/>
          <a:ext cx="2969973" cy="72948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4400" kern="1200" dirty="0"/>
            <a:t>Types of Sampling</a:t>
          </a:r>
        </a:p>
      </dsp:txBody>
      <dsp:txXfrm rot="-5400000">
        <a:off x="4103370" y="516229"/>
        <a:ext cx="7149898" cy="2680009"/>
      </dsp:txXfrm>
    </dsp:sp>
    <dsp:sp modelId="{3E0D387A-B967-1140-8AD6-3ED717D320AA}">
      <dsp:nvSpPr>
        <dsp:cNvPr id="0" name=""/>
        <dsp:cNvSpPr/>
      </dsp:nvSpPr>
      <dsp:spPr>
        <a:xfrm>
          <a:off x="0" y="0"/>
          <a:ext cx="4103370" cy="371246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112395" rIns="224790" bIns="112395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900" kern="1200" dirty="0"/>
            <a:t>SAMPLING</a:t>
          </a:r>
        </a:p>
      </dsp:txBody>
      <dsp:txXfrm>
        <a:off x="181228" y="181228"/>
        <a:ext cx="3740914" cy="3350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51803-BB18-D840-ABF3-9059A4BDD781}">
      <dsp:nvSpPr>
        <dsp:cNvPr id="0" name=""/>
        <dsp:cNvSpPr/>
      </dsp:nvSpPr>
      <dsp:spPr>
        <a:xfrm>
          <a:off x="112" y="1448304"/>
          <a:ext cx="2650245" cy="2460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process to select population</a:t>
          </a:r>
          <a:endParaRPr lang="en-MY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Two key decision: WHAT TO EXAMINE and WHICH PEOPLE TO CONSIDER</a:t>
          </a:r>
          <a:endParaRPr lang="en-MY" sz="1800" kern="1200"/>
        </a:p>
      </dsp:txBody>
      <dsp:txXfrm>
        <a:off x="56739" y="1504931"/>
        <a:ext cx="2536991" cy="1820126"/>
      </dsp:txXfrm>
    </dsp:sp>
    <dsp:sp modelId="{4FAF26E4-2E99-CF49-8B7B-E83D37AA3CF8}">
      <dsp:nvSpPr>
        <dsp:cNvPr id="0" name=""/>
        <dsp:cNvSpPr/>
      </dsp:nvSpPr>
      <dsp:spPr>
        <a:xfrm>
          <a:off x="1500583" y="2146687"/>
          <a:ext cx="2862341" cy="2862341"/>
        </a:xfrm>
        <a:prstGeom prst="leftCircularArrow">
          <a:avLst>
            <a:gd name="adj1" fmla="val 2945"/>
            <a:gd name="adj2" fmla="val 360621"/>
            <a:gd name="adj3" fmla="val 2134684"/>
            <a:gd name="adj4" fmla="val 9023042"/>
            <a:gd name="adj5" fmla="val 343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6E775-0E45-4F44-A318-B2A4C12DD35E}">
      <dsp:nvSpPr>
        <dsp:cNvPr id="0" name=""/>
        <dsp:cNvSpPr/>
      </dsp:nvSpPr>
      <dsp:spPr>
        <a:xfrm>
          <a:off x="589055" y="3303179"/>
          <a:ext cx="2355773" cy="9368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WHAT?</a:t>
          </a:r>
          <a:endParaRPr lang="en-MY" sz="5300" kern="1200"/>
        </a:p>
      </dsp:txBody>
      <dsp:txXfrm>
        <a:off x="616493" y="3330617"/>
        <a:ext cx="2300897" cy="881937"/>
      </dsp:txXfrm>
    </dsp:sp>
    <dsp:sp modelId="{91F69228-8F80-FD43-8499-6AD75051EAE8}">
      <dsp:nvSpPr>
        <dsp:cNvPr id="0" name=""/>
        <dsp:cNvSpPr/>
      </dsp:nvSpPr>
      <dsp:spPr>
        <a:xfrm>
          <a:off x="3346220" y="1584706"/>
          <a:ext cx="2650245" cy="2185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Contain cost</a:t>
          </a:r>
          <a:endParaRPr lang="en-MY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Speed up data collection</a:t>
          </a:r>
          <a:endParaRPr lang="en-MY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Reducing bias</a:t>
          </a:r>
          <a:endParaRPr lang="en-MY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Reducing the time to collect data</a:t>
          </a:r>
          <a:endParaRPr lang="en-MY" sz="1800" kern="1200"/>
        </a:p>
      </dsp:txBody>
      <dsp:txXfrm>
        <a:off x="3396524" y="2103417"/>
        <a:ext cx="2549637" cy="1616883"/>
      </dsp:txXfrm>
    </dsp:sp>
    <dsp:sp modelId="{A2A848B8-657E-284F-8C5B-C58A454F2C2F}">
      <dsp:nvSpPr>
        <dsp:cNvPr id="0" name=""/>
        <dsp:cNvSpPr/>
      </dsp:nvSpPr>
      <dsp:spPr>
        <a:xfrm>
          <a:off x="4825538" y="259914"/>
          <a:ext cx="3200985" cy="3200985"/>
        </a:xfrm>
        <a:prstGeom prst="circularArrow">
          <a:avLst>
            <a:gd name="adj1" fmla="val 2633"/>
            <a:gd name="adj2" fmla="val 320131"/>
            <a:gd name="adj3" fmla="val 19501343"/>
            <a:gd name="adj4" fmla="val 12572495"/>
            <a:gd name="adj5" fmla="val 3072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16932-E0B8-394B-A596-5D6E8F4C0C9D}">
      <dsp:nvSpPr>
        <dsp:cNvPr id="0" name=""/>
        <dsp:cNvSpPr/>
      </dsp:nvSpPr>
      <dsp:spPr>
        <a:xfrm>
          <a:off x="3935164" y="1116300"/>
          <a:ext cx="2355773" cy="936813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WHY?</a:t>
          </a:r>
          <a:endParaRPr lang="en-MY" sz="5300" kern="1200"/>
        </a:p>
      </dsp:txBody>
      <dsp:txXfrm>
        <a:off x="3962602" y="1143738"/>
        <a:ext cx="2300897" cy="881937"/>
      </dsp:txXfrm>
    </dsp:sp>
    <dsp:sp modelId="{C0A06C82-442B-7A4D-A33A-5AFB10FB7441}">
      <dsp:nvSpPr>
        <dsp:cNvPr id="0" name=""/>
        <dsp:cNvSpPr/>
      </dsp:nvSpPr>
      <dsp:spPr>
        <a:xfrm>
          <a:off x="6692329" y="1264698"/>
          <a:ext cx="2650245" cy="2830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Determine the data</a:t>
          </a:r>
          <a:endParaRPr lang="en-MY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Determine the population</a:t>
          </a:r>
          <a:endParaRPr lang="en-MY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Choose sampling types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Convenience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Purposive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Simple Random</a:t>
          </a:r>
          <a:endParaRPr lang="en-MY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Complex Random</a:t>
          </a:r>
          <a:endParaRPr lang="en-MY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500" kern="1200" dirty="0"/>
            <a:t>Decide sample size</a:t>
          </a:r>
          <a:endParaRPr lang="en-MY" sz="1500" kern="1200" dirty="0"/>
        </a:p>
      </dsp:txBody>
      <dsp:txXfrm>
        <a:off x="6757467" y="1329836"/>
        <a:ext cx="2519969" cy="2093703"/>
      </dsp:txXfrm>
    </dsp:sp>
    <dsp:sp modelId="{4BE040B6-1639-E54F-8063-E309F7AA7818}">
      <dsp:nvSpPr>
        <dsp:cNvPr id="0" name=""/>
        <dsp:cNvSpPr/>
      </dsp:nvSpPr>
      <dsp:spPr>
        <a:xfrm>
          <a:off x="7281272" y="3304500"/>
          <a:ext cx="2355773" cy="936813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HOW?</a:t>
          </a:r>
          <a:endParaRPr lang="en-MY" sz="5300" kern="1200"/>
        </a:p>
      </dsp:txBody>
      <dsp:txXfrm>
        <a:off x="7308710" y="3331938"/>
        <a:ext cx="2300897" cy="881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9DCAD-A626-344D-B261-E724B29F0CEE}">
      <dsp:nvSpPr>
        <dsp:cNvPr id="0" name=""/>
        <dsp:cNvSpPr/>
      </dsp:nvSpPr>
      <dsp:spPr>
        <a:xfrm rot="5400000">
          <a:off x="6730741" y="-1470729"/>
          <a:ext cx="2838735" cy="6489878"/>
        </a:xfrm>
        <a:prstGeom prst="round2SameRect">
          <a:avLst/>
        </a:prstGeom>
        <a:solidFill>
          <a:srgbClr val="F1D7A3"/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Quantitative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600" kern="1200" dirty="0"/>
            <a:t>Qualitative</a:t>
          </a:r>
        </a:p>
      </dsp:txBody>
      <dsp:txXfrm rot="-5400000">
        <a:off x="4905170" y="493418"/>
        <a:ext cx="6351302" cy="2561583"/>
      </dsp:txXfrm>
    </dsp:sp>
    <dsp:sp modelId="{0F5C74DA-8593-D54A-8A8A-E5B629D54B1F}">
      <dsp:nvSpPr>
        <dsp:cNvPr id="0" name=""/>
        <dsp:cNvSpPr/>
      </dsp:nvSpPr>
      <dsp:spPr>
        <a:xfrm>
          <a:off x="3201" y="0"/>
          <a:ext cx="4901967" cy="3548419"/>
        </a:xfrm>
        <a:prstGeom prst="roundRect">
          <a:avLst/>
        </a:prstGeom>
        <a:solidFill>
          <a:srgbClr val="AE63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97155" rIns="194310" bIns="9715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100" kern="1200" dirty="0"/>
            <a:t>INVESTIGATION</a:t>
          </a:r>
        </a:p>
      </dsp:txBody>
      <dsp:txXfrm>
        <a:off x="176421" y="173220"/>
        <a:ext cx="4555527" cy="32019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F0917-8051-D946-9D89-38E545DE9D05}">
      <dsp:nvSpPr>
        <dsp:cNvPr id="0" name=""/>
        <dsp:cNvSpPr/>
      </dsp:nvSpPr>
      <dsp:spPr>
        <a:xfrm rot="5400000">
          <a:off x="6440175" y="-2043307"/>
          <a:ext cx="2566612" cy="7294880"/>
        </a:xfrm>
        <a:prstGeom prst="round2SameRect">
          <a:avLst/>
        </a:prstGeom>
        <a:solidFill>
          <a:srgbClr val="FFCB63"/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800" kern="1200" dirty="0"/>
            <a:t>STROBE</a:t>
          </a:r>
        </a:p>
      </dsp:txBody>
      <dsp:txXfrm rot="-5400000">
        <a:off x="4076041" y="446119"/>
        <a:ext cx="7169588" cy="2316028"/>
      </dsp:txXfrm>
    </dsp:sp>
    <dsp:sp modelId="{282AF86B-5651-D740-B3E2-314500A8BB47}">
      <dsp:nvSpPr>
        <dsp:cNvPr id="0" name=""/>
        <dsp:cNvSpPr/>
      </dsp:nvSpPr>
      <dsp:spPr>
        <a:xfrm>
          <a:off x="0" y="0"/>
          <a:ext cx="4103370" cy="3208266"/>
        </a:xfrm>
        <a:prstGeom prst="roundRect">
          <a:avLst/>
        </a:prstGeom>
        <a:solidFill>
          <a:srgbClr val="B435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OBSERVATION</a:t>
          </a:r>
          <a:endParaRPr lang="en-MY" sz="4500" kern="1200" dirty="0"/>
        </a:p>
      </dsp:txBody>
      <dsp:txXfrm>
        <a:off x="156615" y="156615"/>
        <a:ext cx="3790140" cy="2895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FBB964-91EE-6D44-9245-6E870FE24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FCBC2-74CA-194C-A913-723B8183E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BC8F580-752C-4144-A7C0-D9E2449D0345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D2939F-3B94-A446-A0D1-0F801799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BF076F-1D3C-3E48-89BD-E060B7D92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19D35-AF4C-5F49-A32D-FABFE352C2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05E62-A327-8F4A-96E5-02D47B34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EE6678C-B846-4645-BFC0-6717EC24A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following slides will cover on the 3</a:t>
            </a:r>
            <a:r>
              <a:rPr lang="en-US" baseline="30000" dirty="0"/>
              <a:t>rd</a:t>
            </a:r>
            <a:r>
              <a:rPr lang="en-US" dirty="0"/>
              <a:t> part of this Topic 2 that discusses on the managing the team members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6678C-B846-4645-BFC0-6717EC24A31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47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https://www.w3computing.com/systemsanalysis/investigation-analyzing-quantitative-documents/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6678C-B846-4645-BFC0-6717EC24A31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5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https://www.w3computing.com/systemsanalysis/investigation-analyzing-qualitative-documents/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6678C-B846-4645-BFC0-6717EC24A31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6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A8AD4410-B83D-1946-B9E5-363BA2D342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1A503-FBCE-7A47-A9B1-01F8170F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1A8F-4AA7-5345-8FFF-7AB164E3D364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B8A3-3FB8-C94F-92FE-07602C55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7DD2D-7FF1-BC44-A1C5-04D6ED51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41483-9899-9644-A00D-B7E1DCD7E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3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21BE4D82-B260-554A-B8FB-04A34CD898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CD9F48-4EF1-4043-A3C7-DF1323DC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49A80-F880-48D2-A8C3-0B02E2589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6B3F531-1B70-2848-B6F9-A3D2C91E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986FF-D326-8943-BD97-F4A3A41EB7B0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8FAED7-1879-B144-BEF0-404DAD34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12B5B8-B124-4B4A-AE75-BF0C2955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40632-84E8-FF4F-ADC8-2C98EE771E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6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8F21EDC8-2FDA-A344-AA7C-26D9EF3AA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C2E7718-3023-CF42-81E7-D6E43DB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EA27B-9A49-6349-B138-B4E9F4513E87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A6F3045-4D16-D04D-A38E-EBCE0EB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E206B9-5622-2449-BC1E-AF9EFAAE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1CC2A-974A-4B4F-A46C-280931AFA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5394ECDD-7731-8F49-8565-344EC88D5B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A0B1A2-2AA1-C240-81D2-3A734C31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D471D-21A3-884D-A710-2572E32C4126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381B053-B7B0-E148-B8D4-EC2E9B2C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3C38C3-2402-AC49-BF29-954DCC26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850DE-AB95-3C43-8A6F-CB1F17AD88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4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40A07E1A-0BEC-5E44-A47D-CC4577568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E207D-6691-4CB8-88CE-6CF5B9F3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5C8B-38F6-4ACA-A38B-3548E945F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49F08-1805-4624-93F8-916A81B7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41B5E33-8423-3C46-87BD-D55BA393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A4734-85FF-D94D-87B5-BD7C5CB50D8F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B36DD45-F67F-DD41-AE3A-F665E90C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5CA16E-443B-A944-AB70-1510A5C3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5A528-50CF-F84E-A5C5-B777DEF0AF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5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F8112DE8-F1F1-7947-AC36-62051F4A32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ADB49673-D0B9-424C-90D3-75695118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5595-82D9-174C-BBD4-D1EE32E9AA42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066C325B-F397-094B-A8A5-3A749B5D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F9B19B4B-63F9-F84C-9636-FA67BA6B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0CB85-50FC-704E-97E4-51055CD80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5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3528DBD-8687-B24E-B658-95B1FA3EA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4D6447-46EF-4D76-B6F0-24723C8F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2C59699B-F0AD-DC4D-B73A-74BA42BD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70322-4B8E-774C-BF02-A1C0F1B2F6E4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E8649E2-1AE6-8B4A-A66B-C42D6A0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F7DC1B4-CEAD-B24A-83FD-14E4ABA9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AE11C-1C29-154B-880D-F2ECCBA89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7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6CB282C-FB08-404F-96E1-AA59511C11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59D11D-D97F-42D6-ACE2-0CBB2BA3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A156682-520B-F04C-9DE5-A94F871C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89B88-3616-3B49-848C-23EA77512B2E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508F9B-D3C3-B54C-96E4-38480568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E73A94A-5869-4C4C-8BDC-D4B5E960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7588F-03EB-E740-A28B-81DA66CB4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5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10277F4-9C8F-7F48-8D75-91A2A88B09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BE89F-3B06-5348-A0F7-A6A21915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F0529-3F54-7245-BD67-39161CEB614D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55A93-550E-4F44-9852-A46BDF56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31349-69D0-CB47-BD9A-8C19A047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425D-9892-784D-B3BB-790F829805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1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D4F72597-4AAB-A347-8DA1-243E46B1B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1A61377-E248-E647-B1AE-FDD53151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BD51-A4F8-CD47-A81C-34450CEE01FB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5627FBE-56CA-7648-9F76-DA2F1974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3D74E10-D3F3-D748-9766-5A42A712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C3C37-B209-924D-8C51-8BA369A61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1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500E-6285-47B7-953E-7536D619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2BB6-902B-4B71-A064-12279185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0F693-3BC1-4F84-8E52-8FB92EDC8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72CCA0-31D9-6945-8215-558039CD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A7FA8-0842-DB4E-82C3-902B32B69523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F1106C-D125-EC46-B1A2-D61D15D3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4383B4-4095-094E-A54A-E3E0099E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5AC69-F4DA-BE4B-81CE-37BC4DD4EA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4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3017-577D-4F1F-B2E2-D11D0645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62013-2353-4184-AF0C-5493C31AA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9331E-511A-4572-B108-37D5980F9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4700FE-F3DE-7148-B6A5-2EF788D6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C211B-804C-C44D-B2DA-E21F9B262342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5E4039-BC56-564E-8B6E-09362375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630F2E-C075-A741-9BB9-80195E61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DDB32-C652-0D43-9226-F29123611B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51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C5C2-75E0-4760-B4AB-EAF43C06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19DDB-0729-4696-8863-90766545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30003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7C89-7270-0E4D-9FBF-9D1A21AF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C20BB-9DCA-5A40-90F8-12EFA44687FB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EE288-56EC-3A41-A6A0-5808DA8A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C15D4-5699-354D-A16F-A3E1A7AE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5E81-FD0C-FF4F-AC3A-80082BFCFE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15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E3B64-C723-44B3-BBB0-617FC6B1C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FB109-9D8B-485B-9CA0-576A358F5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D88C8-97E5-4D4C-8F58-030AA9D0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8EFD2-DC7E-7D43-82F8-DF2917A0F66C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A406A-9100-3441-9CE1-53FDE48B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0ACC1-B582-D445-97AE-CBA7E1C4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B2A73-8C00-AE44-A00B-8E93C17BE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2ACA9-0A1B-ED42-9E67-A7A569B4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AB691-A55D-9247-BF5F-57C43DC543C3}" type="datetimeFigureOut">
              <a:rPr lang="en-MY"/>
              <a:pPr>
                <a:defRPr/>
              </a:pPr>
              <a:t>31/10/2020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7B39-A884-9745-AC64-A7432D03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DC17-1CE3-974A-BF6C-CBF68F12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FB4DE-F110-D84E-8912-4F3DEA3B2F44}" type="slidenum">
              <a:rPr lang="en-MY" altLang="en-US"/>
              <a:pPr/>
              <a:t>‹#›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5452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DF8C-500E-4EF9-950E-4D1F912BC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EEB975E-61AD-814C-9950-77BF98509ED2}" type="datetimeFigureOut">
              <a:rPr lang="en-US"/>
              <a:pPr>
                <a:defRPr/>
              </a:pPr>
              <a:t>10/31/2020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F2BA2-A22B-4E34-80A5-84D2C3F4D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1561-873F-4C1D-BD8B-3AFBA233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6A6A4BF-6CF2-7F4D-9586-24AE40100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15" r:id="rId11"/>
    <p:sldLayoutId id="2147483816" r:id="rId12"/>
    <p:sldLayoutId id="2147483817" r:id="rId13"/>
    <p:sldLayoutId id="2147483818" r:id="rId14"/>
    <p:sldLayoutId id="2147483829" r:id="rId1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DED6-3AA9-4DBB-84AF-6902AA847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PART 2: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UNOBSRTUSIVE METHOD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57C70-9B7A-4F4F-9478-D893D978A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endParaRPr lang="en-MY" sz="3200" dirty="0">
              <a:solidFill>
                <a:schemeClr val="bg1"/>
              </a:solidFill>
            </a:endParaRPr>
          </a:p>
        </p:txBody>
      </p:sp>
      <p:pic>
        <p:nvPicPr>
          <p:cNvPr id="4" name="Audio Recording 28 Oct 2020 at 8:16:55 AM" descr="Audio Recording 28 Oct 2020 at 8:16:55 AM">
            <a:hlinkClick r:id="" action="ppaction://media"/>
            <a:extLst>
              <a:ext uri="{FF2B5EF4-FFF2-40B4-BE49-F238E27FC236}">
                <a16:creationId xmlns:a16="http://schemas.microsoft.com/office/drawing/2014/main" id="{5AAE3667-9A3D-B648-B0AB-48AB8E2575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9677" y="602307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59346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736B481-6407-2D47-BF72-80C50FC06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>
                <a:solidFill>
                  <a:srgbClr val="85103F"/>
                </a:solidFill>
              </a:rPr>
              <a:t>OBJECTIVES</a:t>
            </a:r>
            <a:endParaRPr lang="en-US" altLang="en-US" sz="540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3E314-32EC-AD45-BE0D-9858F7DAC675}"/>
              </a:ext>
            </a:extLst>
          </p:cNvPr>
          <p:cNvSpPr txBox="1">
            <a:spLocks noChangeArrowheads="1"/>
          </p:cNvSpPr>
          <p:nvPr/>
        </p:nvSpPr>
        <p:spPr>
          <a:xfrm>
            <a:off x="297951" y="1600200"/>
            <a:ext cx="1170226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/>
              <a:t>Recognize the value of </a:t>
            </a:r>
            <a:r>
              <a:rPr lang="en-US" altLang="en-US" sz="3200">
                <a:solidFill>
                  <a:srgbClr val="FF0000"/>
                </a:solidFill>
              </a:rPr>
              <a:t>unobtrusive</a:t>
            </a:r>
            <a:r>
              <a:rPr lang="en-US" altLang="en-US" sz="3200"/>
              <a:t> methods for information gathering.</a:t>
            </a:r>
          </a:p>
          <a:p>
            <a:pPr eaLnBrk="1" hangingPunct="1"/>
            <a:r>
              <a:rPr lang="en-US" altLang="en-US" sz="3200"/>
              <a:t>Understand the concept of </a:t>
            </a:r>
            <a:r>
              <a:rPr lang="en-US" altLang="en-US" sz="3200">
                <a:solidFill>
                  <a:srgbClr val="FF0000"/>
                </a:solidFill>
              </a:rPr>
              <a:t>sampling</a:t>
            </a:r>
            <a:r>
              <a:rPr lang="en-US" altLang="en-US" sz="3200"/>
              <a:t> for human information requirements analysis.</a:t>
            </a:r>
          </a:p>
          <a:p>
            <a:pPr eaLnBrk="1" hangingPunct="1"/>
            <a:r>
              <a:rPr lang="en-US" altLang="en-US" sz="3200">
                <a:solidFill>
                  <a:srgbClr val="FF0000"/>
                </a:solidFill>
              </a:rPr>
              <a:t>Construct</a:t>
            </a:r>
            <a:r>
              <a:rPr lang="en-US" altLang="en-US" sz="3200"/>
              <a:t> useful samples of people, documents, and events for determining human information requirements.</a:t>
            </a:r>
          </a:p>
          <a:p>
            <a:pPr eaLnBrk="1" hangingPunct="1"/>
            <a:r>
              <a:rPr lang="en-US" altLang="en-US" sz="3200"/>
              <a:t>Create an analyst</a:t>
            </a:r>
            <a:r>
              <a:rPr lang="ja-JP" altLang="en-US" sz="3200"/>
              <a:t>’</a:t>
            </a:r>
            <a:r>
              <a:rPr lang="en-US" altLang="ja-JP" sz="3200"/>
              <a:t>s playscript to </a:t>
            </a:r>
            <a:r>
              <a:rPr lang="en-US" altLang="ja-JP" sz="3200">
                <a:solidFill>
                  <a:srgbClr val="FF0000"/>
                </a:solidFill>
              </a:rPr>
              <a:t>observe</a:t>
            </a:r>
            <a:r>
              <a:rPr lang="en-US" altLang="ja-JP" sz="3200"/>
              <a:t> decision-maker activities.</a:t>
            </a:r>
          </a:p>
          <a:p>
            <a:pPr eaLnBrk="1" hangingPunct="1"/>
            <a:r>
              <a:rPr lang="en-US" altLang="en-US" sz="3200"/>
              <a:t>Apply the </a:t>
            </a:r>
            <a:r>
              <a:rPr lang="en-US" altLang="en-US" sz="3200">
                <a:solidFill>
                  <a:srgbClr val="FF0000"/>
                </a:solidFill>
              </a:rPr>
              <a:t>STROBE </a:t>
            </a:r>
            <a:r>
              <a:rPr lang="en-US" altLang="en-US" sz="3200"/>
              <a:t>technique to observe and interpret the decision-maker</a:t>
            </a:r>
            <a:r>
              <a:rPr lang="ja-JP" altLang="en-US" sz="3200"/>
              <a:t>’</a:t>
            </a:r>
            <a:r>
              <a:rPr lang="en-US" altLang="ja-JP" sz="3200"/>
              <a:t>s environment.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736B481-6407-2D47-BF72-80C50FC06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WHAT IS UNOBTRUSIVE METHOD?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63B5AB-492A-C740-84F5-DF885F2A7816}"/>
              </a:ext>
            </a:extLst>
          </p:cNvPr>
          <p:cNvSpPr txBox="1">
            <a:spLocks noChangeArrowheads="1"/>
          </p:cNvSpPr>
          <p:nvPr/>
        </p:nvSpPr>
        <p:spPr>
          <a:xfrm>
            <a:off x="2979506" y="1420438"/>
            <a:ext cx="8948791" cy="296545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Less disruptive</a:t>
            </a:r>
          </a:p>
          <a:p>
            <a:pPr eaLnBrk="1" hangingPunct="1"/>
            <a:r>
              <a:rPr lang="en-US" altLang="en-US" sz="3600" dirty="0"/>
              <a:t>Insufficient when used alone</a:t>
            </a:r>
          </a:p>
          <a:p>
            <a:pPr eaLnBrk="1" hangingPunct="1"/>
            <a:r>
              <a:rPr lang="en-US" altLang="en-US" sz="3600" dirty="0"/>
              <a:t>Multiple methods approach</a:t>
            </a:r>
          </a:p>
          <a:p>
            <a:pPr eaLnBrk="1" hangingPunct="1"/>
            <a:r>
              <a:rPr lang="en-US" altLang="en-US" sz="3600" dirty="0"/>
              <a:t>Used in conjunction with interactive methods</a:t>
            </a:r>
          </a:p>
          <a:p>
            <a:pPr eaLnBrk="1" hangingPunct="1"/>
            <a:endParaRPr lang="en-US" altLang="en-US" sz="3600" dirty="0"/>
          </a:p>
        </p:txBody>
      </p:sp>
      <p:pic>
        <p:nvPicPr>
          <p:cNvPr id="6" name="Picture 5" descr="descriptio...">
            <a:extLst>
              <a:ext uri="{FF2B5EF4-FFF2-40B4-BE49-F238E27FC236}">
                <a16:creationId xmlns:a16="http://schemas.microsoft.com/office/drawing/2014/main" id="{C63BD6D3-2227-574B-A0D6-A5D5ECC12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813" y="4628776"/>
            <a:ext cx="13620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CBD025-D2DF-2941-8E71-D16909E65304}"/>
              </a:ext>
            </a:extLst>
          </p:cNvPr>
          <p:cNvSpPr/>
          <p:nvPr/>
        </p:nvSpPr>
        <p:spPr>
          <a:xfrm>
            <a:off x="3810000" y="4385888"/>
            <a:ext cx="4572000" cy="132873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/>
              <a:t>Requirements discovery</a:t>
            </a:r>
            <a:r>
              <a:rPr lang="en-US"/>
              <a:t> – the process, used by systems analysts of identifying or extracting system problems and solution requirements from the user community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EB445F-7E09-2043-B75D-87E0F8A71D31}"/>
              </a:ext>
            </a:extLst>
          </p:cNvPr>
          <p:cNvSpPr/>
          <p:nvPr/>
        </p:nvSpPr>
        <p:spPr>
          <a:xfrm>
            <a:off x="371475" y="1855413"/>
            <a:ext cx="2411413" cy="2532063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Fact-finding</a:t>
            </a:r>
            <a:r>
              <a:rPr lang="en-US" dirty="0"/>
              <a:t> – the process of collecting information about system problems, opportunities, solution requirements, and priorities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57F213D-0E76-1F41-A6B5-9D47F046259C}"/>
              </a:ext>
            </a:extLst>
          </p:cNvPr>
          <p:cNvCxnSpPr>
            <a:endCxn id="7" idx="1"/>
          </p:cNvCxnSpPr>
          <p:nvPr/>
        </p:nvCxnSpPr>
        <p:spPr>
          <a:xfrm flipV="1">
            <a:off x="2782888" y="5051051"/>
            <a:ext cx="1027112" cy="33972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10F9010-6CAD-9B4D-A816-02CFC97C452E}"/>
              </a:ext>
            </a:extLst>
          </p:cNvPr>
          <p:cNvCxnSpPr>
            <a:endCxn id="8" idx="2"/>
          </p:cNvCxnSpPr>
          <p:nvPr/>
        </p:nvCxnSpPr>
        <p:spPr>
          <a:xfrm rot="10800000" flipH="1">
            <a:off x="1420813" y="4387476"/>
            <a:ext cx="155575" cy="1003300"/>
          </a:xfrm>
          <a:prstGeom prst="bentConnector4">
            <a:avLst>
              <a:gd name="adj1" fmla="val -146356"/>
              <a:gd name="adj2" fmla="val 8797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11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374067"/>
              </p:ext>
            </p:extLst>
          </p:nvPr>
        </p:nvGraphicFramePr>
        <p:xfrm>
          <a:off x="427038" y="1568450"/>
          <a:ext cx="11398250" cy="463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609780"/>
              </p:ext>
            </p:extLst>
          </p:nvPr>
        </p:nvGraphicFramePr>
        <p:xfrm>
          <a:off x="366712" y="1743111"/>
          <a:ext cx="11398250" cy="3712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UNOBSTRUSIVE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0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863AAC8-0636-7940-A244-01D8F1D12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7247447"/>
              </p:ext>
            </p:extLst>
          </p:nvPr>
        </p:nvGraphicFramePr>
        <p:xfrm>
          <a:off x="714714" y="751344"/>
          <a:ext cx="9637159" cy="535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34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">
            <a:extLst>
              <a:ext uri="{FF2B5EF4-FFF2-40B4-BE49-F238E27FC236}">
                <a16:creationId xmlns:a16="http://schemas.microsoft.com/office/drawing/2014/main" id="{7255BE85-2858-5F4D-94E5-45C675D1C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617" y="1782763"/>
            <a:ext cx="10518649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type of errors (percentage), </a:t>
            </a:r>
            <a:r>
              <a:rPr lang="en-US" altLang="en-US" sz="2400" i="1" dirty="0"/>
              <a:t>p</a:t>
            </a: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acceptable interval estimate, </a:t>
            </a:r>
            <a:r>
              <a:rPr lang="en-US" altLang="en-US" sz="2400" i="1" dirty="0" err="1"/>
              <a:t>i</a:t>
            </a:r>
            <a:endParaRPr lang="en-US" altLang="en-US" sz="2400" i="1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Choose confidence level and look up the confidence coefficient (</a:t>
            </a:r>
            <a:r>
              <a:rPr lang="en-US" altLang="en-US" sz="2400" i="1" dirty="0"/>
              <a:t>z </a:t>
            </a:r>
            <a:r>
              <a:rPr lang="en-US" altLang="en-US" sz="2400" dirty="0"/>
              <a:t>value) in table</a:t>
            </a: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Calculate σ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the standard error of the proportion</a:t>
            </a:r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sample size</a:t>
            </a:r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986C19E8-EA51-D04E-ABCF-671F5701C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4859070"/>
            <a:ext cx="203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A640A1E7-4F67-5D45-8B27-008069583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3270220"/>
            <a:ext cx="9906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CE7107-3292-B148-B95C-3F594C1A9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– sample size decision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Box 5">
            <a:extLst>
              <a:ext uri="{FF2B5EF4-FFF2-40B4-BE49-F238E27FC236}">
                <a16:creationId xmlns:a16="http://schemas.microsoft.com/office/drawing/2014/main" id="{ED04DA31-F79A-3D49-AA77-E9CD524EA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1671191"/>
            <a:ext cx="1025419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800" dirty="0"/>
              <a:t>EXAMPLE:</a:t>
            </a:r>
          </a:p>
          <a:p>
            <a:pPr algn="just" eaLnBrk="1" hangingPunct="1"/>
            <a:r>
              <a:rPr lang="en-US" altLang="en-US" sz="2800" dirty="0"/>
              <a:t>Suppose the Toys company, a large manufacturer company for producing toys ask you to determine an estimate size of toys that may have been </a:t>
            </a:r>
            <a:r>
              <a:rPr lang="en-US" altLang="en-US" sz="2800" dirty="0">
                <a:solidFill>
                  <a:srgbClr val="FF0000"/>
                </a:solidFill>
              </a:rPr>
              <a:t>broken</a:t>
            </a:r>
            <a:r>
              <a:rPr lang="en-US" altLang="en-US" sz="2800" dirty="0"/>
              <a:t> during packaging process. </a:t>
            </a:r>
          </a:p>
          <a:p>
            <a:pPr algn="just" eaLnBrk="1" hangingPunct="1"/>
            <a:endParaRPr lang="en-US" altLang="en-US" sz="2800" dirty="0"/>
          </a:p>
          <a:p>
            <a:pPr algn="just" eaLnBrk="1" hangingPunct="1"/>
            <a:r>
              <a:rPr lang="en-US" altLang="en-US" sz="2800" dirty="0"/>
              <a:t>Assume that, the estimation of broken (error) toys is </a:t>
            </a:r>
            <a:r>
              <a:rPr lang="en-US" altLang="en-US" sz="2800" dirty="0">
                <a:solidFill>
                  <a:srgbClr val="FF0000"/>
                </a:solidFill>
              </a:rPr>
              <a:t>5% </a:t>
            </a:r>
            <a:r>
              <a:rPr lang="en-US" altLang="en-US" sz="2800" dirty="0"/>
              <a:t>with interval estimate will be </a:t>
            </a:r>
            <a:r>
              <a:rPr lang="en-US" altLang="en-US" sz="2800" dirty="0">
                <a:solidFill>
                  <a:srgbClr val="FF0000"/>
                </a:solidFill>
              </a:rPr>
              <a:t>0.02</a:t>
            </a:r>
            <a:r>
              <a:rPr lang="en-US" altLang="en-US" sz="2800" dirty="0"/>
              <a:t> and confidence level is </a:t>
            </a:r>
            <a:r>
              <a:rPr lang="en-US" altLang="en-US" sz="2800" dirty="0">
                <a:solidFill>
                  <a:srgbClr val="FF0000"/>
                </a:solidFill>
              </a:rPr>
              <a:t>95%.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98EBB3-BCE1-2C46-8661-A052D2BF5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– sample size decision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62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3">
            <a:extLst>
              <a:ext uri="{FF2B5EF4-FFF2-40B4-BE49-F238E27FC236}">
                <a16:creationId xmlns:a16="http://schemas.microsoft.com/office/drawing/2014/main" id="{A38897F6-263C-0D45-9D0A-F14B22250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449" y="1484313"/>
            <a:ext cx="1018169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type of errors (percentage), </a:t>
            </a:r>
            <a:r>
              <a:rPr lang="en-US" altLang="en-US" sz="2400" i="1" dirty="0"/>
              <a:t>p – </a:t>
            </a:r>
            <a:r>
              <a:rPr lang="en-US" altLang="en-US" sz="2400" i="1" dirty="0">
                <a:solidFill>
                  <a:srgbClr val="0000FF"/>
                </a:solidFill>
              </a:rPr>
              <a:t>5% or 0.05</a:t>
            </a: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acceptable interval estimate, </a:t>
            </a:r>
            <a:r>
              <a:rPr lang="en-US" altLang="en-US" sz="2400" i="1" dirty="0" err="1"/>
              <a:t>i</a:t>
            </a:r>
            <a:r>
              <a:rPr lang="en-US" altLang="en-US" sz="2400" i="1" dirty="0"/>
              <a:t> </a:t>
            </a:r>
            <a:r>
              <a:rPr lang="en-US" altLang="en-US" sz="2400" i="1" dirty="0">
                <a:solidFill>
                  <a:srgbClr val="0000FF"/>
                </a:solidFill>
              </a:rPr>
              <a:t>– 0.02</a:t>
            </a: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Choose confidence level and look up the confidence coefficient (</a:t>
            </a:r>
            <a:r>
              <a:rPr lang="en-US" altLang="en-US" sz="2400" i="1" dirty="0"/>
              <a:t>z </a:t>
            </a:r>
            <a:r>
              <a:rPr lang="en-US" altLang="en-US" sz="2400" dirty="0"/>
              <a:t>value) in table – </a:t>
            </a:r>
            <a:r>
              <a:rPr lang="en-US" altLang="en-US" sz="2400" dirty="0">
                <a:solidFill>
                  <a:srgbClr val="0000FF"/>
                </a:solidFill>
              </a:rPr>
              <a:t>95%</a:t>
            </a:r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Or </a:t>
            </a:r>
            <a:r>
              <a:rPr lang="en-US" altLang="en-US" sz="2400" dirty="0">
                <a:solidFill>
                  <a:srgbClr val="0000FF"/>
                </a:solidFill>
              </a:rPr>
              <a:t>0.95</a:t>
            </a:r>
            <a:r>
              <a:rPr lang="en-US" altLang="en-US" sz="2400" dirty="0"/>
              <a:t> and </a:t>
            </a:r>
            <a:r>
              <a:rPr lang="en-US" altLang="en-US" sz="2400" i="1" dirty="0">
                <a:solidFill>
                  <a:srgbClr val="0000FF"/>
                </a:solidFill>
              </a:rPr>
              <a:t>z = 1.96 </a:t>
            </a:r>
            <a:r>
              <a:rPr lang="en-US" altLang="en-US" sz="2400" i="1" dirty="0"/>
              <a:t>(lookup table)</a:t>
            </a: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Calculate </a:t>
            </a:r>
            <a:r>
              <a:rPr lang="en-US" altLang="en-US" sz="2400" dirty="0" err="1"/>
              <a:t>σ</a:t>
            </a:r>
            <a:r>
              <a:rPr lang="en-US" altLang="en-US" sz="2400" baseline="-25000" dirty="0" err="1"/>
              <a:t>p</a:t>
            </a:r>
            <a:r>
              <a:rPr lang="en-US" altLang="en-US" sz="2400" dirty="0"/>
              <a:t> the standard error of the proportion</a:t>
            </a:r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endParaRPr lang="en-US" altLang="en-US" sz="2400" dirty="0"/>
          </a:p>
          <a:p>
            <a:pPr eaLnBrk="1" hangingPunct="1">
              <a:buFontTx/>
              <a:buAutoNum type="arabicPeriod"/>
            </a:pPr>
            <a:r>
              <a:rPr lang="en-US" altLang="en-US" sz="2400" dirty="0"/>
              <a:t>Determine sample size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16059E37-B9AB-7745-89FB-A8310EB1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030" y="3912216"/>
            <a:ext cx="23114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5">
            <a:extLst>
              <a:ext uri="{FF2B5EF4-FFF2-40B4-BE49-F238E27FC236}">
                <a16:creationId xmlns:a16="http://schemas.microsoft.com/office/drawing/2014/main" id="{C235C60B-7031-ED47-A2DE-9AC7AF962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979" y="5567505"/>
            <a:ext cx="5397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F05FA5-EE29-A74F-BB8F-98F8F434E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– sample size decision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08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576717-B8EA-2D42-BF76-98FC75631A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02160" y="1652000"/>
            <a:ext cx="7850419" cy="1143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Four Main Types of Samples the Analyst Has Available</a:t>
            </a:r>
            <a:endParaRPr lang="en-US" altLang="en-US" sz="2800" dirty="0"/>
          </a:p>
        </p:txBody>
      </p:sp>
      <p:pic>
        <p:nvPicPr>
          <p:cNvPr id="11267" name="Picture 10">
            <a:extLst>
              <a:ext uri="{FF2B5EF4-FFF2-40B4-BE49-F238E27FC236}">
                <a16:creationId xmlns:a16="http://schemas.microsoft.com/office/drawing/2014/main" id="{B049D35A-1D5B-D246-BA5D-9725E3BE8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21" y="2223500"/>
            <a:ext cx="762000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TYPES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1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SAMPLING TYPES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B1AE81-C102-8448-8F81-231C1E238CE5}"/>
              </a:ext>
            </a:extLst>
          </p:cNvPr>
          <p:cNvGrpSpPr/>
          <p:nvPr/>
        </p:nvGrpSpPr>
        <p:grpSpPr>
          <a:xfrm>
            <a:off x="427037" y="1568449"/>
            <a:ext cx="11337925" cy="4873447"/>
            <a:chOff x="427037" y="1568449"/>
            <a:chExt cx="10515601" cy="487344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BB4E054-C120-6741-9A35-66A495A2A345}"/>
                </a:ext>
              </a:extLst>
            </p:cNvPr>
            <p:cNvSpPr/>
            <p:nvPr/>
          </p:nvSpPr>
          <p:spPr>
            <a:xfrm rot="21600000">
              <a:off x="427037" y="1568449"/>
              <a:ext cx="5257801" cy="2436724"/>
            </a:xfrm>
            <a:custGeom>
              <a:avLst/>
              <a:gdLst>
                <a:gd name="connsiteX0" fmla="*/ 0 w 2436723"/>
                <a:gd name="connsiteY0" fmla="*/ 0 h 5257800"/>
                <a:gd name="connsiteX1" fmla="*/ 2030594 w 2436723"/>
                <a:gd name="connsiteY1" fmla="*/ 0 h 5257800"/>
                <a:gd name="connsiteX2" fmla="*/ 2436723 w 2436723"/>
                <a:gd name="connsiteY2" fmla="*/ 406129 h 5257800"/>
                <a:gd name="connsiteX3" fmla="*/ 2436723 w 2436723"/>
                <a:gd name="connsiteY3" fmla="*/ 5257800 h 5257800"/>
                <a:gd name="connsiteX4" fmla="*/ 0 w 2436723"/>
                <a:gd name="connsiteY4" fmla="*/ 5257800 h 5257800"/>
                <a:gd name="connsiteX5" fmla="*/ 0 w 2436723"/>
                <a:gd name="connsiteY5" fmla="*/ 0 h 525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6723" h="5257800">
                  <a:moveTo>
                    <a:pt x="0" y="5257799"/>
                  </a:moveTo>
                  <a:lnTo>
                    <a:pt x="0" y="876319"/>
                  </a:lnTo>
                  <a:cubicBezTo>
                    <a:pt x="0" y="392342"/>
                    <a:pt x="84269" y="1"/>
                    <a:pt x="188220" y="1"/>
                  </a:cubicBezTo>
                  <a:lnTo>
                    <a:pt x="2436723" y="1"/>
                  </a:lnTo>
                  <a:lnTo>
                    <a:pt x="2436723" y="5257799"/>
                  </a:lnTo>
                  <a:lnTo>
                    <a:pt x="0" y="5257799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7" rIns="199137" bIns="808317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b="1" kern="1200" dirty="0"/>
                <a:t>CONVENIENCE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This sample is easy to arrange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The most unreliable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4848D73-8C21-AD48-9294-C383E9B2D064}"/>
                </a:ext>
              </a:extLst>
            </p:cNvPr>
            <p:cNvSpPr/>
            <p:nvPr/>
          </p:nvSpPr>
          <p:spPr>
            <a:xfrm>
              <a:off x="5684838" y="1568449"/>
              <a:ext cx="5257800" cy="2436723"/>
            </a:xfrm>
            <a:custGeom>
              <a:avLst/>
              <a:gdLst>
                <a:gd name="connsiteX0" fmla="*/ 0 w 5257800"/>
                <a:gd name="connsiteY0" fmla="*/ 0 h 2436723"/>
                <a:gd name="connsiteX1" fmla="*/ 4851671 w 5257800"/>
                <a:gd name="connsiteY1" fmla="*/ 0 h 2436723"/>
                <a:gd name="connsiteX2" fmla="*/ 5257800 w 5257800"/>
                <a:gd name="connsiteY2" fmla="*/ 406129 h 2436723"/>
                <a:gd name="connsiteX3" fmla="*/ 5257800 w 5257800"/>
                <a:gd name="connsiteY3" fmla="*/ 2436723 h 2436723"/>
                <a:gd name="connsiteX4" fmla="*/ 0 w 5257800"/>
                <a:gd name="connsiteY4" fmla="*/ 2436723 h 2436723"/>
                <a:gd name="connsiteX5" fmla="*/ 0 w 5257800"/>
                <a:gd name="connsiteY5" fmla="*/ 0 h 2436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7800" h="2436723">
                  <a:moveTo>
                    <a:pt x="0" y="0"/>
                  </a:moveTo>
                  <a:lnTo>
                    <a:pt x="4851671" y="0"/>
                  </a:lnTo>
                  <a:cubicBezTo>
                    <a:pt x="5075970" y="0"/>
                    <a:pt x="5257800" y="181830"/>
                    <a:pt x="5257800" y="406129"/>
                  </a:cubicBezTo>
                  <a:lnTo>
                    <a:pt x="5257800" y="2436723"/>
                  </a:lnTo>
                  <a:lnTo>
                    <a:pt x="0" y="24367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5121"/>
                <a:satOff val="-27976"/>
                <a:lumOff val="2876"/>
                <a:alphaOff val="0"/>
              </a:schemeClr>
            </a:fillRef>
            <a:effectRef idx="0">
              <a:schemeClr val="accent2">
                <a:hueOff val="-485121"/>
                <a:satOff val="-27976"/>
                <a:lumOff val="28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6" rIns="199136" bIns="808317" numCol="1" spcCol="1270" anchor="t" anchorCtr="0">
              <a:noAutofit/>
            </a:bodyPr>
            <a:lstStyle/>
            <a:p>
              <a:pPr marL="0" lvl="0" indent="0" algn="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b="1" kern="1200" dirty="0"/>
                <a:t>SIMPLE RANDOM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2000" dirty="0"/>
                <a:t>Need to obtain a numbered list of population to ensure that each document or people in the population has equal chance of being selected.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2000" kern="1200" dirty="0"/>
                <a:t>However this is not practical for sampling document or reports.</a:t>
              </a: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17FEF3D-DCDE-7F4A-A293-2CA958C0B861}"/>
                </a:ext>
              </a:extLst>
            </p:cNvPr>
            <p:cNvSpPr/>
            <p:nvPr/>
          </p:nvSpPr>
          <p:spPr>
            <a:xfrm rot="21600000">
              <a:off x="427038" y="4005171"/>
              <a:ext cx="5257801" cy="2436724"/>
            </a:xfrm>
            <a:custGeom>
              <a:avLst/>
              <a:gdLst>
                <a:gd name="connsiteX0" fmla="*/ 0 w 5257800"/>
                <a:gd name="connsiteY0" fmla="*/ 0 h 2436723"/>
                <a:gd name="connsiteX1" fmla="*/ 4851671 w 5257800"/>
                <a:gd name="connsiteY1" fmla="*/ 0 h 2436723"/>
                <a:gd name="connsiteX2" fmla="*/ 5257800 w 5257800"/>
                <a:gd name="connsiteY2" fmla="*/ 406129 h 2436723"/>
                <a:gd name="connsiteX3" fmla="*/ 5257800 w 5257800"/>
                <a:gd name="connsiteY3" fmla="*/ 2436723 h 2436723"/>
                <a:gd name="connsiteX4" fmla="*/ 0 w 5257800"/>
                <a:gd name="connsiteY4" fmla="*/ 2436723 h 2436723"/>
                <a:gd name="connsiteX5" fmla="*/ 0 w 5257800"/>
                <a:gd name="connsiteY5" fmla="*/ 0 h 2436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7800" h="2436723">
                  <a:moveTo>
                    <a:pt x="5257800" y="2436723"/>
                  </a:moveTo>
                  <a:lnTo>
                    <a:pt x="406129" y="2436723"/>
                  </a:lnTo>
                  <a:cubicBezTo>
                    <a:pt x="181830" y="2436723"/>
                    <a:pt x="0" y="2254893"/>
                    <a:pt x="0" y="2030594"/>
                  </a:cubicBezTo>
                  <a:lnTo>
                    <a:pt x="0" y="0"/>
                  </a:lnTo>
                  <a:lnTo>
                    <a:pt x="5257800" y="0"/>
                  </a:lnTo>
                  <a:lnTo>
                    <a:pt x="5257800" y="243672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70242"/>
                <a:satOff val="-55952"/>
                <a:lumOff val="5752"/>
                <a:alphaOff val="0"/>
              </a:schemeClr>
            </a:fillRef>
            <a:effectRef idx="0">
              <a:schemeClr val="accent2">
                <a:hueOff val="-970242"/>
                <a:satOff val="-55952"/>
                <a:lumOff val="57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5" tIns="216000" rIns="199137" bIns="199135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GB" sz="2800" b="1" kern="1200" dirty="0"/>
                <a:t>PURPOSIVE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A purposive sample is based on judgment</a:t>
              </a:r>
              <a:endParaRPr lang="en-GB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Choose a group of individuals who appear knowledgeable and are interested in the new information system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bg1"/>
                  </a:solidFill>
                </a:rPr>
                <a:t>Only moderately reliable</a:t>
              </a:r>
              <a:endParaRPr lang="en-US" sz="2000" kern="120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4155031-4EBB-1445-814B-202C36E0422F}"/>
                </a:ext>
              </a:extLst>
            </p:cNvPr>
            <p:cNvSpPr/>
            <p:nvPr/>
          </p:nvSpPr>
          <p:spPr>
            <a:xfrm>
              <a:off x="5684837" y="4005172"/>
              <a:ext cx="5257801" cy="2436724"/>
            </a:xfrm>
            <a:custGeom>
              <a:avLst/>
              <a:gdLst>
                <a:gd name="connsiteX0" fmla="*/ 0 w 2436723"/>
                <a:gd name="connsiteY0" fmla="*/ 0 h 5257800"/>
                <a:gd name="connsiteX1" fmla="*/ 2030594 w 2436723"/>
                <a:gd name="connsiteY1" fmla="*/ 0 h 5257800"/>
                <a:gd name="connsiteX2" fmla="*/ 2436723 w 2436723"/>
                <a:gd name="connsiteY2" fmla="*/ 406129 h 5257800"/>
                <a:gd name="connsiteX3" fmla="*/ 2436723 w 2436723"/>
                <a:gd name="connsiteY3" fmla="*/ 5257800 h 5257800"/>
                <a:gd name="connsiteX4" fmla="*/ 0 w 2436723"/>
                <a:gd name="connsiteY4" fmla="*/ 5257800 h 5257800"/>
                <a:gd name="connsiteX5" fmla="*/ 0 w 2436723"/>
                <a:gd name="connsiteY5" fmla="*/ 0 h 525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6723" h="5257800">
                  <a:moveTo>
                    <a:pt x="2436723" y="1"/>
                  </a:moveTo>
                  <a:lnTo>
                    <a:pt x="2436723" y="4381481"/>
                  </a:lnTo>
                  <a:cubicBezTo>
                    <a:pt x="2436723" y="4865458"/>
                    <a:pt x="2352454" y="5257799"/>
                    <a:pt x="2248503" y="5257799"/>
                  </a:cubicBezTo>
                  <a:lnTo>
                    <a:pt x="0" y="5257799"/>
                  </a:lnTo>
                  <a:lnTo>
                    <a:pt x="0" y="1"/>
                  </a:lnTo>
                  <a:lnTo>
                    <a:pt x="2436723" y="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216000" rIns="199137" bIns="199137" numCol="1" spcCol="1270" anchor="t" anchorCtr="0">
              <a:noAutofit/>
            </a:bodyPr>
            <a:lstStyle/>
            <a:p>
              <a:pPr marL="0" lvl="0" indent="0" algn="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b="1" kern="1200" dirty="0"/>
                <a:t>COMPLEX RANDOM</a:t>
              </a:r>
            </a:p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The complex random samples that are most appropriate for a systems analyst are:</a:t>
              </a:r>
            </a:p>
            <a:p>
              <a:pPr lvl="1"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Systematic sampling</a:t>
              </a:r>
            </a:p>
            <a:p>
              <a:pPr lvl="1"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Stratified sampling</a:t>
              </a:r>
            </a:p>
            <a:p>
              <a:pPr lvl="1"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Cluster sampling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GB" sz="2000" kern="120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32292B5-B2C2-0D42-A843-FE8FC24EAB43}"/>
                </a:ext>
              </a:extLst>
            </p:cNvPr>
            <p:cNvSpPr/>
            <p:nvPr/>
          </p:nvSpPr>
          <p:spPr>
            <a:xfrm>
              <a:off x="4356244" y="3695194"/>
              <a:ext cx="2657186" cy="681600"/>
            </a:xfrm>
            <a:custGeom>
              <a:avLst/>
              <a:gdLst>
                <a:gd name="connsiteX0" fmla="*/ 0 w 2657186"/>
                <a:gd name="connsiteY0" fmla="*/ 113602 h 681600"/>
                <a:gd name="connsiteX1" fmla="*/ 113602 w 2657186"/>
                <a:gd name="connsiteY1" fmla="*/ 0 h 681600"/>
                <a:gd name="connsiteX2" fmla="*/ 2543584 w 2657186"/>
                <a:gd name="connsiteY2" fmla="*/ 0 h 681600"/>
                <a:gd name="connsiteX3" fmla="*/ 2657186 w 2657186"/>
                <a:gd name="connsiteY3" fmla="*/ 113602 h 681600"/>
                <a:gd name="connsiteX4" fmla="*/ 2657186 w 2657186"/>
                <a:gd name="connsiteY4" fmla="*/ 567998 h 681600"/>
                <a:gd name="connsiteX5" fmla="*/ 2543584 w 2657186"/>
                <a:gd name="connsiteY5" fmla="*/ 681600 h 681600"/>
                <a:gd name="connsiteX6" fmla="*/ 113602 w 2657186"/>
                <a:gd name="connsiteY6" fmla="*/ 681600 h 681600"/>
                <a:gd name="connsiteX7" fmla="*/ 0 w 2657186"/>
                <a:gd name="connsiteY7" fmla="*/ 567998 h 681600"/>
                <a:gd name="connsiteX8" fmla="*/ 0 w 2657186"/>
                <a:gd name="connsiteY8" fmla="*/ 113602 h 6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7186" h="681600">
                  <a:moveTo>
                    <a:pt x="0" y="113602"/>
                  </a:moveTo>
                  <a:cubicBezTo>
                    <a:pt x="0" y="50861"/>
                    <a:pt x="50861" y="0"/>
                    <a:pt x="113602" y="0"/>
                  </a:cubicBezTo>
                  <a:lnTo>
                    <a:pt x="2543584" y="0"/>
                  </a:lnTo>
                  <a:cubicBezTo>
                    <a:pt x="2606325" y="0"/>
                    <a:pt x="2657186" y="50861"/>
                    <a:pt x="2657186" y="113602"/>
                  </a:cubicBezTo>
                  <a:lnTo>
                    <a:pt x="2657186" y="567998"/>
                  </a:lnTo>
                  <a:cubicBezTo>
                    <a:pt x="2657186" y="630739"/>
                    <a:pt x="2606325" y="681600"/>
                    <a:pt x="2543584" y="681600"/>
                  </a:cubicBezTo>
                  <a:lnTo>
                    <a:pt x="113602" y="681600"/>
                  </a:lnTo>
                  <a:cubicBezTo>
                    <a:pt x="50861" y="681600"/>
                    <a:pt x="0" y="630739"/>
                    <a:pt x="0" y="567998"/>
                  </a:cubicBezTo>
                  <a:lnTo>
                    <a:pt x="0" y="11360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953" tIns="139953" rIns="139953" bIns="139953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kern="1200" dirty="0"/>
                <a:t>SAMPLE 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638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247952"/>
              </p:ext>
            </p:extLst>
          </p:nvPr>
        </p:nvGraphicFramePr>
        <p:xfrm>
          <a:off x="396875" y="1897038"/>
          <a:ext cx="11398250" cy="3548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UNOBSTRUSIVE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606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INVESTIGATION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EF14871-5BBB-3349-999C-189277AC2F6B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493035"/>
            <a:ext cx="1141906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The act of discovery and analysis of data</a:t>
            </a:r>
          </a:p>
          <a:p>
            <a:pPr eaLnBrk="1" hangingPunct="1"/>
            <a:r>
              <a:rPr lang="en-US" altLang="en-US" sz="3600" dirty="0"/>
              <a:t>As IS analysts works to understand users, organizations and information requirements, it will become important to examine different type of hard data</a:t>
            </a:r>
          </a:p>
          <a:p>
            <a:pPr eaLnBrk="1" hangingPunct="1"/>
            <a:r>
              <a:rPr lang="en-US" altLang="en-US" sz="3600" dirty="0"/>
              <a:t>Hard data</a:t>
            </a:r>
          </a:p>
          <a:p>
            <a:pPr lvl="1" eaLnBrk="1" hangingPunct="1"/>
            <a:r>
              <a:rPr lang="en-US" altLang="en-US" sz="3200" dirty="0"/>
              <a:t>Quantitative</a:t>
            </a:r>
          </a:p>
          <a:p>
            <a:pPr lvl="1" eaLnBrk="1" hangingPunct="1"/>
            <a:r>
              <a:rPr lang="en-US" altLang="en-US" sz="3200" dirty="0"/>
              <a:t>Qualitative</a:t>
            </a:r>
          </a:p>
          <a:p>
            <a:pPr lvl="1" eaLnBrk="1" hangingPunct="1">
              <a:buFontTx/>
              <a:buNone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4275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CEFFE-A89B-1C4F-AEBC-A8A9A057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QUANTITATIVE DOCUMENTS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8DA41C-8A42-EB4D-BE07-BFAF07ECA42C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11439614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Analyzing quantitative documents</a:t>
            </a:r>
            <a:r>
              <a:rPr lang="en-US" altLang="en-US" sz="3600" dirty="0">
                <a:sym typeface="Wingdings" pitchFamily="2" charset="2"/>
              </a:rPr>
              <a:t> (example):</a:t>
            </a:r>
            <a:endParaRPr lang="en-US" altLang="en-US" sz="3600" dirty="0"/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Reports used for decision making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Performance reports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Records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Data capture forms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200" dirty="0"/>
              <a:t>Ecommerce and other transactions</a:t>
            </a:r>
          </a:p>
        </p:txBody>
      </p:sp>
    </p:spTree>
    <p:extLst>
      <p:ext uri="{BB962C8B-B14F-4D97-AF65-F5344CB8AC3E}">
        <p14:creationId xmlns:p14="http://schemas.microsoft.com/office/powerpoint/2010/main" val="284110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041E67-3CC6-3748-B277-57FD7AE70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QUANTITATIVE DOCUMENTS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07EAB67-D7A7-6747-9AA2-03585CD32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8" y="1493044"/>
            <a:ext cx="4575601" cy="41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49E7CF2-6254-784C-9BAC-53B6106E2DBA}"/>
              </a:ext>
            </a:extLst>
          </p:cNvPr>
          <p:cNvSpPr txBox="1">
            <a:spLocks noChangeArrowheads="1"/>
          </p:cNvSpPr>
          <p:nvPr/>
        </p:nvSpPr>
        <p:spPr>
          <a:xfrm>
            <a:off x="625311" y="5587019"/>
            <a:ext cx="4134688" cy="348804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 Performance Report Showing Improvement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E4FD5A5-7CDE-1248-B206-866E1CE8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798" y="1459709"/>
            <a:ext cx="3904840" cy="39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970FCD6-CE72-744C-BE8E-C55316BC2F0C}"/>
              </a:ext>
            </a:extLst>
          </p:cNvPr>
          <p:cNvSpPr txBox="1">
            <a:spLocks noChangeArrowheads="1"/>
          </p:cNvSpPr>
          <p:nvPr/>
        </p:nvSpPr>
        <p:spPr>
          <a:xfrm>
            <a:off x="6835249" y="5577262"/>
            <a:ext cx="4309937" cy="348804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 Manually Completed Payment Record</a:t>
            </a:r>
          </a:p>
        </p:txBody>
      </p:sp>
    </p:spTree>
    <p:extLst>
      <p:ext uri="{BB962C8B-B14F-4D97-AF65-F5344CB8AC3E}">
        <p14:creationId xmlns:p14="http://schemas.microsoft.com/office/powerpoint/2010/main" val="258308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9BEB9F63-E9A0-2A4C-9C6C-B3276ED0D915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23857"/>
            <a:ext cx="11532081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Records provide periodic updates of what is occurring in the business</a:t>
            </a:r>
          </a:p>
          <a:p>
            <a:pPr eaLnBrk="1" hangingPunct="1"/>
            <a:r>
              <a:rPr lang="en-US" altLang="en-US" sz="3600" dirty="0"/>
              <a:t>There are several ways to inspect a record:</a:t>
            </a:r>
          </a:p>
          <a:p>
            <a:pPr lvl="1" eaLnBrk="1" hangingPunct="1"/>
            <a:r>
              <a:rPr lang="en-US" altLang="en-US" sz="3200" dirty="0"/>
              <a:t>Checking for errors in amounts and totals</a:t>
            </a:r>
          </a:p>
          <a:p>
            <a:pPr lvl="1" eaLnBrk="1" hangingPunct="1"/>
            <a:r>
              <a:rPr lang="en-US" altLang="en-US" sz="3200" dirty="0"/>
              <a:t>Looking for opportunities for improving the recording form design</a:t>
            </a:r>
          </a:p>
          <a:p>
            <a:pPr lvl="1" eaLnBrk="1" hangingPunct="1"/>
            <a:r>
              <a:rPr lang="en-US" altLang="en-US" sz="3200" dirty="0"/>
              <a:t>Observing the number and type of transactions</a:t>
            </a:r>
          </a:p>
          <a:p>
            <a:pPr lvl="1" eaLnBrk="1" hangingPunct="1"/>
            <a:r>
              <a:rPr lang="en-US" altLang="en-US" sz="3200" dirty="0"/>
              <a:t>Watching for instances in which the computer can simplify the work (calculations and other data manipulation)</a:t>
            </a:r>
          </a:p>
          <a:p>
            <a:pPr eaLnBrk="1" hangingPunct="1"/>
            <a:endParaRPr lang="en-US" alt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360B8E-5C5A-834F-AB7D-D357D300D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627722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QUANTITATIVE DOCUMENTS - Record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295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4A090A-CE26-9541-850B-F891AECEE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QUANTITATIVE DOCUMENTS – Data Capture Form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8D24C5-2056-6F43-8651-66AA4BFAB0D1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2011167"/>
            <a:ext cx="656272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Collect examples of all the forms in use</a:t>
            </a:r>
          </a:p>
          <a:p>
            <a:pPr eaLnBrk="1" hangingPunct="1"/>
            <a:r>
              <a:rPr lang="en-US" altLang="en-US" sz="3200" dirty="0"/>
              <a:t>Note the type of form</a:t>
            </a:r>
          </a:p>
          <a:p>
            <a:pPr eaLnBrk="1" hangingPunct="1"/>
            <a:r>
              <a:rPr lang="en-US" altLang="en-US" sz="3200" dirty="0"/>
              <a:t>Document the intended distribution pattern</a:t>
            </a:r>
          </a:p>
          <a:p>
            <a:pPr eaLnBrk="1" hangingPunct="1"/>
            <a:r>
              <a:rPr lang="en-US" altLang="en-US" sz="3200" dirty="0"/>
              <a:t>Compare the intended distribution pattern with who actually receives the form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8928728-40A4-1949-A10C-8A2281451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349" y="1285455"/>
            <a:ext cx="4802651" cy="42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FB64651-4AB7-1A4D-BE8D-C635518FF9E6}"/>
              </a:ext>
            </a:extLst>
          </p:cNvPr>
          <p:cNvSpPr txBox="1">
            <a:spLocks noChangeArrowheads="1"/>
          </p:cNvSpPr>
          <p:nvPr/>
        </p:nvSpPr>
        <p:spPr>
          <a:xfrm>
            <a:off x="7263313" y="5572545"/>
            <a:ext cx="4802651" cy="531924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Questions to Ask about Official and Bootleg Forms that Are Already Filled out</a:t>
            </a:r>
          </a:p>
        </p:txBody>
      </p:sp>
    </p:spTree>
    <p:extLst>
      <p:ext uri="{BB962C8B-B14F-4D97-AF65-F5344CB8AC3E}">
        <p14:creationId xmlns:p14="http://schemas.microsoft.com/office/powerpoint/2010/main" val="3960137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3FE1AA-F71E-0B4F-86D9-7D795D3A9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QUANTITATIVE DOCUMENTS – Questions to ask?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BE8F60-888B-8849-97D5-9F80A78638AC}"/>
              </a:ext>
            </a:extLst>
          </p:cNvPr>
          <p:cNvSpPr txBox="1">
            <a:spLocks noChangeArrowheads="1"/>
          </p:cNvSpPr>
          <p:nvPr/>
        </p:nvSpPr>
        <p:spPr>
          <a:xfrm>
            <a:off x="562403" y="1939247"/>
            <a:ext cx="11417264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/>
              <a:t>Is the form filled out in its entirety?</a:t>
            </a:r>
          </a:p>
          <a:p>
            <a:pPr eaLnBrk="1" hangingPunct="1"/>
            <a:r>
              <a:rPr lang="en-US" altLang="en-US" dirty="0"/>
              <a:t>Are there forms that are never used?</a:t>
            </a:r>
          </a:p>
          <a:p>
            <a:pPr eaLnBrk="1" hangingPunct="1"/>
            <a:r>
              <a:rPr lang="en-US" altLang="en-US" dirty="0"/>
              <a:t>Are all copies of forms circulated to the proper people or filed appropriately?</a:t>
            </a:r>
          </a:p>
          <a:p>
            <a:pPr eaLnBrk="1" hangingPunct="1"/>
            <a:r>
              <a:rPr lang="en-US" altLang="en-US" dirty="0"/>
              <a:t>Can people who must access online forms do so?</a:t>
            </a:r>
          </a:p>
          <a:p>
            <a:pPr eaLnBrk="1" hangingPunct="1"/>
            <a:r>
              <a:rPr lang="en-US" altLang="en-US" dirty="0"/>
              <a:t>If there is a paper form that is offered as an alternative to a Web-based form, compare the completion rates for both</a:t>
            </a:r>
          </a:p>
          <a:p>
            <a:pPr eaLnBrk="1" hangingPunct="1"/>
            <a:r>
              <a:rPr lang="en-US" altLang="en-US" dirty="0"/>
              <a:t>Are </a:t>
            </a:r>
            <a:r>
              <a:rPr lang="ja-JP" altLang="en-US"/>
              <a:t>“</a:t>
            </a:r>
            <a:r>
              <a:rPr lang="en-US" altLang="ja-JP" dirty="0"/>
              <a:t>unofficial</a:t>
            </a:r>
            <a:r>
              <a:rPr lang="ja-JP" altLang="en-US"/>
              <a:t>”</a:t>
            </a:r>
            <a:r>
              <a:rPr lang="en-US" altLang="ja-JP" dirty="0"/>
              <a:t> forms being used on a regular basis?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8785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10DF2D-1829-C347-9B7C-32FA8B53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QUALITATIVE DOCUMENTS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0EBA41-0600-F545-AF00-69EA59C48B5A}"/>
              </a:ext>
            </a:extLst>
          </p:cNvPr>
          <p:cNvSpPr txBox="1">
            <a:spLocks noChangeArrowheads="1"/>
          </p:cNvSpPr>
          <p:nvPr/>
        </p:nvSpPr>
        <p:spPr>
          <a:xfrm>
            <a:off x="572678" y="1465708"/>
            <a:ext cx="6311007" cy="5068656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400" dirty="0"/>
              <a:t>Key or guiding metaphors</a:t>
            </a:r>
          </a:p>
          <a:p>
            <a:pPr eaLnBrk="1" hangingPunct="1"/>
            <a:r>
              <a:rPr lang="en-US" altLang="en-US" sz="2400" dirty="0"/>
              <a:t>Insiders vs. outsiders mentality</a:t>
            </a:r>
          </a:p>
          <a:p>
            <a:pPr eaLnBrk="1" hangingPunct="1"/>
            <a:r>
              <a:rPr lang="en-US" altLang="en-US" sz="2400" dirty="0"/>
              <a:t>What is considered good vs. evil</a:t>
            </a:r>
          </a:p>
          <a:p>
            <a:pPr eaLnBrk="1" hangingPunct="1"/>
            <a:r>
              <a:rPr lang="en-US" altLang="en-US" sz="2400" dirty="0"/>
              <a:t>Graphics, logos, and icons in common areas or web pages</a:t>
            </a:r>
          </a:p>
          <a:p>
            <a:pPr eaLnBrk="1" hangingPunct="1"/>
            <a:r>
              <a:rPr lang="en-US" altLang="en-US" sz="2400" dirty="0"/>
              <a:t>A sense of humor</a:t>
            </a:r>
          </a:p>
          <a:p>
            <a:pPr eaLnBrk="1" hangingPunct="1"/>
            <a:r>
              <a:rPr lang="en-US" altLang="en-US" sz="2400" dirty="0"/>
              <a:t>Example:</a:t>
            </a:r>
          </a:p>
          <a:p>
            <a:pPr lvl="1" eaLnBrk="1" hangingPunct="1"/>
            <a:r>
              <a:rPr lang="en-US" altLang="en-US" sz="2000" dirty="0"/>
              <a:t>Email messages and memos</a:t>
            </a:r>
          </a:p>
          <a:p>
            <a:pPr lvl="1" eaLnBrk="1" hangingPunct="1"/>
            <a:r>
              <a:rPr lang="en-US" altLang="en-US" sz="2000" dirty="0"/>
              <a:t>Signs or posters on bulletin boards</a:t>
            </a:r>
          </a:p>
          <a:p>
            <a:pPr lvl="1" eaLnBrk="1" hangingPunct="1"/>
            <a:r>
              <a:rPr lang="en-US" altLang="en-US" sz="2000" dirty="0"/>
              <a:t>Corporate websites</a:t>
            </a:r>
          </a:p>
          <a:p>
            <a:pPr lvl="1" eaLnBrk="1" hangingPunct="1"/>
            <a:r>
              <a:rPr lang="en-US" altLang="en-US" sz="2000" dirty="0"/>
              <a:t>Manuals</a:t>
            </a:r>
          </a:p>
          <a:p>
            <a:pPr lvl="1" eaLnBrk="1" hangingPunct="1"/>
            <a:r>
              <a:rPr lang="en-US" altLang="en-US" sz="2000" dirty="0"/>
              <a:t>Policy handbooks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124AB74-ABCD-074B-9FA9-6F35D61B5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662" y="1365611"/>
            <a:ext cx="4273300" cy="4397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B02F375-A971-0640-B87E-F3162780458D}"/>
              </a:ext>
            </a:extLst>
          </p:cNvPr>
          <p:cNvSpPr txBox="1">
            <a:spLocks noChangeArrowheads="1"/>
          </p:cNvSpPr>
          <p:nvPr/>
        </p:nvSpPr>
        <p:spPr>
          <a:xfrm>
            <a:off x="7346023" y="5723939"/>
            <a:ext cx="4663717" cy="537162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Analysis of Memos Provides Insight into the Metaphors that Guide the Organization</a:t>
            </a:r>
            <a:r>
              <a:rPr lang="ja-JP" altLang="en-US" sz="1600"/>
              <a:t>’</a:t>
            </a:r>
            <a:r>
              <a:rPr lang="en-US" altLang="ja-JP" sz="1600" dirty="0"/>
              <a:t>s Thinking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71381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832518"/>
              </p:ext>
            </p:extLst>
          </p:nvPr>
        </p:nvGraphicFramePr>
        <p:xfrm>
          <a:off x="396875" y="1964236"/>
          <a:ext cx="11398250" cy="3208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EC1FB21-8201-9F4A-BCE4-3AF6DDF74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UNOBSTRUSIVE METHOD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913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10DF2D-1829-C347-9B7C-32FA8B53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OBSERVATION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D0D19-D203-8B42-8E02-2B4692753BC5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446087"/>
            <a:ext cx="11593726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Observation provides insight on what organizational members actually do</a:t>
            </a:r>
          </a:p>
          <a:p>
            <a:pPr eaLnBrk="1" hangingPunct="1"/>
            <a:r>
              <a:rPr lang="en-US" altLang="en-US" sz="3600" dirty="0"/>
              <a:t>See firsthand the relationships that exist between decision makers and other organizational members</a:t>
            </a:r>
          </a:p>
          <a:p>
            <a:pPr eaLnBrk="1" hangingPunct="1"/>
            <a:r>
              <a:rPr lang="en-US" altLang="en-US" sz="3600" dirty="0"/>
              <a:t>Can also reveal important clues regarding HCI concerns</a:t>
            </a:r>
          </a:p>
        </p:txBody>
      </p:sp>
    </p:spTree>
    <p:extLst>
      <p:ext uri="{BB962C8B-B14F-4D97-AF65-F5344CB8AC3E}">
        <p14:creationId xmlns:p14="http://schemas.microsoft.com/office/powerpoint/2010/main" val="2423264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C24F9E-54B7-4948-9F51-2CFFC719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OBSERVATION – Analyst’s Playscript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A2FF2F-E11D-BA4B-BB4F-E4590CBCA1C5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6562725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Involves observing the decision-makers behavior and recording their actions using a series of action verbs</a:t>
            </a:r>
          </a:p>
          <a:p>
            <a:pPr eaLnBrk="1" hangingPunct="1"/>
            <a:r>
              <a:rPr lang="en-US" altLang="en-US" sz="3200" dirty="0"/>
              <a:t>Examples:</a:t>
            </a:r>
          </a:p>
          <a:p>
            <a:pPr lvl="1" eaLnBrk="1" hangingPunct="1"/>
            <a:r>
              <a:rPr lang="en-US" altLang="en-US" sz="2800" dirty="0"/>
              <a:t>Talking</a:t>
            </a:r>
          </a:p>
          <a:p>
            <a:pPr lvl="1" eaLnBrk="1" hangingPunct="1"/>
            <a:r>
              <a:rPr lang="en-US" altLang="en-US" sz="2800" dirty="0"/>
              <a:t>Sampling</a:t>
            </a:r>
          </a:p>
          <a:p>
            <a:pPr lvl="1" eaLnBrk="1" hangingPunct="1"/>
            <a:r>
              <a:rPr lang="en-US" altLang="en-US" sz="2800" dirty="0"/>
              <a:t>Corresponding</a:t>
            </a:r>
          </a:p>
          <a:p>
            <a:pPr lvl="1" eaLnBrk="1" hangingPunct="1"/>
            <a:r>
              <a:rPr lang="en-US" altLang="en-US" sz="2800" dirty="0"/>
              <a:t>Deciding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5D881AF2-FB47-7F42-A7EA-F1E533FE7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009" y="1605408"/>
            <a:ext cx="3612629" cy="4048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AAFD569-A2EC-5643-8205-BCE33024D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319" y="5703620"/>
            <a:ext cx="3099762" cy="440826"/>
          </a:xfrm>
          <a:prstGeom prst="rect">
            <a:avLst/>
          </a:prstGeom>
          <a:solidFill>
            <a:srgbClr val="F1D7A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Sample of Analyst</a:t>
            </a:r>
            <a:r>
              <a:rPr lang="ja-JP" altLang="en-US" sz="1600"/>
              <a:t>’</a:t>
            </a:r>
            <a:r>
              <a:rPr lang="en-US" altLang="ja-JP" sz="1600" dirty="0"/>
              <a:t>s Playscript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41791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C2FE1-ACED-E743-BFFD-A62AD311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OBSERVATION – STROBE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5E73DB-0DB8-114A-824F-84BDE466CBD3}"/>
              </a:ext>
            </a:extLst>
          </p:cNvPr>
          <p:cNvSpPr txBox="1">
            <a:spLocks noChangeArrowheads="1"/>
          </p:cNvSpPr>
          <p:nvPr/>
        </p:nvSpPr>
        <p:spPr>
          <a:xfrm>
            <a:off x="322673" y="1568450"/>
            <a:ext cx="11869327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4150" indent="-184150" eaLnBrk="1" hangingPunct="1"/>
            <a:r>
              <a:rPr lang="en-US" altLang="en-US" sz="3600" b="1" dirty="0" err="1"/>
              <a:t>STR</a:t>
            </a:r>
            <a:r>
              <a:rPr lang="en-US" altLang="en-US" sz="3600" dirty="0" err="1"/>
              <a:t>uctured</a:t>
            </a:r>
            <a:r>
              <a:rPr lang="en-US" altLang="en-US" sz="3600" dirty="0"/>
              <a:t> </a:t>
            </a:r>
            <a:r>
              <a:rPr lang="en-US" altLang="en-US" sz="3600" b="1" dirty="0" err="1"/>
              <a:t>OB</a:t>
            </a:r>
            <a:r>
              <a:rPr lang="en-US" altLang="en-US" sz="3600" dirty="0" err="1"/>
              <a:t>servation</a:t>
            </a:r>
            <a:r>
              <a:rPr lang="en-US" altLang="en-US" sz="3600" dirty="0"/>
              <a:t> of the </a:t>
            </a:r>
            <a:r>
              <a:rPr lang="en-US" altLang="en-US" sz="3600" b="1" dirty="0"/>
              <a:t>E</a:t>
            </a:r>
            <a:r>
              <a:rPr lang="en-US" altLang="en-US" sz="3600" dirty="0"/>
              <a:t>nvironment—a technique for observing the decision-maker</a:t>
            </a:r>
            <a:r>
              <a:rPr lang="ja-JP" altLang="en-US" sz="3600" dirty="0"/>
              <a:t>’</a:t>
            </a:r>
            <a:r>
              <a:rPr lang="en-US" altLang="ja-JP" sz="3600" dirty="0"/>
              <a:t>s physical environment</a:t>
            </a:r>
          </a:p>
          <a:p>
            <a:pPr eaLnBrk="1" hangingPunct="1"/>
            <a:r>
              <a:rPr lang="en-US" altLang="en-US" sz="3600" dirty="0"/>
              <a:t>Often it is possible to observe the particulars of the surroundings that will confirm or negate the organizational narrative</a:t>
            </a:r>
          </a:p>
          <a:p>
            <a:pPr lvl="1" eaLnBrk="1" hangingPunct="1"/>
            <a:r>
              <a:rPr lang="en-US" altLang="en-US" sz="3200" dirty="0"/>
              <a:t>Also called stories or dialogue</a:t>
            </a:r>
          </a:p>
          <a:p>
            <a:pPr lvl="1" eaLnBrk="1" hangingPunct="1"/>
            <a:r>
              <a:rPr lang="en-US" altLang="en-US" sz="3200" dirty="0"/>
              <a:t>Information that is found through interviews or questionnaires</a:t>
            </a:r>
          </a:p>
          <a:p>
            <a:pPr marL="184150" indent="-184150" eaLnBrk="1" hangingPunct="1"/>
            <a:endParaRPr lang="en-US" altLang="ja-JP" sz="3600" dirty="0"/>
          </a:p>
          <a:p>
            <a:pPr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69878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10DF2D-1829-C347-9B7C-32FA8B534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1562904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STROBE ELEMENTS – what to observe?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84C5B6-2E11-E34A-B8B1-6FBF2F3EE460}"/>
              </a:ext>
            </a:extLst>
          </p:cNvPr>
          <p:cNvGrpSpPr/>
          <p:nvPr/>
        </p:nvGrpSpPr>
        <p:grpSpPr>
          <a:xfrm>
            <a:off x="202058" y="1438382"/>
            <a:ext cx="11989941" cy="5028493"/>
            <a:chOff x="516277" y="1684963"/>
            <a:chExt cx="11401745" cy="4781912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331AAEC-8B2C-9D41-9D34-5A03942076AA}"/>
                </a:ext>
              </a:extLst>
            </p:cNvPr>
            <p:cNvSpPr/>
            <p:nvPr/>
          </p:nvSpPr>
          <p:spPr>
            <a:xfrm>
              <a:off x="516277" y="1684963"/>
              <a:ext cx="11401745" cy="193690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6B6B675F-0E25-B54B-9309-238D06919B24}"/>
                </a:ext>
              </a:extLst>
            </p:cNvPr>
            <p:cNvSpPr/>
            <p:nvPr/>
          </p:nvSpPr>
          <p:spPr>
            <a:xfrm>
              <a:off x="872973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D077ED6-B850-FA42-8A90-8CEB0ED45F69}"/>
                </a:ext>
              </a:extLst>
            </p:cNvPr>
            <p:cNvSpPr/>
            <p:nvPr/>
          </p:nvSpPr>
          <p:spPr>
            <a:xfrm rot="21600000">
              <a:off x="872972" y="3509338"/>
              <a:ext cx="1406363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3" tIns="113792" rIns="157042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OFFICE LOCATION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Who has the corner office?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Are the key decision makers dispersed over separate floors?</a:t>
              </a:r>
              <a:endParaRPr lang="en-MY" sz="1200" kern="1200" dirty="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C2D39CE-8AA4-EA47-B4F7-0AD696318E9E}"/>
                </a:ext>
              </a:extLst>
            </p:cNvPr>
            <p:cNvSpPr/>
            <p:nvPr/>
          </p:nvSpPr>
          <p:spPr>
            <a:xfrm>
              <a:off x="2419971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146777"/>
                <a:satOff val="-12695"/>
                <a:lumOff val="-127"/>
                <a:alphaOff val="0"/>
              </a:schemeClr>
            </a:fillRef>
            <a:effectRef idx="0">
              <a:schemeClr val="accent2">
                <a:tint val="50000"/>
                <a:hueOff val="-146777"/>
                <a:satOff val="-12695"/>
                <a:lumOff val="-12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8192CC0-53A2-304B-A6E6-02C8FBF1D0EF}"/>
                </a:ext>
              </a:extLst>
            </p:cNvPr>
            <p:cNvSpPr/>
            <p:nvPr/>
          </p:nvSpPr>
          <p:spPr>
            <a:xfrm>
              <a:off x="2419971" y="3509338"/>
              <a:ext cx="1406361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242561"/>
                <a:satOff val="-13988"/>
                <a:lumOff val="1438"/>
                <a:alphaOff val="0"/>
              </a:schemeClr>
            </a:fillRef>
            <a:effectRef idx="0">
              <a:schemeClr val="accent2">
                <a:hueOff val="-242561"/>
                <a:satOff val="-13988"/>
                <a:lumOff val="143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3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DESK PLACEMENT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placement of the desk encourage communication?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placement demonstrate power?</a:t>
              </a:r>
              <a:endParaRPr lang="en-MY" sz="1200" kern="1200" dirty="0"/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6BDE6EF2-2A4A-3A45-918F-D8F64C21FC32}"/>
                </a:ext>
              </a:extLst>
            </p:cNvPr>
            <p:cNvSpPr/>
            <p:nvPr/>
          </p:nvSpPr>
          <p:spPr>
            <a:xfrm>
              <a:off x="3966969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293554"/>
                <a:satOff val="-25390"/>
                <a:lumOff val="-254"/>
                <a:alphaOff val="0"/>
              </a:schemeClr>
            </a:fillRef>
            <a:effectRef idx="0">
              <a:schemeClr val="accent2">
                <a:tint val="50000"/>
                <a:hueOff val="-293554"/>
                <a:satOff val="-25390"/>
                <a:lumOff val="-254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939B0E4-7094-A845-9EA6-9FCDCEF1F656}"/>
                </a:ext>
              </a:extLst>
            </p:cNvPr>
            <p:cNvSpPr/>
            <p:nvPr/>
          </p:nvSpPr>
          <p:spPr>
            <a:xfrm rot="21600000">
              <a:off x="3966969" y="3509337"/>
              <a:ext cx="1406362" cy="2957537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485121"/>
                <a:satOff val="-27976"/>
                <a:lumOff val="2876"/>
                <a:alphaOff val="0"/>
              </a:schemeClr>
            </a:fillRef>
            <a:effectRef idx="0">
              <a:schemeClr val="accent2">
                <a:hueOff val="-485121"/>
                <a:satOff val="-27976"/>
                <a:lumOff val="28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3" rIns="157042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STATIONARY EQUIPMENT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decision maker prefer to gather and store information personally?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Is the storage area large or small?</a:t>
              </a:r>
              <a:endParaRPr lang="en-MY" sz="1200" kern="12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80E27C4-7A31-5E44-946A-EBC37E1A43CA}"/>
                </a:ext>
              </a:extLst>
            </p:cNvPr>
            <p:cNvSpPr/>
            <p:nvPr/>
          </p:nvSpPr>
          <p:spPr>
            <a:xfrm>
              <a:off x="5513968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440331"/>
                <a:satOff val="-38085"/>
                <a:lumOff val="-381"/>
                <a:alphaOff val="0"/>
              </a:schemeClr>
            </a:fillRef>
            <a:effectRef idx="0">
              <a:schemeClr val="accent2">
                <a:tint val="50000"/>
                <a:hueOff val="-440331"/>
                <a:satOff val="-38085"/>
                <a:lumOff val="-381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4471292-9D5F-0F4B-BCCA-B0CACD51658D}"/>
                </a:ext>
              </a:extLst>
            </p:cNvPr>
            <p:cNvSpPr/>
            <p:nvPr/>
          </p:nvSpPr>
          <p:spPr>
            <a:xfrm rot="21600000">
              <a:off x="5513968" y="3509337"/>
              <a:ext cx="1406363" cy="2957537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3" rIns="157043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PROPS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Is there evidence that the decision maker uses a PC, smart phone, or tablet computer in the office?</a:t>
              </a:r>
              <a:endParaRPr lang="en-MY" sz="1200" kern="12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ACFEA18-436E-164D-86DF-B3AB9BA89B81}"/>
                </a:ext>
              </a:extLst>
            </p:cNvPr>
            <p:cNvSpPr/>
            <p:nvPr/>
          </p:nvSpPr>
          <p:spPr>
            <a:xfrm>
              <a:off x="7060966" y="1832361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587108"/>
                <a:satOff val="-50780"/>
                <a:lumOff val="-508"/>
                <a:alphaOff val="0"/>
              </a:schemeClr>
            </a:fillRef>
            <a:effectRef idx="0">
              <a:schemeClr val="accent2">
                <a:tint val="50000"/>
                <a:hueOff val="-587108"/>
                <a:satOff val="-50780"/>
                <a:lumOff val="-50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B5406CD-1B41-FE48-AA42-28A5DA1682BF}"/>
                </a:ext>
              </a:extLst>
            </p:cNvPr>
            <p:cNvSpPr/>
            <p:nvPr/>
          </p:nvSpPr>
          <p:spPr>
            <a:xfrm rot="21600000">
              <a:off x="7060966" y="3509338"/>
              <a:ext cx="1406363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70242"/>
                <a:satOff val="-55952"/>
                <a:lumOff val="5752"/>
                <a:alphaOff val="0"/>
              </a:schemeClr>
            </a:fillRef>
            <a:effectRef idx="0">
              <a:schemeClr val="accent2">
                <a:hueOff val="-970242"/>
                <a:satOff val="-55952"/>
                <a:lumOff val="57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3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/>
                <a:t>EXTERNAL INFORMATION SOURCES</a:t>
              </a:r>
              <a:endParaRPr lang="en-MY" sz="14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decision maker get much information from external sources such as trade journals or the Web?</a:t>
              </a:r>
              <a:endParaRPr lang="en-MY" sz="1200" kern="1200" dirty="0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EC7F13-73CE-2A41-A254-F7B4D64B23CC}"/>
                </a:ext>
              </a:extLst>
            </p:cNvPr>
            <p:cNvSpPr/>
            <p:nvPr/>
          </p:nvSpPr>
          <p:spPr>
            <a:xfrm>
              <a:off x="8607965" y="1812247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733885"/>
                <a:satOff val="-63475"/>
                <a:lumOff val="-635"/>
                <a:alphaOff val="0"/>
              </a:schemeClr>
            </a:fillRef>
            <a:effectRef idx="0">
              <a:schemeClr val="accent2">
                <a:tint val="50000"/>
                <a:hueOff val="-733885"/>
                <a:satOff val="-63475"/>
                <a:lumOff val="-635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847E220-70C1-534A-A69F-1E78767E79B4}"/>
                </a:ext>
              </a:extLst>
            </p:cNvPr>
            <p:cNvSpPr/>
            <p:nvPr/>
          </p:nvSpPr>
          <p:spPr>
            <a:xfrm rot="21600000">
              <a:off x="8607965" y="3509338"/>
              <a:ext cx="1406362" cy="2957536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212803"/>
                <a:satOff val="-69940"/>
                <a:lumOff val="7190"/>
                <a:alphaOff val="0"/>
              </a:schemeClr>
            </a:fillRef>
            <a:effectRef idx="0">
              <a:schemeClr val="accent2">
                <a:hueOff val="-1212803"/>
                <a:satOff val="-69940"/>
                <a:lumOff val="719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2" bIns="157042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OFFICE LIGHTING AND COLOR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Is the lighting set up to do detailed work or more appropriate for casual communication?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Are the colors warm and inviting?</a:t>
              </a:r>
              <a:endParaRPr lang="en-MY" sz="1200" kern="1200" dirty="0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B28D462-91E7-EB48-AD0A-09B715C773DF}"/>
                </a:ext>
              </a:extLst>
            </p:cNvPr>
            <p:cNvSpPr/>
            <p:nvPr/>
          </p:nvSpPr>
          <p:spPr>
            <a:xfrm>
              <a:off x="10154963" y="1812247"/>
              <a:ext cx="1406362" cy="15912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fillRef>
            <a:effectRef idx="0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39D2DD0-1EFD-024B-A78E-3429940B0524}"/>
                </a:ext>
              </a:extLst>
            </p:cNvPr>
            <p:cNvSpPr/>
            <p:nvPr/>
          </p:nvSpPr>
          <p:spPr>
            <a:xfrm rot="21600000">
              <a:off x="10154963" y="3509338"/>
              <a:ext cx="1406362" cy="2957537"/>
            </a:xfrm>
            <a:custGeom>
              <a:avLst/>
              <a:gdLst>
                <a:gd name="connsiteX0" fmla="*/ 147668 w 1406362"/>
                <a:gd name="connsiteY0" fmla="*/ 0 h 2957536"/>
                <a:gd name="connsiteX1" fmla="*/ 1258694 w 1406362"/>
                <a:gd name="connsiteY1" fmla="*/ 0 h 2957536"/>
                <a:gd name="connsiteX2" fmla="*/ 1406362 w 1406362"/>
                <a:gd name="connsiteY2" fmla="*/ 147668 h 2957536"/>
                <a:gd name="connsiteX3" fmla="*/ 1406362 w 1406362"/>
                <a:gd name="connsiteY3" fmla="*/ 2957536 h 2957536"/>
                <a:gd name="connsiteX4" fmla="*/ 1406362 w 1406362"/>
                <a:gd name="connsiteY4" fmla="*/ 2957536 h 2957536"/>
                <a:gd name="connsiteX5" fmla="*/ 0 w 1406362"/>
                <a:gd name="connsiteY5" fmla="*/ 2957536 h 2957536"/>
                <a:gd name="connsiteX6" fmla="*/ 0 w 1406362"/>
                <a:gd name="connsiteY6" fmla="*/ 2957536 h 2957536"/>
                <a:gd name="connsiteX7" fmla="*/ 0 w 1406362"/>
                <a:gd name="connsiteY7" fmla="*/ 147668 h 2957536"/>
                <a:gd name="connsiteX8" fmla="*/ 147668 w 1406362"/>
                <a:gd name="connsiteY8" fmla="*/ 0 h 295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6362" h="2957536">
                  <a:moveTo>
                    <a:pt x="1258693" y="2957536"/>
                  </a:moveTo>
                  <a:lnTo>
                    <a:pt x="147669" y="2957536"/>
                  </a:lnTo>
                  <a:cubicBezTo>
                    <a:pt x="66114" y="2957536"/>
                    <a:pt x="1" y="2891423"/>
                    <a:pt x="1" y="280986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406361" y="0"/>
                  </a:lnTo>
                  <a:lnTo>
                    <a:pt x="1406361" y="0"/>
                  </a:lnTo>
                  <a:lnTo>
                    <a:pt x="1406361" y="2809868"/>
                  </a:lnTo>
                  <a:cubicBezTo>
                    <a:pt x="1406361" y="2891423"/>
                    <a:pt x="1340248" y="2957536"/>
                    <a:pt x="1258693" y="295753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7042" tIns="113792" rIns="157042" bIns="157043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CLOTHING WORN BY DECISION MAKERS</a:t>
              </a:r>
              <a:endParaRPr lang="en-MY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Does the decision maker show authority by wearing conservative suits?</a:t>
              </a:r>
              <a:endParaRPr lang="en-MY" sz="12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/>
                <a:t>Are employees required to wear uniforms?</a:t>
              </a:r>
              <a:endParaRPr lang="en-MY" sz="1200" kern="1200" dirty="0"/>
            </a:p>
          </p:txBody>
        </p:sp>
      </p:grp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18A39E03-BBE2-084D-BA88-F44E32386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52" y="1777283"/>
            <a:ext cx="1358980" cy="135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desk placement">
            <a:extLst>
              <a:ext uri="{FF2B5EF4-FFF2-40B4-BE49-F238E27FC236}">
                <a16:creationId xmlns:a16="http://schemas.microsoft.com/office/drawing/2014/main" id="{A6DAB586-92CE-AF45-8E77-391AF3CE7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103" y="1982314"/>
            <a:ext cx="1361902" cy="102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stationary equipment">
            <a:extLst>
              <a:ext uri="{FF2B5EF4-FFF2-40B4-BE49-F238E27FC236}">
                <a16:creationId xmlns:a16="http://schemas.microsoft.com/office/drawing/2014/main" id="{A65D2090-B888-A246-929C-88A71676C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03" r="-1"/>
          <a:stretch/>
        </p:blipFill>
        <p:spPr bwMode="auto">
          <a:xfrm>
            <a:off x="3793764" y="1658559"/>
            <a:ext cx="1541003" cy="142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OMPUTER">
            <a:extLst>
              <a:ext uri="{FF2B5EF4-FFF2-40B4-BE49-F238E27FC236}">
                <a16:creationId xmlns:a16="http://schemas.microsoft.com/office/drawing/2014/main" id="{8C30329B-FA7F-3D4A-8CF4-14C01CBC8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03" y="2008002"/>
            <a:ext cx="1349926" cy="97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JOURNAL">
            <a:extLst>
              <a:ext uri="{FF2B5EF4-FFF2-40B4-BE49-F238E27FC236}">
                <a16:creationId xmlns:a16="http://schemas.microsoft.com/office/drawing/2014/main" id="{403433B4-2B30-3E4F-842E-A83DF4B73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0" r="24115"/>
          <a:stretch/>
        </p:blipFill>
        <p:spPr bwMode="auto">
          <a:xfrm>
            <a:off x="7105327" y="1914189"/>
            <a:ext cx="1432814" cy="908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OFFICE LIGHTING AND COLOR">
            <a:extLst>
              <a:ext uri="{FF2B5EF4-FFF2-40B4-BE49-F238E27FC236}">
                <a16:creationId xmlns:a16="http://schemas.microsoft.com/office/drawing/2014/main" id="{127CCDC6-C795-FB4D-8239-4A34D16BA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098" y="1734416"/>
            <a:ext cx="1291377" cy="129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business attire men and women cartoon">
            <a:extLst>
              <a:ext uri="{FF2B5EF4-FFF2-40B4-BE49-F238E27FC236}">
                <a16:creationId xmlns:a16="http://schemas.microsoft.com/office/drawing/2014/main" id="{9EAA75BC-011A-C646-AB0C-7B439F92D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" r="4257"/>
          <a:stretch/>
        </p:blipFill>
        <p:spPr bwMode="auto">
          <a:xfrm>
            <a:off x="10360807" y="1700525"/>
            <a:ext cx="1456094" cy="159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180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C2FE1-ACED-E743-BFFD-A62AD311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55" y="689367"/>
            <a:ext cx="11442289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</a:rPr>
              <a:t>STROBE &amp; DECISION-MAKER CHARACTERISTICS</a:t>
            </a:r>
            <a:endParaRPr lang="en-US" altLang="en-US" sz="4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444B7F0-54CE-6A42-9405-CC1E3337E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721" y="1568450"/>
            <a:ext cx="7924800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06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C2FE1-ACED-E743-BFFD-A62AD311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55" y="689367"/>
            <a:ext cx="11442289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APPLYING STROBE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6473FF-7E9D-9744-A21B-8A32DCC2FD09}"/>
              </a:ext>
            </a:extLst>
          </p:cNvPr>
          <p:cNvSpPr txBox="1">
            <a:spLocks noChangeArrowheads="1"/>
          </p:cNvSpPr>
          <p:nvPr/>
        </p:nvSpPr>
        <p:spPr>
          <a:xfrm>
            <a:off x="374855" y="1456361"/>
            <a:ext cx="7515698" cy="452596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3200"/>
              <a:t>The five symbols used to evaluate how observation of the elements of STROBE compared with interview results are: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 checkmark means the narrative is confirmed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An </a:t>
            </a:r>
            <a:r>
              <a:rPr lang="ja-JP" altLang="en-US" sz="2800"/>
              <a:t>“</a:t>
            </a:r>
            <a:r>
              <a:rPr lang="en-US" altLang="ja-JP" sz="2800"/>
              <a:t>X</a:t>
            </a:r>
            <a:r>
              <a:rPr lang="ja-JP" altLang="en-US" sz="2800"/>
              <a:t>”</a:t>
            </a:r>
            <a:r>
              <a:rPr lang="en-US" altLang="ja-JP" sz="2800"/>
              <a:t> means the narrative is reversed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An oval or eye-shaped symbol serves as a cue to look further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 square means observation modifies the narrative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/>
              <a:t>A circle means narrative is supplemented by observation</a:t>
            </a:r>
            <a:endParaRPr lang="en-US" altLang="en-US" sz="28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5C6006FE-2E65-DA48-8A3C-FAA884A6A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553" y="1402018"/>
            <a:ext cx="3690813" cy="374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24F0866-407A-AB41-87CC-3584459F756C}"/>
              </a:ext>
            </a:extLst>
          </p:cNvPr>
          <p:cNvSpPr txBox="1">
            <a:spLocks noChangeArrowheads="1"/>
          </p:cNvSpPr>
          <p:nvPr/>
        </p:nvSpPr>
        <p:spPr>
          <a:xfrm>
            <a:off x="8021442" y="5151415"/>
            <a:ext cx="3280132" cy="420628"/>
          </a:xfrm>
          <a:prstGeom prst="rect">
            <a:avLst/>
          </a:prstGeom>
          <a:solidFill>
            <a:srgbClr val="F1D7A3"/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1600" dirty="0"/>
              <a:t>An Anecdotal List with Symbols</a:t>
            </a:r>
          </a:p>
        </p:txBody>
      </p:sp>
    </p:spTree>
    <p:extLst>
      <p:ext uri="{BB962C8B-B14F-4D97-AF65-F5344CB8AC3E}">
        <p14:creationId xmlns:p14="http://schemas.microsoft.com/office/powerpoint/2010/main" val="1439857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8B0629-AC18-A744-8EB9-AB0A750F8AF2}"/>
              </a:ext>
            </a:extLst>
          </p:cNvPr>
          <p:cNvSpPr txBox="1"/>
          <p:nvPr/>
        </p:nvSpPr>
        <p:spPr>
          <a:xfrm>
            <a:off x="9952234" y="4485029"/>
            <a:ext cx="2239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update: August 2019 (</a:t>
            </a:r>
            <a:r>
              <a:rPr lang="en-US" sz="1000" dirty="0" err="1">
                <a:solidFill>
                  <a:schemeClr val="bg1"/>
                </a:solidFill>
              </a:rPr>
              <a:t>sharinhh</a:t>
            </a:r>
            <a:r>
              <a:rPr lang="en-US" sz="10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1229</Words>
  <Application>Microsoft Office PowerPoint</Application>
  <PresentationFormat>Widescreen</PresentationFormat>
  <Paragraphs>199</Paragraphs>
  <Slides>27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PART 2:  UNOBSRTUSIVE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 Main Types of Samples the Analyst Has Available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User</cp:lastModifiedBy>
  <cp:revision>59</cp:revision>
  <cp:lastPrinted>2019-08-27T13:34:15Z</cp:lastPrinted>
  <dcterms:created xsi:type="dcterms:W3CDTF">2019-01-15T04:04:43Z</dcterms:created>
  <dcterms:modified xsi:type="dcterms:W3CDTF">2020-10-30T16:01:42Z</dcterms:modified>
</cp:coreProperties>
</file>