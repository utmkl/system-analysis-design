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63" r:id="rId2"/>
    <p:sldId id="266" r:id="rId3"/>
    <p:sldId id="281" r:id="rId4"/>
    <p:sldId id="267" r:id="rId5"/>
    <p:sldId id="268" r:id="rId6"/>
    <p:sldId id="272" r:id="rId7"/>
    <p:sldId id="282" r:id="rId8"/>
    <p:sldId id="273" r:id="rId9"/>
    <p:sldId id="274" r:id="rId10"/>
    <p:sldId id="283" r:id="rId11"/>
    <p:sldId id="284" r:id="rId12"/>
    <p:sldId id="285" r:id="rId13"/>
    <p:sldId id="286" r:id="rId14"/>
    <p:sldId id="269" r:id="rId15"/>
    <p:sldId id="275" r:id="rId16"/>
    <p:sldId id="290" r:id="rId17"/>
    <p:sldId id="287" r:id="rId18"/>
    <p:sldId id="288" r:id="rId19"/>
    <p:sldId id="289" r:id="rId20"/>
    <p:sldId id="357" r:id="rId21"/>
    <p:sldId id="270" r:id="rId22"/>
    <p:sldId id="277" r:id="rId23"/>
    <p:sldId id="361" r:id="rId24"/>
    <p:sldId id="278" r:id="rId25"/>
    <p:sldId id="362" r:id="rId26"/>
    <p:sldId id="363" r:id="rId27"/>
    <p:sldId id="364" r:id="rId28"/>
    <p:sldId id="366" r:id="rId29"/>
    <p:sldId id="365" r:id="rId30"/>
    <p:sldId id="367" r:id="rId31"/>
    <p:sldId id="368" r:id="rId32"/>
    <p:sldId id="358" r:id="rId33"/>
    <p:sldId id="271" r:id="rId34"/>
    <p:sldId id="279" r:id="rId35"/>
    <p:sldId id="371" r:id="rId36"/>
    <p:sldId id="280" r:id="rId37"/>
    <p:sldId id="372" r:id="rId38"/>
    <p:sldId id="373" r:id="rId39"/>
    <p:sldId id="360" r:id="rId40"/>
    <p:sldId id="370" r:id="rId41"/>
    <p:sldId id="375" r:id="rId42"/>
    <p:sldId id="376" r:id="rId43"/>
    <p:sldId id="262" r:id="rId4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40F3E"/>
    <a:srgbClr val="FFCB63"/>
    <a:srgbClr val="B43500"/>
    <a:srgbClr val="F6D48D"/>
    <a:srgbClr val="AF5200"/>
    <a:srgbClr val="EEDDB9"/>
    <a:srgbClr val="AC77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690" autoAdjust="0"/>
    <p:restoredTop sz="94660"/>
  </p:normalViewPr>
  <p:slideViewPr>
    <p:cSldViewPr snapToGrid="0">
      <p:cViewPr varScale="1">
        <p:scale>
          <a:sx n="124" d="100"/>
          <a:sy n="124" d="100"/>
        </p:scale>
        <p:origin x="21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E13D44-AA4E-B140-965B-FB71BC866BAD}"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GB"/>
        </a:p>
      </dgm:t>
    </dgm:pt>
    <dgm:pt modelId="{525FF7B7-45DF-FA40-BA8F-C3AA0B2AD2CA}">
      <dgm:prSet/>
      <dgm:spPr/>
      <dgm:t>
        <a:bodyPr/>
        <a:lstStyle/>
        <a:p>
          <a:r>
            <a:rPr lang="en-MY" b="1" dirty="0"/>
            <a:t>PROCESS SPECIFICATION</a:t>
          </a:r>
        </a:p>
      </dgm:t>
    </dgm:pt>
    <dgm:pt modelId="{44614C75-33C9-1346-AE33-01AF9E91DA71}" type="parTrans" cxnId="{6A891B55-669D-4243-B528-3201E49C598D}">
      <dgm:prSet/>
      <dgm:spPr/>
      <dgm:t>
        <a:bodyPr/>
        <a:lstStyle/>
        <a:p>
          <a:endParaRPr lang="en-GB"/>
        </a:p>
      </dgm:t>
    </dgm:pt>
    <dgm:pt modelId="{FBB7AF22-E434-544A-BCC1-0E1B0B2AC122}" type="sibTrans" cxnId="{6A891B55-669D-4243-B528-3201E49C598D}">
      <dgm:prSet/>
      <dgm:spPr/>
      <dgm:t>
        <a:bodyPr/>
        <a:lstStyle/>
        <a:p>
          <a:endParaRPr lang="en-GB"/>
        </a:p>
      </dgm:t>
    </dgm:pt>
    <dgm:pt modelId="{B5312C67-4CEB-F44F-93A5-C85C710C92C2}">
      <dgm:prSet custT="1"/>
      <dgm:spPr/>
      <dgm:t>
        <a:bodyPr/>
        <a:lstStyle/>
        <a:p>
          <a:r>
            <a:rPr lang="en-MY" sz="1600" dirty="0"/>
            <a:t>Goals</a:t>
          </a:r>
        </a:p>
      </dgm:t>
    </dgm:pt>
    <dgm:pt modelId="{08BB4462-F9A0-2E43-86E2-245A04C35B81}" type="parTrans" cxnId="{E56BFB11-13A2-9541-9223-50A532F17137}">
      <dgm:prSet/>
      <dgm:spPr/>
      <dgm:t>
        <a:bodyPr/>
        <a:lstStyle/>
        <a:p>
          <a:endParaRPr lang="en-GB"/>
        </a:p>
      </dgm:t>
    </dgm:pt>
    <dgm:pt modelId="{E2D2852E-EFA8-234E-A822-0111B55231E7}" type="sibTrans" cxnId="{E56BFB11-13A2-9541-9223-50A532F17137}">
      <dgm:prSet/>
      <dgm:spPr/>
      <dgm:t>
        <a:bodyPr/>
        <a:lstStyle/>
        <a:p>
          <a:endParaRPr lang="en-GB"/>
        </a:p>
      </dgm:t>
    </dgm:pt>
    <dgm:pt modelId="{29CA0E37-B777-1B45-8D42-5505C7EF4DD6}">
      <dgm:prSet/>
      <dgm:spPr/>
      <dgm:t>
        <a:bodyPr/>
        <a:lstStyle/>
        <a:p>
          <a:r>
            <a:rPr lang="en-US" b="1" dirty="0"/>
            <a:t>STRUCTURED ENGLISH</a:t>
          </a:r>
          <a:endParaRPr lang="en-MY" b="1" dirty="0"/>
        </a:p>
      </dgm:t>
    </dgm:pt>
    <dgm:pt modelId="{4050C5FE-8BDA-0C4E-94B9-599367D9D16D}" type="parTrans" cxnId="{5A56B747-AE64-4B4E-96CA-72F403951E9A}">
      <dgm:prSet/>
      <dgm:spPr/>
      <dgm:t>
        <a:bodyPr/>
        <a:lstStyle/>
        <a:p>
          <a:endParaRPr lang="en-GB"/>
        </a:p>
      </dgm:t>
    </dgm:pt>
    <dgm:pt modelId="{A5EB22FF-A85E-764D-B3B3-B399B012CDCD}" type="sibTrans" cxnId="{5A56B747-AE64-4B4E-96CA-72F403951E9A}">
      <dgm:prSet/>
      <dgm:spPr/>
      <dgm:t>
        <a:bodyPr/>
        <a:lstStyle/>
        <a:p>
          <a:endParaRPr lang="en-GB"/>
        </a:p>
      </dgm:t>
    </dgm:pt>
    <dgm:pt modelId="{B6695AE6-BBD2-9441-8278-405325F3463D}">
      <dgm:prSet custT="1"/>
      <dgm:spPr/>
      <dgm:t>
        <a:bodyPr/>
        <a:lstStyle/>
        <a:p>
          <a:r>
            <a:rPr lang="en-US" sz="1600" dirty="0"/>
            <a:t>Writing Structured English</a:t>
          </a:r>
          <a:endParaRPr lang="en-MY" sz="1600" dirty="0"/>
        </a:p>
      </dgm:t>
    </dgm:pt>
    <dgm:pt modelId="{F4DE0E6C-6746-464D-978D-6433814E1070}" type="parTrans" cxnId="{600A957D-D0E7-9A4D-A4C3-6061F6EB0A05}">
      <dgm:prSet/>
      <dgm:spPr/>
      <dgm:t>
        <a:bodyPr/>
        <a:lstStyle/>
        <a:p>
          <a:endParaRPr lang="en-GB"/>
        </a:p>
      </dgm:t>
    </dgm:pt>
    <dgm:pt modelId="{B1D92EC7-D55B-3347-BB0C-185AAA5D4CB0}" type="sibTrans" cxnId="{600A957D-D0E7-9A4D-A4C3-6061F6EB0A05}">
      <dgm:prSet/>
      <dgm:spPr/>
      <dgm:t>
        <a:bodyPr/>
        <a:lstStyle/>
        <a:p>
          <a:endParaRPr lang="en-GB"/>
        </a:p>
      </dgm:t>
    </dgm:pt>
    <dgm:pt modelId="{967A1BCE-145A-8245-AFDC-BDD8AAD77A95}">
      <dgm:prSet custT="1"/>
      <dgm:spPr/>
      <dgm:t>
        <a:bodyPr/>
        <a:lstStyle/>
        <a:p>
          <a:r>
            <a:rPr lang="en-MY" sz="1600" dirty="0"/>
            <a:t>Data Dictionary and Process Specification</a:t>
          </a:r>
        </a:p>
      </dgm:t>
    </dgm:pt>
    <dgm:pt modelId="{389EC7EB-5C34-414F-98C7-6586EBDCAF77}" type="parTrans" cxnId="{A95A8774-DB95-994E-963A-93A2A00FE51A}">
      <dgm:prSet/>
      <dgm:spPr/>
      <dgm:t>
        <a:bodyPr/>
        <a:lstStyle/>
        <a:p>
          <a:endParaRPr lang="en-GB"/>
        </a:p>
      </dgm:t>
    </dgm:pt>
    <dgm:pt modelId="{8CDB7424-7461-C848-825B-5F635DC5EBFC}" type="sibTrans" cxnId="{A95A8774-DB95-994E-963A-93A2A00FE51A}">
      <dgm:prSet/>
      <dgm:spPr/>
      <dgm:t>
        <a:bodyPr/>
        <a:lstStyle/>
        <a:p>
          <a:endParaRPr lang="en-GB"/>
        </a:p>
      </dgm:t>
    </dgm:pt>
    <dgm:pt modelId="{41FBE87C-157B-214E-87C9-6A1C7ED7FE03}">
      <dgm:prSet/>
      <dgm:spPr/>
      <dgm:t>
        <a:bodyPr/>
        <a:lstStyle/>
        <a:p>
          <a:r>
            <a:rPr lang="en-US" b="1" dirty="0"/>
            <a:t>DECISION TABLE</a:t>
          </a:r>
          <a:endParaRPr lang="en-MY" b="1" dirty="0"/>
        </a:p>
      </dgm:t>
    </dgm:pt>
    <dgm:pt modelId="{D4BA1163-1DCF-D34A-82C1-EBE08534E676}" type="parTrans" cxnId="{5B127372-A974-D54E-ABAB-CC45AABEE999}">
      <dgm:prSet/>
      <dgm:spPr/>
      <dgm:t>
        <a:bodyPr/>
        <a:lstStyle/>
        <a:p>
          <a:endParaRPr lang="en-GB"/>
        </a:p>
      </dgm:t>
    </dgm:pt>
    <dgm:pt modelId="{9155D718-1FC1-3F4D-8F2E-781E49A169FF}" type="sibTrans" cxnId="{5B127372-A974-D54E-ABAB-CC45AABEE999}">
      <dgm:prSet/>
      <dgm:spPr/>
      <dgm:t>
        <a:bodyPr/>
        <a:lstStyle/>
        <a:p>
          <a:endParaRPr lang="en-GB"/>
        </a:p>
      </dgm:t>
    </dgm:pt>
    <dgm:pt modelId="{7DE22736-7EC1-2E43-A8E5-23F32D4E6111}">
      <dgm:prSet custT="1"/>
      <dgm:spPr/>
      <dgm:t>
        <a:bodyPr/>
        <a:lstStyle/>
        <a:p>
          <a:r>
            <a:rPr lang="en-US" sz="1600" dirty="0"/>
            <a:t>Developing Decision Table</a:t>
          </a:r>
          <a:endParaRPr lang="en-MY" sz="1600" dirty="0"/>
        </a:p>
      </dgm:t>
    </dgm:pt>
    <dgm:pt modelId="{047BB41C-E133-3C40-889E-4A93E74DF886}" type="parTrans" cxnId="{3C1E74A1-E982-BE4E-95E7-74A4E5B03A3C}">
      <dgm:prSet/>
      <dgm:spPr/>
      <dgm:t>
        <a:bodyPr/>
        <a:lstStyle/>
        <a:p>
          <a:endParaRPr lang="en-GB"/>
        </a:p>
      </dgm:t>
    </dgm:pt>
    <dgm:pt modelId="{B1564ADA-3472-A946-8F1A-385A1EDCDD45}" type="sibTrans" cxnId="{3C1E74A1-E982-BE4E-95E7-74A4E5B03A3C}">
      <dgm:prSet/>
      <dgm:spPr/>
      <dgm:t>
        <a:bodyPr/>
        <a:lstStyle/>
        <a:p>
          <a:endParaRPr lang="en-GB"/>
        </a:p>
      </dgm:t>
    </dgm:pt>
    <dgm:pt modelId="{F0CD8126-DF69-044D-8321-9A7AAC9DA219}">
      <dgm:prSet/>
      <dgm:spPr/>
      <dgm:t>
        <a:bodyPr/>
        <a:lstStyle/>
        <a:p>
          <a:r>
            <a:rPr lang="en-US" b="1" dirty="0"/>
            <a:t>DECISION TREE</a:t>
          </a:r>
          <a:endParaRPr lang="en-MY" b="1" dirty="0"/>
        </a:p>
      </dgm:t>
    </dgm:pt>
    <dgm:pt modelId="{731A2FAB-9C2C-4F40-A3A2-9E5F0F5D758A}" type="parTrans" cxnId="{1E5DC76E-C8A3-6B43-9AF3-DF9E705ED992}">
      <dgm:prSet/>
      <dgm:spPr/>
      <dgm:t>
        <a:bodyPr/>
        <a:lstStyle/>
        <a:p>
          <a:endParaRPr lang="en-GB"/>
        </a:p>
      </dgm:t>
    </dgm:pt>
    <dgm:pt modelId="{9443BB85-003E-5440-B40A-9AB532EBDB6B}" type="sibTrans" cxnId="{1E5DC76E-C8A3-6B43-9AF3-DF9E705ED992}">
      <dgm:prSet/>
      <dgm:spPr/>
      <dgm:t>
        <a:bodyPr/>
        <a:lstStyle/>
        <a:p>
          <a:endParaRPr lang="en-GB"/>
        </a:p>
      </dgm:t>
    </dgm:pt>
    <dgm:pt modelId="{278430BC-0451-B545-A790-C921DC9DDBC0}">
      <dgm:prSet custT="1"/>
      <dgm:spPr/>
      <dgm:t>
        <a:bodyPr/>
        <a:lstStyle/>
        <a:p>
          <a:r>
            <a:rPr lang="en-US" sz="1600" dirty="0"/>
            <a:t>Drawing Decision Tree</a:t>
          </a:r>
          <a:endParaRPr lang="en-MY" sz="1600" dirty="0"/>
        </a:p>
      </dgm:t>
    </dgm:pt>
    <dgm:pt modelId="{73530220-1817-134A-B1F1-6EB489E5450C}" type="parTrans" cxnId="{FFBA51E8-74C0-B349-A11F-7D7C80AF5885}">
      <dgm:prSet/>
      <dgm:spPr/>
      <dgm:t>
        <a:bodyPr/>
        <a:lstStyle/>
        <a:p>
          <a:endParaRPr lang="en-GB"/>
        </a:p>
      </dgm:t>
    </dgm:pt>
    <dgm:pt modelId="{315BB7FE-260C-0B45-B24B-718D46E2F28D}" type="sibTrans" cxnId="{FFBA51E8-74C0-B349-A11F-7D7C80AF5885}">
      <dgm:prSet/>
      <dgm:spPr/>
      <dgm:t>
        <a:bodyPr/>
        <a:lstStyle/>
        <a:p>
          <a:endParaRPr lang="en-GB"/>
        </a:p>
      </dgm:t>
    </dgm:pt>
    <dgm:pt modelId="{A02E5933-E3D3-B542-B9F7-919ACD35D7DE}">
      <dgm:prSet custT="1"/>
      <dgm:spPr/>
      <dgm:t>
        <a:bodyPr/>
        <a:lstStyle/>
        <a:p>
          <a:r>
            <a:rPr lang="en-MY" sz="1600" dirty="0"/>
            <a:t>Process Specification Format</a:t>
          </a:r>
          <a:endParaRPr lang="en-MY" sz="1400" dirty="0"/>
        </a:p>
      </dgm:t>
    </dgm:pt>
    <dgm:pt modelId="{39998306-5673-6442-B01F-EFEB444C6792}" type="parTrans" cxnId="{41E756DF-582C-2C46-9E3C-34F1E3E2F7DA}">
      <dgm:prSet/>
      <dgm:spPr/>
    </dgm:pt>
    <dgm:pt modelId="{BC58E351-49C8-5A49-BC2A-628B52B0564D}" type="sibTrans" cxnId="{41E756DF-582C-2C46-9E3C-34F1E3E2F7DA}">
      <dgm:prSet/>
      <dgm:spPr/>
    </dgm:pt>
    <dgm:pt modelId="{9403BA41-611A-FA42-8804-EA979A74D0A5}" type="pres">
      <dgm:prSet presAssocID="{66E13D44-AA4E-B140-965B-FB71BC866BAD}" presName="Name0" presStyleCnt="0">
        <dgm:presLayoutVars>
          <dgm:dir/>
          <dgm:animLvl val="lvl"/>
          <dgm:resizeHandles val="exact"/>
        </dgm:presLayoutVars>
      </dgm:prSet>
      <dgm:spPr/>
    </dgm:pt>
    <dgm:pt modelId="{267EA5D5-E941-8541-9A49-9B5A3E7AA808}" type="pres">
      <dgm:prSet presAssocID="{525FF7B7-45DF-FA40-BA8F-C3AA0B2AD2CA}" presName="linNode" presStyleCnt="0"/>
      <dgm:spPr/>
    </dgm:pt>
    <dgm:pt modelId="{3E0D387A-B967-1140-8AD6-3ED717D320AA}" type="pres">
      <dgm:prSet presAssocID="{525FF7B7-45DF-FA40-BA8F-C3AA0B2AD2CA}" presName="parentText" presStyleLbl="node1" presStyleIdx="0" presStyleCnt="4">
        <dgm:presLayoutVars>
          <dgm:chMax val="1"/>
          <dgm:bulletEnabled val="1"/>
        </dgm:presLayoutVars>
      </dgm:prSet>
      <dgm:spPr/>
    </dgm:pt>
    <dgm:pt modelId="{8C44A406-9567-204D-9E84-60F98F7D9983}" type="pres">
      <dgm:prSet presAssocID="{525FF7B7-45DF-FA40-BA8F-C3AA0B2AD2CA}" presName="descendantText" presStyleLbl="alignAccFollowNode1" presStyleIdx="0" presStyleCnt="4">
        <dgm:presLayoutVars>
          <dgm:bulletEnabled val="1"/>
        </dgm:presLayoutVars>
      </dgm:prSet>
      <dgm:spPr/>
    </dgm:pt>
    <dgm:pt modelId="{D29D6126-FEF5-D943-B195-03050CF36A5D}" type="pres">
      <dgm:prSet presAssocID="{FBB7AF22-E434-544A-BCC1-0E1B0B2AC122}" presName="sp" presStyleCnt="0"/>
      <dgm:spPr/>
    </dgm:pt>
    <dgm:pt modelId="{FFECDE15-43EA-BD48-9814-7BB57CB3D4EA}" type="pres">
      <dgm:prSet presAssocID="{29CA0E37-B777-1B45-8D42-5505C7EF4DD6}" presName="linNode" presStyleCnt="0"/>
      <dgm:spPr/>
    </dgm:pt>
    <dgm:pt modelId="{0F5C74DA-8593-D54A-8A8A-E5B629D54B1F}" type="pres">
      <dgm:prSet presAssocID="{29CA0E37-B777-1B45-8D42-5505C7EF4DD6}" presName="parentText" presStyleLbl="node1" presStyleIdx="1" presStyleCnt="4">
        <dgm:presLayoutVars>
          <dgm:chMax val="1"/>
          <dgm:bulletEnabled val="1"/>
        </dgm:presLayoutVars>
      </dgm:prSet>
      <dgm:spPr/>
    </dgm:pt>
    <dgm:pt modelId="{30D41C04-0840-D141-A88D-FA44AB020792}" type="pres">
      <dgm:prSet presAssocID="{29CA0E37-B777-1B45-8D42-5505C7EF4DD6}" presName="descendantText" presStyleLbl="alignAccFollowNode1" presStyleIdx="1" presStyleCnt="4">
        <dgm:presLayoutVars>
          <dgm:bulletEnabled val="1"/>
        </dgm:presLayoutVars>
      </dgm:prSet>
      <dgm:spPr/>
    </dgm:pt>
    <dgm:pt modelId="{3629FC86-0326-9246-B9D9-79ACBCB14890}" type="pres">
      <dgm:prSet presAssocID="{A5EB22FF-A85E-764D-B3B3-B399B012CDCD}" presName="sp" presStyleCnt="0"/>
      <dgm:spPr/>
    </dgm:pt>
    <dgm:pt modelId="{CBF80E1D-D967-C84E-9C4F-F8CD0EAB51C7}" type="pres">
      <dgm:prSet presAssocID="{41FBE87C-157B-214E-87C9-6A1C7ED7FE03}" presName="linNode" presStyleCnt="0"/>
      <dgm:spPr/>
    </dgm:pt>
    <dgm:pt modelId="{282AF86B-5651-D740-B3E2-314500A8BB47}" type="pres">
      <dgm:prSet presAssocID="{41FBE87C-157B-214E-87C9-6A1C7ED7FE03}" presName="parentText" presStyleLbl="node1" presStyleIdx="2" presStyleCnt="4">
        <dgm:presLayoutVars>
          <dgm:chMax val="1"/>
          <dgm:bulletEnabled val="1"/>
        </dgm:presLayoutVars>
      </dgm:prSet>
      <dgm:spPr/>
    </dgm:pt>
    <dgm:pt modelId="{0EF433D6-DF43-904C-ADEA-ABBA75D6F29B}" type="pres">
      <dgm:prSet presAssocID="{41FBE87C-157B-214E-87C9-6A1C7ED7FE03}" presName="descendantText" presStyleLbl="alignAccFollowNode1" presStyleIdx="2" presStyleCnt="4">
        <dgm:presLayoutVars>
          <dgm:bulletEnabled val="1"/>
        </dgm:presLayoutVars>
      </dgm:prSet>
      <dgm:spPr/>
    </dgm:pt>
    <dgm:pt modelId="{E676D133-1316-8A48-8FE5-779C6E66808D}" type="pres">
      <dgm:prSet presAssocID="{9155D718-1FC1-3F4D-8F2E-781E49A169FF}" presName="sp" presStyleCnt="0"/>
      <dgm:spPr/>
    </dgm:pt>
    <dgm:pt modelId="{5B637FEF-DBFD-144E-B2DA-3A78912900E0}" type="pres">
      <dgm:prSet presAssocID="{F0CD8126-DF69-044D-8321-9A7AAC9DA219}" presName="linNode" presStyleCnt="0"/>
      <dgm:spPr/>
    </dgm:pt>
    <dgm:pt modelId="{2A2F2156-6F36-B44D-9174-4EC39F8EF16B}" type="pres">
      <dgm:prSet presAssocID="{F0CD8126-DF69-044D-8321-9A7AAC9DA219}" presName="parentText" presStyleLbl="node1" presStyleIdx="3" presStyleCnt="4">
        <dgm:presLayoutVars>
          <dgm:chMax val="1"/>
          <dgm:bulletEnabled val="1"/>
        </dgm:presLayoutVars>
      </dgm:prSet>
      <dgm:spPr/>
    </dgm:pt>
    <dgm:pt modelId="{60AF7BA2-3545-794D-882C-200AB1AA0136}" type="pres">
      <dgm:prSet presAssocID="{F0CD8126-DF69-044D-8321-9A7AAC9DA219}" presName="descendantText" presStyleLbl="alignAccFollowNode1" presStyleIdx="3" presStyleCnt="4">
        <dgm:presLayoutVars>
          <dgm:bulletEnabled val="1"/>
        </dgm:presLayoutVars>
      </dgm:prSet>
      <dgm:spPr/>
    </dgm:pt>
  </dgm:ptLst>
  <dgm:cxnLst>
    <dgm:cxn modelId="{E56BFB11-13A2-9541-9223-50A532F17137}" srcId="{525FF7B7-45DF-FA40-BA8F-C3AA0B2AD2CA}" destId="{B5312C67-4CEB-F44F-93A5-C85C710C92C2}" srcOrd="0" destOrd="0" parTransId="{08BB4462-F9A0-2E43-86E2-245A04C35B81}" sibTransId="{E2D2852E-EFA8-234E-A822-0111B55231E7}"/>
    <dgm:cxn modelId="{FFB0AE32-CF15-5745-8599-ECE019450E17}" type="presOf" srcId="{F0CD8126-DF69-044D-8321-9A7AAC9DA219}" destId="{2A2F2156-6F36-B44D-9174-4EC39F8EF16B}" srcOrd="0" destOrd="0" presId="urn:microsoft.com/office/officeart/2005/8/layout/vList5"/>
    <dgm:cxn modelId="{E02A8B33-3DFE-7244-9FF0-0D48E78C6C88}" type="presOf" srcId="{29CA0E37-B777-1B45-8D42-5505C7EF4DD6}" destId="{0F5C74DA-8593-D54A-8A8A-E5B629D54B1F}" srcOrd="0" destOrd="0" presId="urn:microsoft.com/office/officeart/2005/8/layout/vList5"/>
    <dgm:cxn modelId="{4DDF0341-BA2C-514E-8777-C73F5E008F80}" type="presOf" srcId="{278430BC-0451-B545-A790-C921DC9DDBC0}" destId="{60AF7BA2-3545-794D-882C-200AB1AA0136}" srcOrd="0" destOrd="0" presId="urn:microsoft.com/office/officeart/2005/8/layout/vList5"/>
    <dgm:cxn modelId="{5A56B747-AE64-4B4E-96CA-72F403951E9A}" srcId="{66E13D44-AA4E-B140-965B-FB71BC866BAD}" destId="{29CA0E37-B777-1B45-8D42-5505C7EF4DD6}" srcOrd="1" destOrd="0" parTransId="{4050C5FE-8BDA-0C4E-94B9-599367D9D16D}" sibTransId="{A5EB22FF-A85E-764D-B3B3-B399B012CDCD}"/>
    <dgm:cxn modelId="{4BD8834B-8014-7D40-B82B-0B10D59F4C4E}" type="presOf" srcId="{41FBE87C-157B-214E-87C9-6A1C7ED7FE03}" destId="{282AF86B-5651-D740-B3E2-314500A8BB47}" srcOrd="0" destOrd="0" presId="urn:microsoft.com/office/officeart/2005/8/layout/vList5"/>
    <dgm:cxn modelId="{6A891B55-669D-4243-B528-3201E49C598D}" srcId="{66E13D44-AA4E-B140-965B-FB71BC866BAD}" destId="{525FF7B7-45DF-FA40-BA8F-C3AA0B2AD2CA}" srcOrd="0" destOrd="0" parTransId="{44614C75-33C9-1346-AE33-01AF9E91DA71}" sibTransId="{FBB7AF22-E434-544A-BCC1-0E1B0B2AC122}"/>
    <dgm:cxn modelId="{5F7DCF59-355F-EE45-88D9-481F00CCC8FF}" type="presOf" srcId="{B6695AE6-BBD2-9441-8278-405325F3463D}" destId="{30D41C04-0840-D141-A88D-FA44AB020792}" srcOrd="0" destOrd="0" presId="urn:microsoft.com/office/officeart/2005/8/layout/vList5"/>
    <dgm:cxn modelId="{1E5DC76E-C8A3-6B43-9AF3-DF9E705ED992}" srcId="{66E13D44-AA4E-B140-965B-FB71BC866BAD}" destId="{F0CD8126-DF69-044D-8321-9A7AAC9DA219}" srcOrd="3" destOrd="0" parTransId="{731A2FAB-9C2C-4F40-A3A2-9E5F0F5D758A}" sibTransId="{9443BB85-003E-5440-B40A-9AB532EBDB6B}"/>
    <dgm:cxn modelId="{5B127372-A974-D54E-ABAB-CC45AABEE999}" srcId="{66E13D44-AA4E-B140-965B-FB71BC866BAD}" destId="{41FBE87C-157B-214E-87C9-6A1C7ED7FE03}" srcOrd="2" destOrd="0" parTransId="{D4BA1163-1DCF-D34A-82C1-EBE08534E676}" sibTransId="{9155D718-1FC1-3F4D-8F2E-781E49A169FF}"/>
    <dgm:cxn modelId="{C7E80073-C806-B148-82E8-9E834E178DFE}" type="presOf" srcId="{525FF7B7-45DF-FA40-BA8F-C3AA0B2AD2CA}" destId="{3E0D387A-B967-1140-8AD6-3ED717D320AA}" srcOrd="0" destOrd="0" presId="urn:microsoft.com/office/officeart/2005/8/layout/vList5"/>
    <dgm:cxn modelId="{A95A8774-DB95-994E-963A-93A2A00FE51A}" srcId="{29CA0E37-B777-1B45-8D42-5505C7EF4DD6}" destId="{967A1BCE-145A-8245-AFDC-BDD8AAD77A95}" srcOrd="1" destOrd="0" parTransId="{389EC7EB-5C34-414F-98C7-6586EBDCAF77}" sibTransId="{8CDB7424-7461-C848-825B-5F635DC5EBFC}"/>
    <dgm:cxn modelId="{600A957D-D0E7-9A4D-A4C3-6061F6EB0A05}" srcId="{29CA0E37-B777-1B45-8D42-5505C7EF4DD6}" destId="{B6695AE6-BBD2-9441-8278-405325F3463D}" srcOrd="0" destOrd="0" parTransId="{F4DE0E6C-6746-464D-978D-6433814E1070}" sibTransId="{B1D92EC7-D55B-3347-BB0C-185AAA5D4CB0}"/>
    <dgm:cxn modelId="{37194984-C065-F84B-8E12-A56782412C4D}" type="presOf" srcId="{7DE22736-7EC1-2E43-A8E5-23F32D4E6111}" destId="{0EF433D6-DF43-904C-ADEA-ABBA75D6F29B}" srcOrd="0" destOrd="0" presId="urn:microsoft.com/office/officeart/2005/8/layout/vList5"/>
    <dgm:cxn modelId="{3C1E74A1-E982-BE4E-95E7-74A4E5B03A3C}" srcId="{41FBE87C-157B-214E-87C9-6A1C7ED7FE03}" destId="{7DE22736-7EC1-2E43-A8E5-23F32D4E6111}" srcOrd="0" destOrd="0" parTransId="{047BB41C-E133-3C40-889E-4A93E74DF886}" sibTransId="{B1564ADA-3472-A946-8F1A-385A1EDCDD45}"/>
    <dgm:cxn modelId="{B44465B3-51C7-1C40-9E70-8B95647CD15E}" type="presOf" srcId="{66E13D44-AA4E-B140-965B-FB71BC866BAD}" destId="{9403BA41-611A-FA42-8804-EA979A74D0A5}" srcOrd="0" destOrd="0" presId="urn:microsoft.com/office/officeart/2005/8/layout/vList5"/>
    <dgm:cxn modelId="{8D09E6C2-F454-3743-8EAD-79FBBDCA4BC6}" type="presOf" srcId="{B5312C67-4CEB-F44F-93A5-C85C710C92C2}" destId="{8C44A406-9567-204D-9E84-60F98F7D9983}" srcOrd="0" destOrd="0" presId="urn:microsoft.com/office/officeart/2005/8/layout/vList5"/>
    <dgm:cxn modelId="{980AE7D6-D78E-2941-B1B9-E05EEB5B4E94}" type="presOf" srcId="{A02E5933-E3D3-B542-B9F7-919ACD35D7DE}" destId="{8C44A406-9567-204D-9E84-60F98F7D9983}" srcOrd="0" destOrd="1" presId="urn:microsoft.com/office/officeart/2005/8/layout/vList5"/>
    <dgm:cxn modelId="{41E756DF-582C-2C46-9E3C-34F1E3E2F7DA}" srcId="{525FF7B7-45DF-FA40-BA8F-C3AA0B2AD2CA}" destId="{A02E5933-E3D3-B542-B9F7-919ACD35D7DE}" srcOrd="1" destOrd="0" parTransId="{39998306-5673-6442-B01F-EFEB444C6792}" sibTransId="{BC58E351-49C8-5A49-BC2A-628B52B0564D}"/>
    <dgm:cxn modelId="{FFBA51E8-74C0-B349-A11F-7D7C80AF5885}" srcId="{F0CD8126-DF69-044D-8321-9A7AAC9DA219}" destId="{278430BC-0451-B545-A790-C921DC9DDBC0}" srcOrd="0" destOrd="0" parTransId="{73530220-1817-134A-B1F1-6EB489E5450C}" sibTransId="{315BB7FE-260C-0B45-B24B-718D46E2F28D}"/>
    <dgm:cxn modelId="{3A69CCF8-D463-D948-BECC-30A032680D83}" type="presOf" srcId="{967A1BCE-145A-8245-AFDC-BDD8AAD77A95}" destId="{30D41C04-0840-D141-A88D-FA44AB020792}" srcOrd="0" destOrd="1" presId="urn:microsoft.com/office/officeart/2005/8/layout/vList5"/>
    <dgm:cxn modelId="{95C59005-5123-3E47-9B14-AEAE4E33C8A4}" type="presParOf" srcId="{9403BA41-611A-FA42-8804-EA979A74D0A5}" destId="{267EA5D5-E941-8541-9A49-9B5A3E7AA808}" srcOrd="0" destOrd="0" presId="urn:microsoft.com/office/officeart/2005/8/layout/vList5"/>
    <dgm:cxn modelId="{8F93950F-D678-284C-AD27-6B3A5D52111D}" type="presParOf" srcId="{267EA5D5-E941-8541-9A49-9B5A3E7AA808}" destId="{3E0D387A-B967-1140-8AD6-3ED717D320AA}" srcOrd="0" destOrd="0" presId="urn:microsoft.com/office/officeart/2005/8/layout/vList5"/>
    <dgm:cxn modelId="{9727BAD8-B833-5B4E-B043-2C06B623633A}" type="presParOf" srcId="{267EA5D5-E941-8541-9A49-9B5A3E7AA808}" destId="{8C44A406-9567-204D-9E84-60F98F7D9983}" srcOrd="1" destOrd="0" presId="urn:microsoft.com/office/officeart/2005/8/layout/vList5"/>
    <dgm:cxn modelId="{656ACA59-E023-364F-9E43-81FE8D7CF41B}" type="presParOf" srcId="{9403BA41-611A-FA42-8804-EA979A74D0A5}" destId="{D29D6126-FEF5-D943-B195-03050CF36A5D}" srcOrd="1" destOrd="0" presId="urn:microsoft.com/office/officeart/2005/8/layout/vList5"/>
    <dgm:cxn modelId="{B00F0DBE-D9A6-1343-AEB6-0884DB3FBD6E}" type="presParOf" srcId="{9403BA41-611A-FA42-8804-EA979A74D0A5}" destId="{FFECDE15-43EA-BD48-9814-7BB57CB3D4EA}" srcOrd="2" destOrd="0" presId="urn:microsoft.com/office/officeart/2005/8/layout/vList5"/>
    <dgm:cxn modelId="{BFD2B0FF-E067-544A-985A-CCF976943180}" type="presParOf" srcId="{FFECDE15-43EA-BD48-9814-7BB57CB3D4EA}" destId="{0F5C74DA-8593-D54A-8A8A-E5B629D54B1F}" srcOrd="0" destOrd="0" presId="urn:microsoft.com/office/officeart/2005/8/layout/vList5"/>
    <dgm:cxn modelId="{6721DA2B-F92E-2C40-AB15-A7F4019EB3DB}" type="presParOf" srcId="{FFECDE15-43EA-BD48-9814-7BB57CB3D4EA}" destId="{30D41C04-0840-D141-A88D-FA44AB020792}" srcOrd="1" destOrd="0" presId="urn:microsoft.com/office/officeart/2005/8/layout/vList5"/>
    <dgm:cxn modelId="{99D7267C-091C-FE47-956E-A45D1CBD71F7}" type="presParOf" srcId="{9403BA41-611A-FA42-8804-EA979A74D0A5}" destId="{3629FC86-0326-9246-B9D9-79ACBCB14890}" srcOrd="3" destOrd="0" presId="urn:microsoft.com/office/officeart/2005/8/layout/vList5"/>
    <dgm:cxn modelId="{2CAD2E9F-7C2C-2D48-91C0-B4CBBEEBABDE}" type="presParOf" srcId="{9403BA41-611A-FA42-8804-EA979A74D0A5}" destId="{CBF80E1D-D967-C84E-9C4F-F8CD0EAB51C7}" srcOrd="4" destOrd="0" presId="urn:microsoft.com/office/officeart/2005/8/layout/vList5"/>
    <dgm:cxn modelId="{BC55CD20-0A0C-C543-9370-48FBC63A2A2C}" type="presParOf" srcId="{CBF80E1D-D967-C84E-9C4F-F8CD0EAB51C7}" destId="{282AF86B-5651-D740-B3E2-314500A8BB47}" srcOrd="0" destOrd="0" presId="urn:microsoft.com/office/officeart/2005/8/layout/vList5"/>
    <dgm:cxn modelId="{EEE3A6C8-0333-234B-8223-A3589D9A0E2E}" type="presParOf" srcId="{CBF80E1D-D967-C84E-9C4F-F8CD0EAB51C7}" destId="{0EF433D6-DF43-904C-ADEA-ABBA75D6F29B}" srcOrd="1" destOrd="0" presId="urn:microsoft.com/office/officeart/2005/8/layout/vList5"/>
    <dgm:cxn modelId="{E875DD97-6DB2-4640-99A5-E65F4D3874C8}" type="presParOf" srcId="{9403BA41-611A-FA42-8804-EA979A74D0A5}" destId="{E676D133-1316-8A48-8FE5-779C6E66808D}" srcOrd="5" destOrd="0" presId="urn:microsoft.com/office/officeart/2005/8/layout/vList5"/>
    <dgm:cxn modelId="{DA800196-A06E-6E4B-8E07-65E4E9DC7747}" type="presParOf" srcId="{9403BA41-611A-FA42-8804-EA979A74D0A5}" destId="{5B637FEF-DBFD-144E-B2DA-3A78912900E0}" srcOrd="6" destOrd="0" presId="urn:microsoft.com/office/officeart/2005/8/layout/vList5"/>
    <dgm:cxn modelId="{24A96C4D-3882-E640-A0D9-089A1980D38E}" type="presParOf" srcId="{5B637FEF-DBFD-144E-B2DA-3A78912900E0}" destId="{2A2F2156-6F36-B44D-9174-4EC39F8EF16B}" srcOrd="0" destOrd="0" presId="urn:microsoft.com/office/officeart/2005/8/layout/vList5"/>
    <dgm:cxn modelId="{EEB96AFC-D50F-5C4A-A702-E30FDBF69854}" type="presParOf" srcId="{5B637FEF-DBFD-144E-B2DA-3A78912900E0}" destId="{60AF7BA2-3545-794D-882C-200AB1AA013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E13D44-AA4E-B140-965B-FB71BC866BAD}"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GB"/>
        </a:p>
      </dgm:t>
    </dgm:pt>
    <dgm:pt modelId="{525FF7B7-45DF-FA40-BA8F-C3AA0B2AD2CA}">
      <dgm:prSet/>
      <dgm:spPr/>
      <dgm:t>
        <a:bodyPr/>
        <a:lstStyle/>
        <a:p>
          <a:r>
            <a:rPr lang="en-MY" b="1" dirty="0"/>
            <a:t>PROCESS SPECIFICATION</a:t>
          </a:r>
        </a:p>
      </dgm:t>
    </dgm:pt>
    <dgm:pt modelId="{44614C75-33C9-1346-AE33-01AF9E91DA71}" type="parTrans" cxnId="{6A891B55-669D-4243-B528-3201E49C598D}">
      <dgm:prSet/>
      <dgm:spPr/>
      <dgm:t>
        <a:bodyPr/>
        <a:lstStyle/>
        <a:p>
          <a:endParaRPr lang="en-GB"/>
        </a:p>
      </dgm:t>
    </dgm:pt>
    <dgm:pt modelId="{FBB7AF22-E434-544A-BCC1-0E1B0B2AC122}" type="sibTrans" cxnId="{6A891B55-669D-4243-B528-3201E49C598D}">
      <dgm:prSet/>
      <dgm:spPr/>
      <dgm:t>
        <a:bodyPr/>
        <a:lstStyle/>
        <a:p>
          <a:endParaRPr lang="en-GB"/>
        </a:p>
      </dgm:t>
    </dgm:pt>
    <dgm:pt modelId="{B5312C67-4CEB-F44F-93A5-C85C710C92C2}">
      <dgm:prSet custT="1"/>
      <dgm:spPr/>
      <dgm:t>
        <a:bodyPr/>
        <a:lstStyle/>
        <a:p>
          <a:r>
            <a:rPr lang="en-MY" sz="2800" dirty="0"/>
            <a:t>Goals</a:t>
          </a:r>
        </a:p>
      </dgm:t>
    </dgm:pt>
    <dgm:pt modelId="{08BB4462-F9A0-2E43-86E2-245A04C35B81}" type="parTrans" cxnId="{E56BFB11-13A2-9541-9223-50A532F17137}">
      <dgm:prSet/>
      <dgm:spPr/>
      <dgm:t>
        <a:bodyPr/>
        <a:lstStyle/>
        <a:p>
          <a:endParaRPr lang="en-GB"/>
        </a:p>
      </dgm:t>
    </dgm:pt>
    <dgm:pt modelId="{E2D2852E-EFA8-234E-A822-0111B55231E7}" type="sibTrans" cxnId="{E56BFB11-13A2-9541-9223-50A532F17137}">
      <dgm:prSet/>
      <dgm:spPr/>
      <dgm:t>
        <a:bodyPr/>
        <a:lstStyle/>
        <a:p>
          <a:endParaRPr lang="en-GB"/>
        </a:p>
      </dgm:t>
    </dgm:pt>
    <dgm:pt modelId="{27D4C289-2C43-8348-A08D-F8E751585A4E}">
      <dgm:prSet custT="1"/>
      <dgm:spPr/>
      <dgm:t>
        <a:bodyPr/>
        <a:lstStyle/>
        <a:p>
          <a:r>
            <a:rPr lang="en-US" sz="2800" dirty="0"/>
            <a:t>Business Rules</a:t>
          </a:r>
          <a:endParaRPr lang="en-MY" sz="2800" dirty="0"/>
        </a:p>
      </dgm:t>
    </dgm:pt>
    <dgm:pt modelId="{576181E8-7F6A-704E-8F55-C02B67673001}" type="parTrans" cxnId="{99222A9F-D73A-0549-8058-621B0EF0276A}">
      <dgm:prSet/>
      <dgm:spPr/>
      <dgm:t>
        <a:bodyPr/>
        <a:lstStyle/>
        <a:p>
          <a:endParaRPr lang="en-GB"/>
        </a:p>
      </dgm:t>
    </dgm:pt>
    <dgm:pt modelId="{F6F03FE2-D1AB-1742-A2CB-80CB25D60B52}" type="sibTrans" cxnId="{99222A9F-D73A-0549-8058-621B0EF0276A}">
      <dgm:prSet/>
      <dgm:spPr/>
      <dgm:t>
        <a:bodyPr/>
        <a:lstStyle/>
        <a:p>
          <a:endParaRPr lang="en-GB"/>
        </a:p>
      </dgm:t>
    </dgm:pt>
    <dgm:pt modelId="{A02E5933-E3D3-B542-B9F7-919ACD35D7DE}">
      <dgm:prSet custT="1"/>
      <dgm:spPr/>
      <dgm:t>
        <a:bodyPr/>
        <a:lstStyle/>
        <a:p>
          <a:r>
            <a:rPr lang="en-MY" sz="2800" dirty="0"/>
            <a:t>Process Specification Format</a:t>
          </a:r>
        </a:p>
      </dgm:t>
    </dgm:pt>
    <dgm:pt modelId="{39998306-5673-6442-B01F-EFEB444C6792}" type="parTrans" cxnId="{41E756DF-582C-2C46-9E3C-34F1E3E2F7DA}">
      <dgm:prSet/>
      <dgm:spPr/>
      <dgm:t>
        <a:bodyPr/>
        <a:lstStyle/>
        <a:p>
          <a:endParaRPr lang="en-GB"/>
        </a:p>
      </dgm:t>
    </dgm:pt>
    <dgm:pt modelId="{BC58E351-49C8-5A49-BC2A-628B52B0564D}" type="sibTrans" cxnId="{41E756DF-582C-2C46-9E3C-34F1E3E2F7DA}">
      <dgm:prSet/>
      <dgm:spPr/>
      <dgm:t>
        <a:bodyPr/>
        <a:lstStyle/>
        <a:p>
          <a:endParaRPr lang="en-GB"/>
        </a:p>
      </dgm:t>
    </dgm:pt>
    <dgm:pt modelId="{9403BA41-611A-FA42-8804-EA979A74D0A5}" type="pres">
      <dgm:prSet presAssocID="{66E13D44-AA4E-B140-965B-FB71BC866BAD}" presName="Name0" presStyleCnt="0">
        <dgm:presLayoutVars>
          <dgm:dir/>
          <dgm:animLvl val="lvl"/>
          <dgm:resizeHandles val="exact"/>
        </dgm:presLayoutVars>
      </dgm:prSet>
      <dgm:spPr/>
    </dgm:pt>
    <dgm:pt modelId="{267EA5D5-E941-8541-9A49-9B5A3E7AA808}" type="pres">
      <dgm:prSet presAssocID="{525FF7B7-45DF-FA40-BA8F-C3AA0B2AD2CA}" presName="linNode" presStyleCnt="0"/>
      <dgm:spPr/>
    </dgm:pt>
    <dgm:pt modelId="{3E0D387A-B967-1140-8AD6-3ED717D320AA}" type="pres">
      <dgm:prSet presAssocID="{525FF7B7-45DF-FA40-BA8F-C3AA0B2AD2CA}" presName="parentText" presStyleLbl="node1" presStyleIdx="0" presStyleCnt="1">
        <dgm:presLayoutVars>
          <dgm:chMax val="1"/>
          <dgm:bulletEnabled val="1"/>
        </dgm:presLayoutVars>
      </dgm:prSet>
      <dgm:spPr/>
    </dgm:pt>
    <dgm:pt modelId="{8C44A406-9567-204D-9E84-60F98F7D9983}" type="pres">
      <dgm:prSet presAssocID="{525FF7B7-45DF-FA40-BA8F-C3AA0B2AD2CA}" presName="descendantText" presStyleLbl="alignAccFollowNode1" presStyleIdx="0" presStyleCnt="1">
        <dgm:presLayoutVars>
          <dgm:bulletEnabled val="1"/>
        </dgm:presLayoutVars>
      </dgm:prSet>
      <dgm:spPr/>
    </dgm:pt>
  </dgm:ptLst>
  <dgm:cxnLst>
    <dgm:cxn modelId="{E56BFB11-13A2-9541-9223-50A532F17137}" srcId="{525FF7B7-45DF-FA40-BA8F-C3AA0B2AD2CA}" destId="{B5312C67-4CEB-F44F-93A5-C85C710C92C2}" srcOrd="0" destOrd="0" parTransId="{08BB4462-F9A0-2E43-86E2-245A04C35B81}" sibTransId="{E2D2852E-EFA8-234E-A822-0111B55231E7}"/>
    <dgm:cxn modelId="{35EDA924-17F1-6E4D-9EF3-33CFDEA0B23B}" type="presOf" srcId="{27D4C289-2C43-8348-A08D-F8E751585A4E}" destId="{8C44A406-9567-204D-9E84-60F98F7D9983}" srcOrd="0" destOrd="1" presId="urn:microsoft.com/office/officeart/2005/8/layout/vList5"/>
    <dgm:cxn modelId="{6A891B55-669D-4243-B528-3201E49C598D}" srcId="{66E13D44-AA4E-B140-965B-FB71BC866BAD}" destId="{525FF7B7-45DF-FA40-BA8F-C3AA0B2AD2CA}" srcOrd="0" destOrd="0" parTransId="{44614C75-33C9-1346-AE33-01AF9E91DA71}" sibTransId="{FBB7AF22-E434-544A-BCC1-0E1B0B2AC122}"/>
    <dgm:cxn modelId="{C7E80073-C806-B148-82E8-9E834E178DFE}" type="presOf" srcId="{525FF7B7-45DF-FA40-BA8F-C3AA0B2AD2CA}" destId="{3E0D387A-B967-1140-8AD6-3ED717D320AA}" srcOrd="0" destOrd="0" presId="urn:microsoft.com/office/officeart/2005/8/layout/vList5"/>
    <dgm:cxn modelId="{99222A9F-D73A-0549-8058-621B0EF0276A}" srcId="{525FF7B7-45DF-FA40-BA8F-C3AA0B2AD2CA}" destId="{27D4C289-2C43-8348-A08D-F8E751585A4E}" srcOrd="1" destOrd="0" parTransId="{576181E8-7F6A-704E-8F55-C02B67673001}" sibTransId="{F6F03FE2-D1AB-1742-A2CB-80CB25D60B52}"/>
    <dgm:cxn modelId="{B44465B3-51C7-1C40-9E70-8B95647CD15E}" type="presOf" srcId="{66E13D44-AA4E-B140-965B-FB71BC866BAD}" destId="{9403BA41-611A-FA42-8804-EA979A74D0A5}" srcOrd="0" destOrd="0" presId="urn:microsoft.com/office/officeart/2005/8/layout/vList5"/>
    <dgm:cxn modelId="{8D09E6C2-F454-3743-8EAD-79FBBDCA4BC6}" type="presOf" srcId="{B5312C67-4CEB-F44F-93A5-C85C710C92C2}" destId="{8C44A406-9567-204D-9E84-60F98F7D9983}" srcOrd="0" destOrd="0" presId="urn:microsoft.com/office/officeart/2005/8/layout/vList5"/>
    <dgm:cxn modelId="{980AE7D6-D78E-2941-B1B9-E05EEB5B4E94}" type="presOf" srcId="{A02E5933-E3D3-B542-B9F7-919ACD35D7DE}" destId="{8C44A406-9567-204D-9E84-60F98F7D9983}" srcOrd="0" destOrd="2" presId="urn:microsoft.com/office/officeart/2005/8/layout/vList5"/>
    <dgm:cxn modelId="{41E756DF-582C-2C46-9E3C-34F1E3E2F7DA}" srcId="{525FF7B7-45DF-FA40-BA8F-C3AA0B2AD2CA}" destId="{A02E5933-E3D3-B542-B9F7-919ACD35D7DE}" srcOrd="2" destOrd="0" parTransId="{39998306-5673-6442-B01F-EFEB444C6792}" sibTransId="{BC58E351-49C8-5A49-BC2A-628B52B0564D}"/>
    <dgm:cxn modelId="{95C59005-5123-3E47-9B14-AEAE4E33C8A4}" type="presParOf" srcId="{9403BA41-611A-FA42-8804-EA979A74D0A5}" destId="{267EA5D5-E941-8541-9A49-9B5A3E7AA808}" srcOrd="0" destOrd="0" presId="urn:microsoft.com/office/officeart/2005/8/layout/vList5"/>
    <dgm:cxn modelId="{8F93950F-D678-284C-AD27-6B3A5D52111D}" type="presParOf" srcId="{267EA5D5-E941-8541-9A49-9B5A3E7AA808}" destId="{3E0D387A-B967-1140-8AD6-3ED717D320AA}" srcOrd="0" destOrd="0" presId="urn:microsoft.com/office/officeart/2005/8/layout/vList5"/>
    <dgm:cxn modelId="{9727BAD8-B833-5B4E-B043-2C06B623633A}" type="presParOf" srcId="{267EA5D5-E941-8541-9A49-9B5A3E7AA808}" destId="{8C44A406-9567-204D-9E84-60F98F7D998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6E13D44-AA4E-B140-965B-FB71BC866BAD}"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GB"/>
        </a:p>
      </dgm:t>
    </dgm:pt>
    <dgm:pt modelId="{525FF7B7-45DF-FA40-BA8F-C3AA0B2AD2CA}">
      <dgm:prSet custT="1"/>
      <dgm:spPr>
        <a:solidFill>
          <a:srgbClr val="AC770D"/>
        </a:solidFill>
      </dgm:spPr>
      <dgm:t>
        <a:bodyPr/>
        <a:lstStyle/>
        <a:p>
          <a:r>
            <a:rPr lang="en-MY" sz="4400" b="1" dirty="0"/>
            <a:t>STRUCTURED ENGLISH</a:t>
          </a:r>
        </a:p>
      </dgm:t>
    </dgm:pt>
    <dgm:pt modelId="{44614C75-33C9-1346-AE33-01AF9E91DA71}" type="parTrans" cxnId="{6A891B55-669D-4243-B528-3201E49C598D}">
      <dgm:prSet/>
      <dgm:spPr/>
      <dgm:t>
        <a:bodyPr/>
        <a:lstStyle/>
        <a:p>
          <a:endParaRPr lang="en-GB"/>
        </a:p>
      </dgm:t>
    </dgm:pt>
    <dgm:pt modelId="{FBB7AF22-E434-544A-BCC1-0E1B0B2AC122}" type="sibTrans" cxnId="{6A891B55-669D-4243-B528-3201E49C598D}">
      <dgm:prSet/>
      <dgm:spPr/>
      <dgm:t>
        <a:bodyPr/>
        <a:lstStyle/>
        <a:p>
          <a:endParaRPr lang="en-GB"/>
        </a:p>
      </dgm:t>
    </dgm:pt>
    <dgm:pt modelId="{B5312C67-4CEB-F44F-93A5-C85C710C92C2}">
      <dgm:prSet custT="1"/>
      <dgm:spPr>
        <a:solidFill>
          <a:srgbClr val="EEDDB9">
            <a:alpha val="90000"/>
          </a:srgbClr>
        </a:solidFill>
      </dgm:spPr>
      <dgm:t>
        <a:bodyPr/>
        <a:lstStyle/>
        <a:p>
          <a:r>
            <a:rPr lang="en-US" sz="2800" dirty="0"/>
            <a:t>Writing Structured English</a:t>
          </a:r>
          <a:endParaRPr lang="en-MY" sz="2800" dirty="0"/>
        </a:p>
      </dgm:t>
    </dgm:pt>
    <dgm:pt modelId="{08BB4462-F9A0-2E43-86E2-245A04C35B81}" type="parTrans" cxnId="{E56BFB11-13A2-9541-9223-50A532F17137}">
      <dgm:prSet/>
      <dgm:spPr/>
      <dgm:t>
        <a:bodyPr/>
        <a:lstStyle/>
        <a:p>
          <a:endParaRPr lang="en-GB"/>
        </a:p>
      </dgm:t>
    </dgm:pt>
    <dgm:pt modelId="{E2D2852E-EFA8-234E-A822-0111B55231E7}" type="sibTrans" cxnId="{E56BFB11-13A2-9541-9223-50A532F17137}">
      <dgm:prSet/>
      <dgm:spPr/>
      <dgm:t>
        <a:bodyPr/>
        <a:lstStyle/>
        <a:p>
          <a:endParaRPr lang="en-GB"/>
        </a:p>
      </dgm:t>
    </dgm:pt>
    <dgm:pt modelId="{46E15E3B-E9C7-BA49-8FEC-87D2E902EE7E}">
      <dgm:prSet custT="1"/>
      <dgm:spPr>
        <a:solidFill>
          <a:srgbClr val="EEDDB9">
            <a:alpha val="90000"/>
          </a:srgbClr>
        </a:solidFill>
      </dgm:spPr>
      <dgm:t>
        <a:bodyPr/>
        <a:lstStyle/>
        <a:p>
          <a:r>
            <a:rPr lang="en-MY" sz="2800" dirty="0"/>
            <a:t>Data Dictionary and Process Specification</a:t>
          </a:r>
        </a:p>
      </dgm:t>
    </dgm:pt>
    <dgm:pt modelId="{B0C5638E-6EFE-B14D-A883-C6827F0EE01E}" type="parTrans" cxnId="{41CB3FC4-0E69-A549-85C2-0938058B9EAD}">
      <dgm:prSet/>
      <dgm:spPr/>
      <dgm:t>
        <a:bodyPr/>
        <a:lstStyle/>
        <a:p>
          <a:endParaRPr lang="en-GB"/>
        </a:p>
      </dgm:t>
    </dgm:pt>
    <dgm:pt modelId="{D5199100-3175-4C43-9E25-15A4A8F954F0}" type="sibTrans" cxnId="{41CB3FC4-0E69-A549-85C2-0938058B9EAD}">
      <dgm:prSet/>
      <dgm:spPr/>
      <dgm:t>
        <a:bodyPr/>
        <a:lstStyle/>
        <a:p>
          <a:endParaRPr lang="en-GB"/>
        </a:p>
      </dgm:t>
    </dgm:pt>
    <dgm:pt modelId="{9403BA41-611A-FA42-8804-EA979A74D0A5}" type="pres">
      <dgm:prSet presAssocID="{66E13D44-AA4E-B140-965B-FB71BC866BAD}" presName="Name0" presStyleCnt="0">
        <dgm:presLayoutVars>
          <dgm:dir/>
          <dgm:animLvl val="lvl"/>
          <dgm:resizeHandles val="exact"/>
        </dgm:presLayoutVars>
      </dgm:prSet>
      <dgm:spPr/>
    </dgm:pt>
    <dgm:pt modelId="{267EA5D5-E941-8541-9A49-9B5A3E7AA808}" type="pres">
      <dgm:prSet presAssocID="{525FF7B7-45DF-FA40-BA8F-C3AA0B2AD2CA}" presName="linNode" presStyleCnt="0"/>
      <dgm:spPr/>
    </dgm:pt>
    <dgm:pt modelId="{3E0D387A-B967-1140-8AD6-3ED717D320AA}" type="pres">
      <dgm:prSet presAssocID="{525FF7B7-45DF-FA40-BA8F-C3AA0B2AD2CA}" presName="parentText" presStyleLbl="node1" presStyleIdx="0" presStyleCnt="1">
        <dgm:presLayoutVars>
          <dgm:chMax val="1"/>
          <dgm:bulletEnabled val="1"/>
        </dgm:presLayoutVars>
      </dgm:prSet>
      <dgm:spPr/>
    </dgm:pt>
    <dgm:pt modelId="{8C44A406-9567-204D-9E84-60F98F7D9983}" type="pres">
      <dgm:prSet presAssocID="{525FF7B7-45DF-FA40-BA8F-C3AA0B2AD2CA}" presName="descendantText" presStyleLbl="alignAccFollowNode1" presStyleIdx="0" presStyleCnt="1">
        <dgm:presLayoutVars>
          <dgm:bulletEnabled val="1"/>
        </dgm:presLayoutVars>
      </dgm:prSet>
      <dgm:spPr/>
    </dgm:pt>
  </dgm:ptLst>
  <dgm:cxnLst>
    <dgm:cxn modelId="{E56BFB11-13A2-9541-9223-50A532F17137}" srcId="{525FF7B7-45DF-FA40-BA8F-C3AA0B2AD2CA}" destId="{B5312C67-4CEB-F44F-93A5-C85C710C92C2}" srcOrd="0" destOrd="0" parTransId="{08BB4462-F9A0-2E43-86E2-245A04C35B81}" sibTransId="{E2D2852E-EFA8-234E-A822-0111B55231E7}"/>
    <dgm:cxn modelId="{6A891B55-669D-4243-B528-3201E49C598D}" srcId="{66E13D44-AA4E-B140-965B-FB71BC866BAD}" destId="{525FF7B7-45DF-FA40-BA8F-C3AA0B2AD2CA}" srcOrd="0" destOrd="0" parTransId="{44614C75-33C9-1346-AE33-01AF9E91DA71}" sibTransId="{FBB7AF22-E434-544A-BCC1-0E1B0B2AC122}"/>
    <dgm:cxn modelId="{C7E80073-C806-B148-82E8-9E834E178DFE}" type="presOf" srcId="{525FF7B7-45DF-FA40-BA8F-C3AA0B2AD2CA}" destId="{3E0D387A-B967-1140-8AD6-3ED717D320AA}" srcOrd="0" destOrd="0" presId="urn:microsoft.com/office/officeart/2005/8/layout/vList5"/>
    <dgm:cxn modelId="{B44465B3-51C7-1C40-9E70-8B95647CD15E}" type="presOf" srcId="{66E13D44-AA4E-B140-965B-FB71BC866BAD}" destId="{9403BA41-611A-FA42-8804-EA979A74D0A5}" srcOrd="0" destOrd="0" presId="urn:microsoft.com/office/officeart/2005/8/layout/vList5"/>
    <dgm:cxn modelId="{8D09E6C2-F454-3743-8EAD-79FBBDCA4BC6}" type="presOf" srcId="{B5312C67-4CEB-F44F-93A5-C85C710C92C2}" destId="{8C44A406-9567-204D-9E84-60F98F7D9983}" srcOrd="0" destOrd="0" presId="urn:microsoft.com/office/officeart/2005/8/layout/vList5"/>
    <dgm:cxn modelId="{41CB3FC4-0E69-A549-85C2-0938058B9EAD}" srcId="{525FF7B7-45DF-FA40-BA8F-C3AA0B2AD2CA}" destId="{46E15E3B-E9C7-BA49-8FEC-87D2E902EE7E}" srcOrd="1" destOrd="0" parTransId="{B0C5638E-6EFE-B14D-A883-C6827F0EE01E}" sibTransId="{D5199100-3175-4C43-9E25-15A4A8F954F0}"/>
    <dgm:cxn modelId="{4D968BFF-8506-3449-A781-3B61CC6E29B4}" type="presOf" srcId="{46E15E3B-E9C7-BA49-8FEC-87D2E902EE7E}" destId="{8C44A406-9567-204D-9E84-60F98F7D9983}" srcOrd="0" destOrd="1" presId="urn:microsoft.com/office/officeart/2005/8/layout/vList5"/>
    <dgm:cxn modelId="{95C59005-5123-3E47-9B14-AEAE4E33C8A4}" type="presParOf" srcId="{9403BA41-611A-FA42-8804-EA979A74D0A5}" destId="{267EA5D5-E941-8541-9A49-9B5A3E7AA808}" srcOrd="0" destOrd="0" presId="urn:microsoft.com/office/officeart/2005/8/layout/vList5"/>
    <dgm:cxn modelId="{8F93950F-D678-284C-AD27-6B3A5D52111D}" type="presParOf" srcId="{267EA5D5-E941-8541-9A49-9B5A3E7AA808}" destId="{3E0D387A-B967-1140-8AD6-3ED717D320AA}" srcOrd="0" destOrd="0" presId="urn:microsoft.com/office/officeart/2005/8/layout/vList5"/>
    <dgm:cxn modelId="{9727BAD8-B833-5B4E-B043-2C06B623633A}" type="presParOf" srcId="{267EA5D5-E941-8541-9A49-9B5A3E7AA808}" destId="{8C44A406-9567-204D-9E84-60F98F7D998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E13D44-AA4E-B140-965B-FB71BC866BAD}"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GB"/>
        </a:p>
      </dgm:t>
    </dgm:pt>
    <dgm:pt modelId="{525FF7B7-45DF-FA40-BA8F-C3AA0B2AD2CA}">
      <dgm:prSet custT="1"/>
      <dgm:spPr>
        <a:solidFill>
          <a:srgbClr val="AF5200"/>
        </a:solidFill>
      </dgm:spPr>
      <dgm:t>
        <a:bodyPr/>
        <a:lstStyle/>
        <a:p>
          <a:r>
            <a:rPr lang="en-MY" sz="4400" b="1" dirty="0"/>
            <a:t>DECISION TABLE</a:t>
          </a:r>
        </a:p>
      </dgm:t>
    </dgm:pt>
    <dgm:pt modelId="{44614C75-33C9-1346-AE33-01AF9E91DA71}" type="parTrans" cxnId="{6A891B55-669D-4243-B528-3201E49C598D}">
      <dgm:prSet/>
      <dgm:spPr/>
      <dgm:t>
        <a:bodyPr/>
        <a:lstStyle/>
        <a:p>
          <a:endParaRPr lang="en-GB"/>
        </a:p>
      </dgm:t>
    </dgm:pt>
    <dgm:pt modelId="{FBB7AF22-E434-544A-BCC1-0E1B0B2AC122}" type="sibTrans" cxnId="{6A891B55-669D-4243-B528-3201E49C598D}">
      <dgm:prSet/>
      <dgm:spPr/>
      <dgm:t>
        <a:bodyPr/>
        <a:lstStyle/>
        <a:p>
          <a:endParaRPr lang="en-GB"/>
        </a:p>
      </dgm:t>
    </dgm:pt>
    <dgm:pt modelId="{B5312C67-4CEB-F44F-93A5-C85C710C92C2}">
      <dgm:prSet custT="1"/>
      <dgm:spPr>
        <a:solidFill>
          <a:srgbClr val="F6D48D"/>
        </a:solidFill>
      </dgm:spPr>
      <dgm:t>
        <a:bodyPr/>
        <a:lstStyle/>
        <a:p>
          <a:r>
            <a:rPr lang="en-MY" sz="2800" dirty="0"/>
            <a:t>Developing Decision Table</a:t>
          </a:r>
        </a:p>
      </dgm:t>
    </dgm:pt>
    <dgm:pt modelId="{08BB4462-F9A0-2E43-86E2-245A04C35B81}" type="parTrans" cxnId="{E56BFB11-13A2-9541-9223-50A532F17137}">
      <dgm:prSet/>
      <dgm:spPr/>
      <dgm:t>
        <a:bodyPr/>
        <a:lstStyle/>
        <a:p>
          <a:endParaRPr lang="en-GB"/>
        </a:p>
      </dgm:t>
    </dgm:pt>
    <dgm:pt modelId="{E2D2852E-EFA8-234E-A822-0111B55231E7}" type="sibTrans" cxnId="{E56BFB11-13A2-9541-9223-50A532F17137}">
      <dgm:prSet/>
      <dgm:spPr/>
      <dgm:t>
        <a:bodyPr/>
        <a:lstStyle/>
        <a:p>
          <a:endParaRPr lang="en-GB"/>
        </a:p>
      </dgm:t>
    </dgm:pt>
    <dgm:pt modelId="{9403BA41-611A-FA42-8804-EA979A74D0A5}" type="pres">
      <dgm:prSet presAssocID="{66E13D44-AA4E-B140-965B-FB71BC866BAD}" presName="Name0" presStyleCnt="0">
        <dgm:presLayoutVars>
          <dgm:dir/>
          <dgm:animLvl val="lvl"/>
          <dgm:resizeHandles val="exact"/>
        </dgm:presLayoutVars>
      </dgm:prSet>
      <dgm:spPr/>
    </dgm:pt>
    <dgm:pt modelId="{267EA5D5-E941-8541-9A49-9B5A3E7AA808}" type="pres">
      <dgm:prSet presAssocID="{525FF7B7-45DF-FA40-BA8F-C3AA0B2AD2CA}" presName="linNode" presStyleCnt="0"/>
      <dgm:spPr/>
    </dgm:pt>
    <dgm:pt modelId="{3E0D387A-B967-1140-8AD6-3ED717D320AA}" type="pres">
      <dgm:prSet presAssocID="{525FF7B7-45DF-FA40-BA8F-C3AA0B2AD2CA}" presName="parentText" presStyleLbl="node1" presStyleIdx="0" presStyleCnt="1">
        <dgm:presLayoutVars>
          <dgm:chMax val="1"/>
          <dgm:bulletEnabled val="1"/>
        </dgm:presLayoutVars>
      </dgm:prSet>
      <dgm:spPr/>
    </dgm:pt>
    <dgm:pt modelId="{8C44A406-9567-204D-9E84-60F98F7D9983}" type="pres">
      <dgm:prSet presAssocID="{525FF7B7-45DF-FA40-BA8F-C3AA0B2AD2CA}" presName="descendantText" presStyleLbl="alignAccFollowNode1" presStyleIdx="0" presStyleCnt="1">
        <dgm:presLayoutVars>
          <dgm:bulletEnabled val="1"/>
        </dgm:presLayoutVars>
      </dgm:prSet>
      <dgm:spPr/>
    </dgm:pt>
  </dgm:ptLst>
  <dgm:cxnLst>
    <dgm:cxn modelId="{E56BFB11-13A2-9541-9223-50A532F17137}" srcId="{525FF7B7-45DF-FA40-BA8F-C3AA0B2AD2CA}" destId="{B5312C67-4CEB-F44F-93A5-C85C710C92C2}" srcOrd="0" destOrd="0" parTransId="{08BB4462-F9A0-2E43-86E2-245A04C35B81}" sibTransId="{E2D2852E-EFA8-234E-A822-0111B55231E7}"/>
    <dgm:cxn modelId="{6A891B55-669D-4243-B528-3201E49C598D}" srcId="{66E13D44-AA4E-B140-965B-FB71BC866BAD}" destId="{525FF7B7-45DF-FA40-BA8F-C3AA0B2AD2CA}" srcOrd="0" destOrd="0" parTransId="{44614C75-33C9-1346-AE33-01AF9E91DA71}" sibTransId="{FBB7AF22-E434-544A-BCC1-0E1B0B2AC122}"/>
    <dgm:cxn modelId="{C7E80073-C806-B148-82E8-9E834E178DFE}" type="presOf" srcId="{525FF7B7-45DF-FA40-BA8F-C3AA0B2AD2CA}" destId="{3E0D387A-B967-1140-8AD6-3ED717D320AA}" srcOrd="0" destOrd="0" presId="urn:microsoft.com/office/officeart/2005/8/layout/vList5"/>
    <dgm:cxn modelId="{B44465B3-51C7-1C40-9E70-8B95647CD15E}" type="presOf" srcId="{66E13D44-AA4E-B140-965B-FB71BC866BAD}" destId="{9403BA41-611A-FA42-8804-EA979A74D0A5}" srcOrd="0" destOrd="0" presId="urn:microsoft.com/office/officeart/2005/8/layout/vList5"/>
    <dgm:cxn modelId="{8D09E6C2-F454-3743-8EAD-79FBBDCA4BC6}" type="presOf" srcId="{B5312C67-4CEB-F44F-93A5-C85C710C92C2}" destId="{8C44A406-9567-204D-9E84-60F98F7D9983}" srcOrd="0" destOrd="0" presId="urn:microsoft.com/office/officeart/2005/8/layout/vList5"/>
    <dgm:cxn modelId="{95C59005-5123-3E47-9B14-AEAE4E33C8A4}" type="presParOf" srcId="{9403BA41-611A-FA42-8804-EA979A74D0A5}" destId="{267EA5D5-E941-8541-9A49-9B5A3E7AA808}" srcOrd="0" destOrd="0" presId="urn:microsoft.com/office/officeart/2005/8/layout/vList5"/>
    <dgm:cxn modelId="{8F93950F-D678-284C-AD27-6B3A5D52111D}" type="presParOf" srcId="{267EA5D5-E941-8541-9A49-9B5A3E7AA808}" destId="{3E0D387A-B967-1140-8AD6-3ED717D320AA}" srcOrd="0" destOrd="0" presId="urn:microsoft.com/office/officeart/2005/8/layout/vList5"/>
    <dgm:cxn modelId="{9727BAD8-B833-5B4E-B043-2C06B623633A}" type="presParOf" srcId="{267EA5D5-E941-8541-9A49-9B5A3E7AA808}" destId="{8C44A406-9567-204D-9E84-60F98F7D998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6E13D44-AA4E-B140-965B-FB71BC866BAD}"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GB"/>
        </a:p>
      </dgm:t>
    </dgm:pt>
    <dgm:pt modelId="{525FF7B7-45DF-FA40-BA8F-C3AA0B2AD2CA}">
      <dgm:prSet custT="1"/>
      <dgm:spPr>
        <a:solidFill>
          <a:srgbClr val="B43500"/>
        </a:solidFill>
      </dgm:spPr>
      <dgm:t>
        <a:bodyPr/>
        <a:lstStyle/>
        <a:p>
          <a:r>
            <a:rPr lang="en-MY" sz="4400" b="1" dirty="0"/>
            <a:t>DECISION TREE</a:t>
          </a:r>
        </a:p>
      </dgm:t>
    </dgm:pt>
    <dgm:pt modelId="{44614C75-33C9-1346-AE33-01AF9E91DA71}" type="parTrans" cxnId="{6A891B55-669D-4243-B528-3201E49C598D}">
      <dgm:prSet/>
      <dgm:spPr/>
      <dgm:t>
        <a:bodyPr/>
        <a:lstStyle/>
        <a:p>
          <a:endParaRPr lang="en-GB"/>
        </a:p>
      </dgm:t>
    </dgm:pt>
    <dgm:pt modelId="{FBB7AF22-E434-544A-BCC1-0E1B0B2AC122}" type="sibTrans" cxnId="{6A891B55-669D-4243-B528-3201E49C598D}">
      <dgm:prSet/>
      <dgm:spPr/>
      <dgm:t>
        <a:bodyPr/>
        <a:lstStyle/>
        <a:p>
          <a:endParaRPr lang="en-GB"/>
        </a:p>
      </dgm:t>
    </dgm:pt>
    <dgm:pt modelId="{B5312C67-4CEB-F44F-93A5-C85C710C92C2}">
      <dgm:prSet custT="1"/>
      <dgm:spPr>
        <a:solidFill>
          <a:srgbClr val="FFCB63"/>
        </a:solidFill>
      </dgm:spPr>
      <dgm:t>
        <a:bodyPr/>
        <a:lstStyle/>
        <a:p>
          <a:r>
            <a:rPr lang="en-US" sz="2800" dirty="0"/>
            <a:t>Drawing Decision Tree</a:t>
          </a:r>
          <a:endParaRPr lang="en-MY" sz="2800" dirty="0"/>
        </a:p>
      </dgm:t>
    </dgm:pt>
    <dgm:pt modelId="{08BB4462-F9A0-2E43-86E2-245A04C35B81}" type="parTrans" cxnId="{E56BFB11-13A2-9541-9223-50A532F17137}">
      <dgm:prSet/>
      <dgm:spPr/>
      <dgm:t>
        <a:bodyPr/>
        <a:lstStyle/>
        <a:p>
          <a:endParaRPr lang="en-GB"/>
        </a:p>
      </dgm:t>
    </dgm:pt>
    <dgm:pt modelId="{E2D2852E-EFA8-234E-A822-0111B55231E7}" type="sibTrans" cxnId="{E56BFB11-13A2-9541-9223-50A532F17137}">
      <dgm:prSet/>
      <dgm:spPr/>
      <dgm:t>
        <a:bodyPr/>
        <a:lstStyle/>
        <a:p>
          <a:endParaRPr lang="en-GB"/>
        </a:p>
      </dgm:t>
    </dgm:pt>
    <dgm:pt modelId="{9403BA41-611A-FA42-8804-EA979A74D0A5}" type="pres">
      <dgm:prSet presAssocID="{66E13D44-AA4E-B140-965B-FB71BC866BAD}" presName="Name0" presStyleCnt="0">
        <dgm:presLayoutVars>
          <dgm:dir/>
          <dgm:animLvl val="lvl"/>
          <dgm:resizeHandles val="exact"/>
        </dgm:presLayoutVars>
      </dgm:prSet>
      <dgm:spPr/>
    </dgm:pt>
    <dgm:pt modelId="{267EA5D5-E941-8541-9A49-9B5A3E7AA808}" type="pres">
      <dgm:prSet presAssocID="{525FF7B7-45DF-FA40-BA8F-C3AA0B2AD2CA}" presName="linNode" presStyleCnt="0"/>
      <dgm:spPr/>
    </dgm:pt>
    <dgm:pt modelId="{3E0D387A-B967-1140-8AD6-3ED717D320AA}" type="pres">
      <dgm:prSet presAssocID="{525FF7B7-45DF-FA40-BA8F-C3AA0B2AD2CA}" presName="parentText" presStyleLbl="node1" presStyleIdx="0" presStyleCnt="1">
        <dgm:presLayoutVars>
          <dgm:chMax val="1"/>
          <dgm:bulletEnabled val="1"/>
        </dgm:presLayoutVars>
      </dgm:prSet>
      <dgm:spPr/>
    </dgm:pt>
    <dgm:pt modelId="{8C44A406-9567-204D-9E84-60F98F7D9983}" type="pres">
      <dgm:prSet presAssocID="{525FF7B7-45DF-FA40-BA8F-C3AA0B2AD2CA}" presName="descendantText" presStyleLbl="alignAccFollowNode1" presStyleIdx="0" presStyleCnt="1">
        <dgm:presLayoutVars>
          <dgm:bulletEnabled val="1"/>
        </dgm:presLayoutVars>
      </dgm:prSet>
      <dgm:spPr/>
    </dgm:pt>
  </dgm:ptLst>
  <dgm:cxnLst>
    <dgm:cxn modelId="{E56BFB11-13A2-9541-9223-50A532F17137}" srcId="{525FF7B7-45DF-FA40-BA8F-C3AA0B2AD2CA}" destId="{B5312C67-4CEB-F44F-93A5-C85C710C92C2}" srcOrd="0" destOrd="0" parTransId="{08BB4462-F9A0-2E43-86E2-245A04C35B81}" sibTransId="{E2D2852E-EFA8-234E-A822-0111B55231E7}"/>
    <dgm:cxn modelId="{6A891B55-669D-4243-B528-3201E49C598D}" srcId="{66E13D44-AA4E-B140-965B-FB71BC866BAD}" destId="{525FF7B7-45DF-FA40-BA8F-C3AA0B2AD2CA}" srcOrd="0" destOrd="0" parTransId="{44614C75-33C9-1346-AE33-01AF9E91DA71}" sibTransId="{FBB7AF22-E434-544A-BCC1-0E1B0B2AC122}"/>
    <dgm:cxn modelId="{C7E80073-C806-B148-82E8-9E834E178DFE}" type="presOf" srcId="{525FF7B7-45DF-FA40-BA8F-C3AA0B2AD2CA}" destId="{3E0D387A-B967-1140-8AD6-3ED717D320AA}" srcOrd="0" destOrd="0" presId="urn:microsoft.com/office/officeart/2005/8/layout/vList5"/>
    <dgm:cxn modelId="{B44465B3-51C7-1C40-9E70-8B95647CD15E}" type="presOf" srcId="{66E13D44-AA4E-B140-965B-FB71BC866BAD}" destId="{9403BA41-611A-FA42-8804-EA979A74D0A5}" srcOrd="0" destOrd="0" presId="urn:microsoft.com/office/officeart/2005/8/layout/vList5"/>
    <dgm:cxn modelId="{8D09E6C2-F454-3743-8EAD-79FBBDCA4BC6}" type="presOf" srcId="{B5312C67-4CEB-F44F-93A5-C85C710C92C2}" destId="{8C44A406-9567-204D-9E84-60F98F7D9983}" srcOrd="0" destOrd="0" presId="urn:microsoft.com/office/officeart/2005/8/layout/vList5"/>
    <dgm:cxn modelId="{95C59005-5123-3E47-9B14-AEAE4E33C8A4}" type="presParOf" srcId="{9403BA41-611A-FA42-8804-EA979A74D0A5}" destId="{267EA5D5-E941-8541-9A49-9B5A3E7AA808}" srcOrd="0" destOrd="0" presId="urn:microsoft.com/office/officeart/2005/8/layout/vList5"/>
    <dgm:cxn modelId="{8F93950F-D678-284C-AD27-6B3A5D52111D}" type="presParOf" srcId="{267EA5D5-E941-8541-9A49-9B5A3E7AA808}" destId="{3E0D387A-B967-1140-8AD6-3ED717D320AA}" srcOrd="0" destOrd="0" presId="urn:microsoft.com/office/officeart/2005/8/layout/vList5"/>
    <dgm:cxn modelId="{9727BAD8-B833-5B4E-B043-2C06B623633A}" type="presParOf" srcId="{267EA5D5-E941-8541-9A49-9B5A3E7AA808}" destId="{8C44A406-9567-204D-9E84-60F98F7D9983}"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4A406-9567-204D-9E84-60F98F7D9983}">
      <dsp:nvSpPr>
        <dsp:cNvPr id="0" name=""/>
        <dsp:cNvSpPr/>
      </dsp:nvSpPr>
      <dsp:spPr>
        <a:xfrm rot="5400000">
          <a:off x="7304767" y="-3087568"/>
          <a:ext cx="892084" cy="7294880"/>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MY" sz="1600" kern="1200" dirty="0"/>
            <a:t>Goals</a:t>
          </a:r>
        </a:p>
        <a:p>
          <a:pPr marL="171450" lvl="1" indent="-171450" algn="l" defTabSz="711200">
            <a:lnSpc>
              <a:spcPct val="90000"/>
            </a:lnSpc>
            <a:spcBef>
              <a:spcPct val="0"/>
            </a:spcBef>
            <a:spcAft>
              <a:spcPct val="15000"/>
            </a:spcAft>
            <a:buChar char="•"/>
          </a:pPr>
          <a:r>
            <a:rPr lang="en-MY" sz="1600" kern="1200" dirty="0"/>
            <a:t>Process Specification Format</a:t>
          </a:r>
          <a:endParaRPr lang="en-MY" sz="1400" kern="1200" dirty="0"/>
        </a:p>
      </dsp:txBody>
      <dsp:txXfrm rot="-5400000">
        <a:off x="4103369" y="157378"/>
        <a:ext cx="7251332" cy="804988"/>
      </dsp:txXfrm>
    </dsp:sp>
    <dsp:sp modelId="{3E0D387A-B967-1140-8AD6-3ED717D320AA}">
      <dsp:nvSpPr>
        <dsp:cNvPr id="0" name=""/>
        <dsp:cNvSpPr/>
      </dsp:nvSpPr>
      <dsp:spPr>
        <a:xfrm>
          <a:off x="0" y="2318"/>
          <a:ext cx="4103370" cy="111510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MY" sz="3100" b="1" kern="1200" dirty="0"/>
            <a:t>PROCESS SPECIFICATION</a:t>
          </a:r>
        </a:p>
      </dsp:txBody>
      <dsp:txXfrm>
        <a:off x="54435" y="56753"/>
        <a:ext cx="3994500" cy="1006235"/>
      </dsp:txXfrm>
    </dsp:sp>
    <dsp:sp modelId="{30D41C04-0840-D141-A88D-FA44AB020792}">
      <dsp:nvSpPr>
        <dsp:cNvPr id="0" name=""/>
        <dsp:cNvSpPr/>
      </dsp:nvSpPr>
      <dsp:spPr>
        <a:xfrm rot="5400000">
          <a:off x="7304767" y="-1916707"/>
          <a:ext cx="892084" cy="7294880"/>
        </a:xfrm>
        <a:prstGeom prst="round2SameRect">
          <a:avLst/>
        </a:prstGeom>
        <a:solidFill>
          <a:schemeClr val="accent3">
            <a:tint val="40000"/>
            <a:alpha val="90000"/>
            <a:hueOff val="676380"/>
            <a:satOff val="33333"/>
            <a:lumOff val="593"/>
            <a:alphaOff val="0"/>
          </a:schemeClr>
        </a:solidFill>
        <a:ln w="12700" cap="flat" cmpd="sng" algn="ctr">
          <a:solidFill>
            <a:schemeClr val="accent3">
              <a:tint val="40000"/>
              <a:alpha val="90000"/>
              <a:hueOff val="676380"/>
              <a:satOff val="33333"/>
              <a:lumOff val="5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Writing Structured English</a:t>
          </a:r>
          <a:endParaRPr lang="en-MY" sz="1600" kern="1200" dirty="0"/>
        </a:p>
        <a:p>
          <a:pPr marL="171450" lvl="1" indent="-171450" algn="l" defTabSz="711200">
            <a:lnSpc>
              <a:spcPct val="90000"/>
            </a:lnSpc>
            <a:spcBef>
              <a:spcPct val="0"/>
            </a:spcBef>
            <a:spcAft>
              <a:spcPct val="15000"/>
            </a:spcAft>
            <a:buChar char="•"/>
          </a:pPr>
          <a:r>
            <a:rPr lang="en-MY" sz="1600" kern="1200" dirty="0"/>
            <a:t>Data Dictionary and Process Specification</a:t>
          </a:r>
        </a:p>
      </dsp:txBody>
      <dsp:txXfrm rot="-5400000">
        <a:off x="4103369" y="1328239"/>
        <a:ext cx="7251332" cy="804988"/>
      </dsp:txXfrm>
    </dsp:sp>
    <dsp:sp modelId="{0F5C74DA-8593-D54A-8A8A-E5B629D54B1F}">
      <dsp:nvSpPr>
        <dsp:cNvPr id="0" name=""/>
        <dsp:cNvSpPr/>
      </dsp:nvSpPr>
      <dsp:spPr>
        <a:xfrm>
          <a:off x="0" y="1173179"/>
          <a:ext cx="4103370" cy="1115105"/>
        </a:xfrm>
        <a:prstGeom prst="roundRect">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b="1" kern="1200" dirty="0"/>
            <a:t>STRUCTURED ENGLISH</a:t>
          </a:r>
          <a:endParaRPr lang="en-MY" sz="3100" b="1" kern="1200" dirty="0"/>
        </a:p>
      </dsp:txBody>
      <dsp:txXfrm>
        <a:off x="54435" y="1227614"/>
        <a:ext cx="3994500" cy="1006235"/>
      </dsp:txXfrm>
    </dsp:sp>
    <dsp:sp modelId="{0EF433D6-DF43-904C-ADEA-ABBA75D6F29B}">
      <dsp:nvSpPr>
        <dsp:cNvPr id="0" name=""/>
        <dsp:cNvSpPr/>
      </dsp:nvSpPr>
      <dsp:spPr>
        <a:xfrm rot="5400000">
          <a:off x="7304767" y="-745847"/>
          <a:ext cx="892084" cy="7294880"/>
        </a:xfrm>
        <a:prstGeom prst="round2SameRect">
          <a:avLst/>
        </a:prstGeom>
        <a:solidFill>
          <a:schemeClr val="accent3">
            <a:tint val="40000"/>
            <a:alpha val="90000"/>
            <a:hueOff val="1352761"/>
            <a:satOff val="66667"/>
            <a:lumOff val="1186"/>
            <a:alphaOff val="0"/>
          </a:schemeClr>
        </a:solidFill>
        <a:ln w="12700" cap="flat" cmpd="sng" algn="ctr">
          <a:solidFill>
            <a:schemeClr val="accent3">
              <a:tint val="40000"/>
              <a:alpha val="90000"/>
              <a:hueOff val="1352761"/>
              <a:satOff val="66667"/>
              <a:lumOff val="1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Developing Decision Table</a:t>
          </a:r>
          <a:endParaRPr lang="en-MY" sz="1600" kern="1200" dirty="0"/>
        </a:p>
      </dsp:txBody>
      <dsp:txXfrm rot="-5400000">
        <a:off x="4103369" y="2499099"/>
        <a:ext cx="7251332" cy="804988"/>
      </dsp:txXfrm>
    </dsp:sp>
    <dsp:sp modelId="{282AF86B-5651-D740-B3E2-314500A8BB47}">
      <dsp:nvSpPr>
        <dsp:cNvPr id="0" name=""/>
        <dsp:cNvSpPr/>
      </dsp:nvSpPr>
      <dsp:spPr>
        <a:xfrm>
          <a:off x="0" y="2344040"/>
          <a:ext cx="4103370" cy="1115105"/>
        </a:xfrm>
        <a:prstGeom prst="roundRect">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b="1" kern="1200" dirty="0"/>
            <a:t>DECISION TABLE</a:t>
          </a:r>
          <a:endParaRPr lang="en-MY" sz="3100" b="1" kern="1200" dirty="0"/>
        </a:p>
      </dsp:txBody>
      <dsp:txXfrm>
        <a:off x="54435" y="2398475"/>
        <a:ext cx="3994500" cy="1006235"/>
      </dsp:txXfrm>
    </dsp:sp>
    <dsp:sp modelId="{60AF7BA2-3545-794D-882C-200AB1AA0136}">
      <dsp:nvSpPr>
        <dsp:cNvPr id="0" name=""/>
        <dsp:cNvSpPr/>
      </dsp:nvSpPr>
      <dsp:spPr>
        <a:xfrm rot="5400000">
          <a:off x="7304767" y="425013"/>
          <a:ext cx="892084" cy="7294880"/>
        </a:xfrm>
        <a:prstGeom prst="round2SameRect">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Drawing Decision Tree</a:t>
          </a:r>
          <a:endParaRPr lang="en-MY" sz="1600" kern="1200" dirty="0"/>
        </a:p>
      </dsp:txBody>
      <dsp:txXfrm rot="-5400000">
        <a:off x="4103369" y="3669959"/>
        <a:ext cx="7251332" cy="804988"/>
      </dsp:txXfrm>
    </dsp:sp>
    <dsp:sp modelId="{2A2F2156-6F36-B44D-9174-4EC39F8EF16B}">
      <dsp:nvSpPr>
        <dsp:cNvPr id="0" name=""/>
        <dsp:cNvSpPr/>
      </dsp:nvSpPr>
      <dsp:spPr>
        <a:xfrm>
          <a:off x="0" y="3514900"/>
          <a:ext cx="4103370" cy="1115105"/>
        </a:xfrm>
        <a:prstGeom prst="round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en-US" sz="3100" b="1" kern="1200" dirty="0"/>
            <a:t>DECISION TREE</a:t>
          </a:r>
          <a:endParaRPr lang="en-MY" sz="3100" b="1" kern="1200" dirty="0"/>
        </a:p>
      </dsp:txBody>
      <dsp:txXfrm>
        <a:off x="54435" y="3569335"/>
        <a:ext cx="3994500" cy="10062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4A406-9567-204D-9E84-60F98F7D9983}">
      <dsp:nvSpPr>
        <dsp:cNvPr id="0" name=""/>
        <dsp:cNvSpPr/>
      </dsp:nvSpPr>
      <dsp:spPr>
        <a:xfrm rot="5400000">
          <a:off x="6601195" y="-2210422"/>
          <a:ext cx="2299228" cy="7294880"/>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MY" sz="2800" kern="1200" dirty="0"/>
            <a:t>Goals</a:t>
          </a:r>
        </a:p>
        <a:p>
          <a:pPr marL="285750" lvl="1" indent="-285750" algn="l" defTabSz="1244600">
            <a:lnSpc>
              <a:spcPct val="90000"/>
            </a:lnSpc>
            <a:spcBef>
              <a:spcPct val="0"/>
            </a:spcBef>
            <a:spcAft>
              <a:spcPct val="15000"/>
            </a:spcAft>
            <a:buChar char="•"/>
          </a:pPr>
          <a:r>
            <a:rPr lang="en-US" sz="2800" kern="1200" dirty="0"/>
            <a:t>Business Rules</a:t>
          </a:r>
          <a:endParaRPr lang="en-MY" sz="2800" kern="1200" dirty="0"/>
        </a:p>
        <a:p>
          <a:pPr marL="285750" lvl="1" indent="-285750" algn="l" defTabSz="1244600">
            <a:lnSpc>
              <a:spcPct val="90000"/>
            </a:lnSpc>
            <a:spcBef>
              <a:spcPct val="0"/>
            </a:spcBef>
            <a:spcAft>
              <a:spcPct val="15000"/>
            </a:spcAft>
            <a:buChar char="•"/>
          </a:pPr>
          <a:r>
            <a:rPr lang="en-MY" sz="2800" kern="1200" dirty="0"/>
            <a:t>Process Specification Format</a:t>
          </a:r>
        </a:p>
      </dsp:txBody>
      <dsp:txXfrm rot="-5400000">
        <a:off x="4103370" y="399642"/>
        <a:ext cx="7182641" cy="2074750"/>
      </dsp:txXfrm>
    </dsp:sp>
    <dsp:sp modelId="{3E0D387A-B967-1140-8AD6-3ED717D320AA}">
      <dsp:nvSpPr>
        <dsp:cNvPr id="0" name=""/>
        <dsp:cNvSpPr/>
      </dsp:nvSpPr>
      <dsp:spPr>
        <a:xfrm>
          <a:off x="0" y="0"/>
          <a:ext cx="4103370" cy="287403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MY" sz="4400" b="1" kern="1200" dirty="0"/>
            <a:t>PROCESS SPECIFICATION</a:t>
          </a:r>
        </a:p>
      </dsp:txBody>
      <dsp:txXfrm>
        <a:off x="140299" y="140299"/>
        <a:ext cx="3822772" cy="25934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4A406-9567-204D-9E84-60F98F7D9983}">
      <dsp:nvSpPr>
        <dsp:cNvPr id="0" name=""/>
        <dsp:cNvSpPr/>
      </dsp:nvSpPr>
      <dsp:spPr>
        <a:xfrm rot="5400000">
          <a:off x="6601195" y="-2210422"/>
          <a:ext cx="2299228" cy="7294880"/>
        </a:xfrm>
        <a:prstGeom prst="round2SameRect">
          <a:avLst/>
        </a:prstGeom>
        <a:solidFill>
          <a:srgbClr val="EEDDB9">
            <a:alpha val="90000"/>
          </a:srgb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Writing Structured English</a:t>
          </a:r>
          <a:endParaRPr lang="en-MY" sz="2800" kern="1200" dirty="0"/>
        </a:p>
        <a:p>
          <a:pPr marL="285750" lvl="1" indent="-285750" algn="l" defTabSz="1244600">
            <a:lnSpc>
              <a:spcPct val="90000"/>
            </a:lnSpc>
            <a:spcBef>
              <a:spcPct val="0"/>
            </a:spcBef>
            <a:spcAft>
              <a:spcPct val="15000"/>
            </a:spcAft>
            <a:buChar char="•"/>
          </a:pPr>
          <a:r>
            <a:rPr lang="en-MY" sz="2800" kern="1200" dirty="0"/>
            <a:t>Data Dictionary and Process Specification</a:t>
          </a:r>
        </a:p>
      </dsp:txBody>
      <dsp:txXfrm rot="-5400000">
        <a:off x="4103370" y="399642"/>
        <a:ext cx="7182641" cy="2074750"/>
      </dsp:txXfrm>
    </dsp:sp>
    <dsp:sp modelId="{3E0D387A-B967-1140-8AD6-3ED717D320AA}">
      <dsp:nvSpPr>
        <dsp:cNvPr id="0" name=""/>
        <dsp:cNvSpPr/>
      </dsp:nvSpPr>
      <dsp:spPr>
        <a:xfrm>
          <a:off x="0" y="0"/>
          <a:ext cx="4103370" cy="2874035"/>
        </a:xfrm>
        <a:prstGeom prst="roundRect">
          <a:avLst/>
        </a:prstGeom>
        <a:solidFill>
          <a:srgbClr val="AC770D"/>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MY" sz="4400" b="1" kern="1200" dirty="0"/>
            <a:t>STRUCTURED ENGLISH</a:t>
          </a:r>
        </a:p>
      </dsp:txBody>
      <dsp:txXfrm>
        <a:off x="140299" y="140299"/>
        <a:ext cx="3822772" cy="25934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4A406-9567-204D-9E84-60F98F7D9983}">
      <dsp:nvSpPr>
        <dsp:cNvPr id="0" name=""/>
        <dsp:cNvSpPr/>
      </dsp:nvSpPr>
      <dsp:spPr>
        <a:xfrm rot="5400000">
          <a:off x="6601195" y="-2210422"/>
          <a:ext cx="2299228" cy="7294880"/>
        </a:xfrm>
        <a:prstGeom prst="round2SameRect">
          <a:avLst/>
        </a:prstGeom>
        <a:solidFill>
          <a:srgbClr val="F6D48D"/>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MY" sz="2800" kern="1200" dirty="0"/>
            <a:t>Developing Decision Table</a:t>
          </a:r>
        </a:p>
      </dsp:txBody>
      <dsp:txXfrm rot="-5400000">
        <a:off x="4103370" y="399642"/>
        <a:ext cx="7182641" cy="2074750"/>
      </dsp:txXfrm>
    </dsp:sp>
    <dsp:sp modelId="{3E0D387A-B967-1140-8AD6-3ED717D320AA}">
      <dsp:nvSpPr>
        <dsp:cNvPr id="0" name=""/>
        <dsp:cNvSpPr/>
      </dsp:nvSpPr>
      <dsp:spPr>
        <a:xfrm>
          <a:off x="0" y="0"/>
          <a:ext cx="4103370" cy="2874035"/>
        </a:xfrm>
        <a:prstGeom prst="roundRect">
          <a:avLst/>
        </a:prstGeom>
        <a:solidFill>
          <a:srgbClr val="AF52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MY" sz="4400" b="1" kern="1200" dirty="0"/>
            <a:t>DECISION TABLE</a:t>
          </a:r>
        </a:p>
      </dsp:txBody>
      <dsp:txXfrm>
        <a:off x="140299" y="140299"/>
        <a:ext cx="3822772" cy="259343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4A406-9567-204D-9E84-60F98F7D9983}">
      <dsp:nvSpPr>
        <dsp:cNvPr id="0" name=""/>
        <dsp:cNvSpPr/>
      </dsp:nvSpPr>
      <dsp:spPr>
        <a:xfrm rot="5400000">
          <a:off x="6601195" y="-2210422"/>
          <a:ext cx="2299228" cy="7294880"/>
        </a:xfrm>
        <a:prstGeom prst="round2SameRect">
          <a:avLst/>
        </a:prstGeom>
        <a:solidFill>
          <a:srgbClr val="FFCB63"/>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244600">
            <a:lnSpc>
              <a:spcPct val="90000"/>
            </a:lnSpc>
            <a:spcBef>
              <a:spcPct val="0"/>
            </a:spcBef>
            <a:spcAft>
              <a:spcPct val="15000"/>
            </a:spcAft>
            <a:buChar char="•"/>
          </a:pPr>
          <a:r>
            <a:rPr lang="en-US" sz="2800" kern="1200" dirty="0"/>
            <a:t>Drawing Decision Tree</a:t>
          </a:r>
          <a:endParaRPr lang="en-MY" sz="2800" kern="1200" dirty="0"/>
        </a:p>
      </dsp:txBody>
      <dsp:txXfrm rot="-5400000">
        <a:off x="4103370" y="399642"/>
        <a:ext cx="7182641" cy="2074750"/>
      </dsp:txXfrm>
    </dsp:sp>
    <dsp:sp modelId="{3E0D387A-B967-1140-8AD6-3ED717D320AA}">
      <dsp:nvSpPr>
        <dsp:cNvPr id="0" name=""/>
        <dsp:cNvSpPr/>
      </dsp:nvSpPr>
      <dsp:spPr>
        <a:xfrm>
          <a:off x="0" y="0"/>
          <a:ext cx="4103370" cy="2874035"/>
        </a:xfrm>
        <a:prstGeom prst="roundRect">
          <a:avLst/>
        </a:prstGeom>
        <a:solidFill>
          <a:srgbClr val="B435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7640" tIns="83820" rIns="167640" bIns="83820" numCol="1" spcCol="1270" anchor="ctr" anchorCtr="0">
          <a:noAutofit/>
        </a:bodyPr>
        <a:lstStyle/>
        <a:p>
          <a:pPr marL="0" lvl="0" indent="0" algn="ctr" defTabSz="1955800">
            <a:lnSpc>
              <a:spcPct val="90000"/>
            </a:lnSpc>
            <a:spcBef>
              <a:spcPct val="0"/>
            </a:spcBef>
            <a:spcAft>
              <a:spcPct val="35000"/>
            </a:spcAft>
            <a:buNone/>
          </a:pPr>
          <a:r>
            <a:rPr lang="en-MY" sz="4400" b="1" kern="1200" dirty="0"/>
            <a:t>DECISION TREE</a:t>
          </a:r>
        </a:p>
      </dsp:txBody>
      <dsp:txXfrm>
        <a:off x="140299" y="140299"/>
        <a:ext cx="3822772" cy="2593437"/>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FBB964-91EE-6D44-9245-6E870FE243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658FCBC2-74CA-194C-A913-723B8183E3B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FBC8F580-752C-4144-A7C0-D9E2449D0345}" type="datetimeFigureOut">
              <a:rPr lang="en-US"/>
              <a:pPr>
                <a:defRPr/>
              </a:pPr>
              <a:t>8/27/19</a:t>
            </a:fld>
            <a:endParaRPr lang="en-US"/>
          </a:p>
        </p:txBody>
      </p:sp>
      <p:sp>
        <p:nvSpPr>
          <p:cNvPr id="4" name="Slide Image Placeholder 3">
            <a:extLst>
              <a:ext uri="{FF2B5EF4-FFF2-40B4-BE49-F238E27FC236}">
                <a16:creationId xmlns:a16="http://schemas.microsoft.com/office/drawing/2014/main" id="{A7D2939F-3B94-A446-A0D1-0F801799541C}"/>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EBF076F-1D3C-3E48-89BD-E060B7D92F14}"/>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a:extLst>
              <a:ext uri="{FF2B5EF4-FFF2-40B4-BE49-F238E27FC236}">
                <a16:creationId xmlns:a16="http://schemas.microsoft.com/office/drawing/2014/main" id="{6D919D35-AF4C-5F49-A32D-FABFE352C24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BA505E62-A327-8F4A-96E5-02D47B34D85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FEE6678C-B846-4645-BFC0-6717EC24A31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9C5F3A7-A761-411F-ACE6-DB26C83CE66E}" type="slidenum">
              <a:rPr lang="en-US" smtClean="0"/>
              <a:pPr/>
              <a:t>20</a:t>
            </a:fld>
            <a:endParaRPr lang="en-US"/>
          </a:p>
        </p:txBody>
      </p:sp>
      <p:sp>
        <p:nvSpPr>
          <p:cNvPr id="819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19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308857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9C5F3A7-A761-411F-ACE6-DB26C83CE66E}" type="slidenum">
              <a:rPr lang="en-US" smtClean="0"/>
              <a:pPr/>
              <a:t>32</a:t>
            </a:fld>
            <a:endParaRPr lang="en-US"/>
          </a:p>
        </p:txBody>
      </p:sp>
      <p:sp>
        <p:nvSpPr>
          <p:cNvPr id="819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19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259138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9C5F3A7-A761-411F-ACE6-DB26C83CE66E}" type="slidenum">
              <a:rPr lang="en-US" smtClean="0"/>
              <a:pPr/>
              <a:t>39</a:t>
            </a:fld>
            <a:endParaRPr lang="en-US"/>
          </a:p>
        </p:txBody>
      </p:sp>
      <p:sp>
        <p:nvSpPr>
          <p:cNvPr id="819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19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4274515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9C5F3A7-A761-411F-ACE6-DB26C83CE66E}" type="slidenum">
              <a:rPr lang="en-US" smtClean="0"/>
              <a:pPr/>
              <a:t>42</a:t>
            </a:fld>
            <a:endParaRPr lang="en-US"/>
          </a:p>
        </p:txBody>
      </p:sp>
      <p:sp>
        <p:nvSpPr>
          <p:cNvPr id="819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19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extLst>
      <p:ext uri="{BB962C8B-B14F-4D97-AF65-F5344CB8AC3E}">
        <p14:creationId xmlns:p14="http://schemas.microsoft.com/office/powerpoint/2010/main" val="9918874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A8AD4410-B83D-1946-B9E5-363BA2D342C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15F1A503-FBCE-7A47-A9B1-01F8170FBE52}"/>
              </a:ext>
            </a:extLst>
          </p:cNvPr>
          <p:cNvSpPr>
            <a:spLocks noGrp="1"/>
          </p:cNvSpPr>
          <p:nvPr>
            <p:ph type="dt" sz="half" idx="10"/>
          </p:nvPr>
        </p:nvSpPr>
        <p:spPr/>
        <p:txBody>
          <a:bodyPr/>
          <a:lstStyle>
            <a:lvl1pPr>
              <a:defRPr/>
            </a:lvl1pPr>
          </a:lstStyle>
          <a:p>
            <a:pPr>
              <a:defRPr/>
            </a:pPr>
            <a:fld id="{EA151A8F-4AA7-5345-8FFF-7AB164E3D364}" type="datetimeFigureOut">
              <a:rPr lang="en-US"/>
              <a:pPr>
                <a:defRPr/>
              </a:pPr>
              <a:t>8/27/19</a:t>
            </a:fld>
            <a:endParaRPr lang="en-US"/>
          </a:p>
        </p:txBody>
      </p:sp>
      <p:sp>
        <p:nvSpPr>
          <p:cNvPr id="4" name="Footer Placeholder 3">
            <a:extLst>
              <a:ext uri="{FF2B5EF4-FFF2-40B4-BE49-F238E27FC236}">
                <a16:creationId xmlns:a16="http://schemas.microsoft.com/office/drawing/2014/main" id="{25D8B8A3-3FB8-C94F-92FE-07602C555C6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88C7DD2D-7FF1-BC44-A1C5-04D6ED516BC1}"/>
              </a:ext>
            </a:extLst>
          </p:cNvPr>
          <p:cNvSpPr>
            <a:spLocks noGrp="1"/>
          </p:cNvSpPr>
          <p:nvPr>
            <p:ph type="sldNum" sz="quarter" idx="12"/>
          </p:nvPr>
        </p:nvSpPr>
        <p:spPr/>
        <p:txBody>
          <a:bodyPr/>
          <a:lstStyle>
            <a:lvl1pPr>
              <a:defRPr/>
            </a:lvl1pPr>
          </a:lstStyle>
          <a:p>
            <a:pPr>
              <a:defRPr/>
            </a:pPr>
            <a:fld id="{EDE41483-9899-9644-A00D-B7E1DCD7E7ED}" type="slidenum">
              <a:rPr lang="en-US"/>
              <a:pPr>
                <a:defRPr/>
              </a:pPr>
              <a:t>‹#›</a:t>
            </a:fld>
            <a:endParaRPr lang="en-US"/>
          </a:p>
        </p:txBody>
      </p:sp>
    </p:spTree>
    <p:extLst>
      <p:ext uri="{BB962C8B-B14F-4D97-AF65-F5344CB8AC3E}">
        <p14:creationId xmlns:p14="http://schemas.microsoft.com/office/powerpoint/2010/main" val="145503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21BE4D82-B260-554A-B8FB-04A34CD8982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56CD9F48-4EF1-4043-A3C7-DF1323DCB606}"/>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349A80-F880-48D2-A8C3-0B02E2589C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Date Placeholder 3">
            <a:extLst>
              <a:ext uri="{FF2B5EF4-FFF2-40B4-BE49-F238E27FC236}">
                <a16:creationId xmlns:a16="http://schemas.microsoft.com/office/drawing/2014/main" id="{C6B3F531-1B70-2848-B6F9-A3D2C91E93D5}"/>
              </a:ext>
            </a:extLst>
          </p:cNvPr>
          <p:cNvSpPr>
            <a:spLocks noGrp="1"/>
          </p:cNvSpPr>
          <p:nvPr>
            <p:ph type="dt" sz="half" idx="10"/>
          </p:nvPr>
        </p:nvSpPr>
        <p:spPr/>
        <p:txBody>
          <a:bodyPr/>
          <a:lstStyle>
            <a:lvl1pPr>
              <a:defRPr/>
            </a:lvl1pPr>
          </a:lstStyle>
          <a:p>
            <a:pPr>
              <a:defRPr/>
            </a:pPr>
            <a:fld id="{B18986FF-D326-8943-BD97-F4A3A41EB7B0}" type="datetimeFigureOut">
              <a:rPr lang="en-US"/>
              <a:pPr>
                <a:defRPr/>
              </a:pPr>
              <a:t>8/27/19</a:t>
            </a:fld>
            <a:endParaRPr lang="en-US"/>
          </a:p>
        </p:txBody>
      </p:sp>
      <p:sp>
        <p:nvSpPr>
          <p:cNvPr id="6" name="Footer Placeholder 4">
            <a:extLst>
              <a:ext uri="{FF2B5EF4-FFF2-40B4-BE49-F238E27FC236}">
                <a16:creationId xmlns:a16="http://schemas.microsoft.com/office/drawing/2014/main" id="{BF8FAED7-1879-B144-BEF0-404DAD34D41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412B5B8-B124-4B4A-AE75-BF0C2955B488}"/>
              </a:ext>
            </a:extLst>
          </p:cNvPr>
          <p:cNvSpPr>
            <a:spLocks noGrp="1"/>
          </p:cNvSpPr>
          <p:nvPr>
            <p:ph type="sldNum" sz="quarter" idx="12"/>
          </p:nvPr>
        </p:nvSpPr>
        <p:spPr/>
        <p:txBody>
          <a:bodyPr/>
          <a:lstStyle>
            <a:lvl1pPr>
              <a:defRPr/>
            </a:lvl1pPr>
          </a:lstStyle>
          <a:p>
            <a:pPr>
              <a:defRPr/>
            </a:pPr>
            <a:fld id="{1E340632-84E8-FF4F-ADC8-2C98EE771EE7}" type="slidenum">
              <a:rPr lang="en-US"/>
              <a:pPr>
                <a:defRPr/>
              </a:pPr>
              <a:t>‹#›</a:t>
            </a:fld>
            <a:endParaRPr lang="en-US"/>
          </a:p>
        </p:txBody>
      </p:sp>
    </p:spTree>
    <p:extLst>
      <p:ext uri="{BB962C8B-B14F-4D97-AF65-F5344CB8AC3E}">
        <p14:creationId xmlns:p14="http://schemas.microsoft.com/office/powerpoint/2010/main" val="4018964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8F21EDC8-2FDA-A344-AA7C-26D9EF3AA25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id="{5C2E7718-3023-CF42-81E7-D6E43DB71A2D}"/>
              </a:ext>
            </a:extLst>
          </p:cNvPr>
          <p:cNvSpPr>
            <a:spLocks noGrp="1"/>
          </p:cNvSpPr>
          <p:nvPr>
            <p:ph type="dt" sz="half" idx="10"/>
          </p:nvPr>
        </p:nvSpPr>
        <p:spPr/>
        <p:txBody>
          <a:bodyPr/>
          <a:lstStyle>
            <a:lvl1pPr>
              <a:defRPr/>
            </a:lvl1pPr>
          </a:lstStyle>
          <a:p>
            <a:pPr>
              <a:defRPr/>
            </a:pPr>
            <a:fld id="{95EEA27B-9A49-6349-B138-B4E9F4513E87}" type="datetimeFigureOut">
              <a:rPr lang="en-US"/>
              <a:pPr>
                <a:defRPr/>
              </a:pPr>
              <a:t>8/27/19</a:t>
            </a:fld>
            <a:endParaRPr lang="en-US"/>
          </a:p>
        </p:txBody>
      </p:sp>
      <p:sp>
        <p:nvSpPr>
          <p:cNvPr id="4" name="Footer Placeholder 4">
            <a:extLst>
              <a:ext uri="{FF2B5EF4-FFF2-40B4-BE49-F238E27FC236}">
                <a16:creationId xmlns:a16="http://schemas.microsoft.com/office/drawing/2014/main" id="{5A6F3045-4D16-D04D-A38E-EBCE0EBF048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1E206B9-5622-2449-BC1E-AF9EFAAE3041}"/>
              </a:ext>
            </a:extLst>
          </p:cNvPr>
          <p:cNvSpPr>
            <a:spLocks noGrp="1"/>
          </p:cNvSpPr>
          <p:nvPr>
            <p:ph type="sldNum" sz="quarter" idx="12"/>
          </p:nvPr>
        </p:nvSpPr>
        <p:spPr/>
        <p:txBody>
          <a:bodyPr/>
          <a:lstStyle>
            <a:lvl1pPr>
              <a:defRPr/>
            </a:lvl1pPr>
          </a:lstStyle>
          <a:p>
            <a:pPr>
              <a:defRPr/>
            </a:pPr>
            <a:fld id="{9981CC2A-974A-4B4F-A46C-280931AFA35F}" type="slidenum">
              <a:rPr lang="en-US"/>
              <a:pPr>
                <a:defRPr/>
              </a:pPr>
              <a:t>‹#›</a:t>
            </a:fld>
            <a:endParaRPr lang="en-US"/>
          </a:p>
        </p:txBody>
      </p:sp>
    </p:spTree>
    <p:extLst>
      <p:ext uri="{BB962C8B-B14F-4D97-AF65-F5344CB8AC3E}">
        <p14:creationId xmlns:p14="http://schemas.microsoft.com/office/powerpoint/2010/main" val="3831432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5394ECDD-7731-8F49-8565-344EC88D5BE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id="{4EA0B1A2-2AA1-C240-81D2-3A734C31D09C}"/>
              </a:ext>
            </a:extLst>
          </p:cNvPr>
          <p:cNvSpPr>
            <a:spLocks noGrp="1"/>
          </p:cNvSpPr>
          <p:nvPr>
            <p:ph type="dt" sz="half" idx="10"/>
          </p:nvPr>
        </p:nvSpPr>
        <p:spPr/>
        <p:txBody>
          <a:bodyPr/>
          <a:lstStyle>
            <a:lvl1pPr>
              <a:defRPr/>
            </a:lvl1pPr>
          </a:lstStyle>
          <a:p>
            <a:pPr>
              <a:defRPr/>
            </a:pPr>
            <a:fld id="{527D471D-21A3-884D-A710-2572E32C4126}" type="datetimeFigureOut">
              <a:rPr lang="en-US"/>
              <a:pPr>
                <a:defRPr/>
              </a:pPr>
              <a:t>8/27/19</a:t>
            </a:fld>
            <a:endParaRPr lang="en-US"/>
          </a:p>
        </p:txBody>
      </p:sp>
      <p:sp>
        <p:nvSpPr>
          <p:cNvPr id="4" name="Footer Placeholder 4">
            <a:extLst>
              <a:ext uri="{FF2B5EF4-FFF2-40B4-BE49-F238E27FC236}">
                <a16:creationId xmlns:a16="http://schemas.microsoft.com/office/drawing/2014/main" id="{2381B053-B7B0-E148-B8D4-EC2E9B2C02E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43C38C3-2402-AC49-BF29-954DCC26705C}"/>
              </a:ext>
            </a:extLst>
          </p:cNvPr>
          <p:cNvSpPr>
            <a:spLocks noGrp="1"/>
          </p:cNvSpPr>
          <p:nvPr>
            <p:ph type="sldNum" sz="quarter" idx="12"/>
          </p:nvPr>
        </p:nvSpPr>
        <p:spPr/>
        <p:txBody>
          <a:bodyPr/>
          <a:lstStyle>
            <a:lvl1pPr>
              <a:defRPr/>
            </a:lvl1pPr>
          </a:lstStyle>
          <a:p>
            <a:pPr>
              <a:defRPr/>
            </a:pPr>
            <a:fld id="{855850DE-AB95-3C43-8A6F-CB1F17AD880A}" type="slidenum">
              <a:rPr lang="en-US"/>
              <a:pPr>
                <a:defRPr/>
              </a:pPr>
              <a:t>‹#›</a:t>
            </a:fld>
            <a:endParaRPr lang="en-US"/>
          </a:p>
        </p:txBody>
      </p:sp>
    </p:spTree>
    <p:extLst>
      <p:ext uri="{BB962C8B-B14F-4D97-AF65-F5344CB8AC3E}">
        <p14:creationId xmlns:p14="http://schemas.microsoft.com/office/powerpoint/2010/main" val="1052348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40A07E1A-0BEC-5E44-A47D-CC457756808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E0DE207D-6691-4CB8-88CE-6CF5B9F399A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D805C8B-38F6-4ACA-A38B-3548E945FBA9}"/>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049F08-1805-4624-93F8-916A81B759F7}"/>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A41B5E33-8423-3C46-87BD-D55BA3932A82}"/>
              </a:ext>
            </a:extLst>
          </p:cNvPr>
          <p:cNvSpPr>
            <a:spLocks noGrp="1"/>
          </p:cNvSpPr>
          <p:nvPr>
            <p:ph type="dt" sz="half" idx="10"/>
          </p:nvPr>
        </p:nvSpPr>
        <p:spPr/>
        <p:txBody>
          <a:bodyPr/>
          <a:lstStyle>
            <a:lvl1pPr>
              <a:defRPr/>
            </a:lvl1pPr>
          </a:lstStyle>
          <a:p>
            <a:pPr>
              <a:defRPr/>
            </a:pPr>
            <a:fld id="{2B7A4734-85FF-D94D-87B5-BD7C5CB50D8F}" type="datetimeFigureOut">
              <a:rPr lang="en-US"/>
              <a:pPr>
                <a:defRPr/>
              </a:pPr>
              <a:t>8/27/19</a:t>
            </a:fld>
            <a:endParaRPr lang="en-US"/>
          </a:p>
        </p:txBody>
      </p:sp>
      <p:sp>
        <p:nvSpPr>
          <p:cNvPr id="7" name="Footer Placeholder 5">
            <a:extLst>
              <a:ext uri="{FF2B5EF4-FFF2-40B4-BE49-F238E27FC236}">
                <a16:creationId xmlns:a16="http://schemas.microsoft.com/office/drawing/2014/main" id="{0B36DD45-F67F-DD41-AE3A-F665E90C3C4E}"/>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915CA16E-443B-A944-AB70-1510A5C31217}"/>
              </a:ext>
            </a:extLst>
          </p:cNvPr>
          <p:cNvSpPr>
            <a:spLocks noGrp="1"/>
          </p:cNvSpPr>
          <p:nvPr>
            <p:ph type="sldNum" sz="quarter" idx="12"/>
          </p:nvPr>
        </p:nvSpPr>
        <p:spPr/>
        <p:txBody>
          <a:bodyPr/>
          <a:lstStyle>
            <a:lvl1pPr>
              <a:defRPr/>
            </a:lvl1pPr>
          </a:lstStyle>
          <a:p>
            <a:pPr>
              <a:defRPr/>
            </a:pPr>
            <a:fld id="{25A5A528-50CF-F84E-A5C5-B777DEF0AFA5}" type="slidenum">
              <a:rPr lang="en-US"/>
              <a:pPr>
                <a:defRPr/>
              </a:pPr>
              <a:t>‹#›</a:t>
            </a:fld>
            <a:endParaRPr lang="en-US"/>
          </a:p>
        </p:txBody>
      </p:sp>
    </p:spTree>
    <p:extLst>
      <p:ext uri="{BB962C8B-B14F-4D97-AF65-F5344CB8AC3E}">
        <p14:creationId xmlns:p14="http://schemas.microsoft.com/office/powerpoint/2010/main" val="2295051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F8112DE8-F1F1-7947-AC36-62051F4A32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6">
            <a:extLst>
              <a:ext uri="{FF2B5EF4-FFF2-40B4-BE49-F238E27FC236}">
                <a16:creationId xmlns:a16="http://schemas.microsoft.com/office/drawing/2014/main" id="{ADB49673-D0B9-424C-90D3-756951186079}"/>
              </a:ext>
            </a:extLst>
          </p:cNvPr>
          <p:cNvSpPr>
            <a:spLocks noGrp="1"/>
          </p:cNvSpPr>
          <p:nvPr>
            <p:ph type="dt" sz="half" idx="10"/>
          </p:nvPr>
        </p:nvSpPr>
        <p:spPr/>
        <p:txBody>
          <a:bodyPr/>
          <a:lstStyle>
            <a:lvl1pPr>
              <a:defRPr/>
            </a:lvl1pPr>
          </a:lstStyle>
          <a:p>
            <a:pPr>
              <a:defRPr/>
            </a:pPr>
            <a:fld id="{E9E65595-82D9-174C-BBD4-D1EE32E9AA42}" type="datetimeFigureOut">
              <a:rPr lang="en-US"/>
              <a:pPr>
                <a:defRPr/>
              </a:pPr>
              <a:t>8/27/19</a:t>
            </a:fld>
            <a:endParaRPr lang="en-US"/>
          </a:p>
        </p:txBody>
      </p:sp>
      <p:sp>
        <p:nvSpPr>
          <p:cNvPr id="4" name="Footer Placeholder 7">
            <a:extLst>
              <a:ext uri="{FF2B5EF4-FFF2-40B4-BE49-F238E27FC236}">
                <a16:creationId xmlns:a16="http://schemas.microsoft.com/office/drawing/2014/main" id="{066C325B-F397-094B-A8A5-3A749B5D017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8">
            <a:extLst>
              <a:ext uri="{FF2B5EF4-FFF2-40B4-BE49-F238E27FC236}">
                <a16:creationId xmlns:a16="http://schemas.microsoft.com/office/drawing/2014/main" id="{F9B19B4B-63F9-F84C-9636-FA67BA6B4F3C}"/>
              </a:ext>
            </a:extLst>
          </p:cNvPr>
          <p:cNvSpPr>
            <a:spLocks noGrp="1"/>
          </p:cNvSpPr>
          <p:nvPr>
            <p:ph type="sldNum" sz="quarter" idx="12"/>
          </p:nvPr>
        </p:nvSpPr>
        <p:spPr/>
        <p:txBody>
          <a:bodyPr/>
          <a:lstStyle>
            <a:lvl1pPr>
              <a:defRPr/>
            </a:lvl1pPr>
          </a:lstStyle>
          <a:p>
            <a:pPr>
              <a:defRPr/>
            </a:pPr>
            <a:fld id="{2100CB85-50FC-704E-97E4-51055CD806E6}" type="slidenum">
              <a:rPr lang="en-US"/>
              <a:pPr>
                <a:defRPr/>
              </a:pPr>
              <a:t>‹#›</a:t>
            </a:fld>
            <a:endParaRPr lang="en-US"/>
          </a:p>
        </p:txBody>
      </p:sp>
    </p:spTree>
    <p:extLst>
      <p:ext uri="{BB962C8B-B14F-4D97-AF65-F5344CB8AC3E}">
        <p14:creationId xmlns:p14="http://schemas.microsoft.com/office/powerpoint/2010/main" val="372425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03528DBD-8687-B24E-B658-95B1FA3EAD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34D6447-46EF-4D76-B6F0-24723C8FA94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id="{2C59699B-F0AD-DC4D-B73A-74BA42BD2E4C}"/>
              </a:ext>
            </a:extLst>
          </p:cNvPr>
          <p:cNvSpPr>
            <a:spLocks noGrp="1"/>
          </p:cNvSpPr>
          <p:nvPr>
            <p:ph type="dt" sz="half" idx="10"/>
          </p:nvPr>
        </p:nvSpPr>
        <p:spPr/>
        <p:txBody>
          <a:bodyPr/>
          <a:lstStyle>
            <a:lvl1pPr>
              <a:defRPr/>
            </a:lvl1pPr>
          </a:lstStyle>
          <a:p>
            <a:pPr>
              <a:defRPr/>
            </a:pPr>
            <a:fld id="{3A970322-4B8E-774C-BF02-A1C0F1B2F6E4}" type="datetimeFigureOut">
              <a:rPr lang="en-US"/>
              <a:pPr>
                <a:defRPr/>
              </a:pPr>
              <a:t>8/27/19</a:t>
            </a:fld>
            <a:endParaRPr lang="en-US"/>
          </a:p>
        </p:txBody>
      </p:sp>
      <p:sp>
        <p:nvSpPr>
          <p:cNvPr id="5" name="Footer Placeholder 3">
            <a:extLst>
              <a:ext uri="{FF2B5EF4-FFF2-40B4-BE49-F238E27FC236}">
                <a16:creationId xmlns:a16="http://schemas.microsoft.com/office/drawing/2014/main" id="{AE8649E2-1AE6-8B4A-A66B-C42D6A0336B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7F7DC1B4-CEAD-B24A-83FD-14E4ABA98780}"/>
              </a:ext>
            </a:extLst>
          </p:cNvPr>
          <p:cNvSpPr>
            <a:spLocks noGrp="1"/>
          </p:cNvSpPr>
          <p:nvPr>
            <p:ph type="sldNum" sz="quarter" idx="12"/>
          </p:nvPr>
        </p:nvSpPr>
        <p:spPr/>
        <p:txBody>
          <a:bodyPr/>
          <a:lstStyle>
            <a:lvl1pPr>
              <a:defRPr/>
            </a:lvl1pPr>
          </a:lstStyle>
          <a:p>
            <a:pPr>
              <a:defRPr/>
            </a:pPr>
            <a:fld id="{2CAAE11C-1C29-154B-880D-F2ECCBA8932F}" type="slidenum">
              <a:rPr lang="en-US"/>
              <a:pPr>
                <a:defRPr/>
              </a:pPr>
              <a:t>‹#›</a:t>
            </a:fld>
            <a:endParaRPr lang="en-US"/>
          </a:p>
        </p:txBody>
      </p:sp>
    </p:spTree>
    <p:extLst>
      <p:ext uri="{BB962C8B-B14F-4D97-AF65-F5344CB8AC3E}">
        <p14:creationId xmlns:p14="http://schemas.microsoft.com/office/powerpoint/2010/main" val="2514677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B6CB282C-FB08-404F-96E1-AA59511C11E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8A59D11D-D97F-42D6-ACE2-0CBB2BA319A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id="{7A156682-520B-F04C-9DE5-A94F871CB174}"/>
              </a:ext>
            </a:extLst>
          </p:cNvPr>
          <p:cNvSpPr>
            <a:spLocks noGrp="1"/>
          </p:cNvSpPr>
          <p:nvPr>
            <p:ph type="dt" sz="half" idx="10"/>
          </p:nvPr>
        </p:nvSpPr>
        <p:spPr/>
        <p:txBody>
          <a:bodyPr/>
          <a:lstStyle>
            <a:lvl1pPr>
              <a:defRPr/>
            </a:lvl1pPr>
          </a:lstStyle>
          <a:p>
            <a:pPr>
              <a:defRPr/>
            </a:pPr>
            <a:fld id="{FD589B88-3616-3B49-848C-23EA77512B2E}" type="datetimeFigureOut">
              <a:rPr lang="en-US"/>
              <a:pPr>
                <a:defRPr/>
              </a:pPr>
              <a:t>8/27/19</a:t>
            </a:fld>
            <a:endParaRPr lang="en-US"/>
          </a:p>
        </p:txBody>
      </p:sp>
      <p:sp>
        <p:nvSpPr>
          <p:cNvPr id="5" name="Footer Placeholder 3">
            <a:extLst>
              <a:ext uri="{FF2B5EF4-FFF2-40B4-BE49-F238E27FC236}">
                <a16:creationId xmlns:a16="http://schemas.microsoft.com/office/drawing/2014/main" id="{C8508F9B-D3C3-B54C-96E4-38480568EE6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CE73A94A-5869-4C4C-8BDC-D4B5E960F3B4}"/>
              </a:ext>
            </a:extLst>
          </p:cNvPr>
          <p:cNvSpPr>
            <a:spLocks noGrp="1"/>
          </p:cNvSpPr>
          <p:nvPr>
            <p:ph type="sldNum" sz="quarter" idx="12"/>
          </p:nvPr>
        </p:nvSpPr>
        <p:spPr/>
        <p:txBody>
          <a:bodyPr/>
          <a:lstStyle>
            <a:lvl1pPr>
              <a:defRPr/>
            </a:lvl1pPr>
          </a:lstStyle>
          <a:p>
            <a:pPr>
              <a:defRPr/>
            </a:pPr>
            <a:fld id="{F1D7588F-03EB-E740-A28B-81DA66CB4416}" type="slidenum">
              <a:rPr lang="en-US"/>
              <a:pPr>
                <a:defRPr/>
              </a:pPr>
              <a:t>‹#›</a:t>
            </a:fld>
            <a:endParaRPr lang="en-US"/>
          </a:p>
        </p:txBody>
      </p:sp>
    </p:spTree>
    <p:extLst>
      <p:ext uri="{BB962C8B-B14F-4D97-AF65-F5344CB8AC3E}">
        <p14:creationId xmlns:p14="http://schemas.microsoft.com/office/powerpoint/2010/main" val="3292159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10277F4-9C8F-7F48-8D75-91A2A88B091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ABBE89F-3B06-5348-A0F7-A6A21915B1C3}"/>
              </a:ext>
            </a:extLst>
          </p:cNvPr>
          <p:cNvSpPr>
            <a:spLocks noGrp="1"/>
          </p:cNvSpPr>
          <p:nvPr>
            <p:ph type="dt" sz="half" idx="10"/>
          </p:nvPr>
        </p:nvSpPr>
        <p:spPr/>
        <p:txBody>
          <a:bodyPr/>
          <a:lstStyle>
            <a:lvl1pPr>
              <a:defRPr/>
            </a:lvl1pPr>
          </a:lstStyle>
          <a:p>
            <a:pPr>
              <a:defRPr/>
            </a:pPr>
            <a:fld id="{52CF0529-3F54-7245-BD67-39161CEB614D}" type="datetimeFigureOut">
              <a:rPr lang="en-US"/>
              <a:pPr>
                <a:defRPr/>
              </a:pPr>
              <a:t>8/27/19</a:t>
            </a:fld>
            <a:endParaRPr lang="en-US"/>
          </a:p>
        </p:txBody>
      </p:sp>
      <p:sp>
        <p:nvSpPr>
          <p:cNvPr id="4" name="Footer Placeholder 3">
            <a:extLst>
              <a:ext uri="{FF2B5EF4-FFF2-40B4-BE49-F238E27FC236}">
                <a16:creationId xmlns:a16="http://schemas.microsoft.com/office/drawing/2014/main" id="{65C55A93-550E-4F44-9852-A46BDF562DC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5631349-69D0-CB47-BD9A-8C19A047C9F0}"/>
              </a:ext>
            </a:extLst>
          </p:cNvPr>
          <p:cNvSpPr>
            <a:spLocks noGrp="1"/>
          </p:cNvSpPr>
          <p:nvPr>
            <p:ph type="sldNum" sz="quarter" idx="12"/>
          </p:nvPr>
        </p:nvSpPr>
        <p:spPr/>
        <p:txBody>
          <a:bodyPr/>
          <a:lstStyle>
            <a:lvl1pPr>
              <a:defRPr/>
            </a:lvl1pPr>
          </a:lstStyle>
          <a:p>
            <a:pPr>
              <a:defRPr/>
            </a:pPr>
            <a:fld id="{D1A9425D-9892-784D-B3BB-790F829805F1}" type="slidenum">
              <a:rPr lang="en-US"/>
              <a:pPr>
                <a:defRPr/>
              </a:pPr>
              <a:t>‹#›</a:t>
            </a:fld>
            <a:endParaRPr lang="en-US"/>
          </a:p>
        </p:txBody>
      </p:sp>
    </p:spTree>
    <p:extLst>
      <p:ext uri="{BB962C8B-B14F-4D97-AF65-F5344CB8AC3E}">
        <p14:creationId xmlns:p14="http://schemas.microsoft.com/office/powerpoint/2010/main" val="1966414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D4F72597-4AAB-A347-8DA1-243E46B1B76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1">
            <a:extLst>
              <a:ext uri="{FF2B5EF4-FFF2-40B4-BE49-F238E27FC236}">
                <a16:creationId xmlns:a16="http://schemas.microsoft.com/office/drawing/2014/main" id="{41A61377-E248-E647-B1AE-FDD53151CF68}"/>
              </a:ext>
            </a:extLst>
          </p:cNvPr>
          <p:cNvSpPr>
            <a:spLocks noGrp="1"/>
          </p:cNvSpPr>
          <p:nvPr>
            <p:ph type="dt" sz="half" idx="10"/>
          </p:nvPr>
        </p:nvSpPr>
        <p:spPr/>
        <p:txBody>
          <a:bodyPr/>
          <a:lstStyle>
            <a:lvl1pPr>
              <a:defRPr/>
            </a:lvl1pPr>
          </a:lstStyle>
          <a:p>
            <a:pPr>
              <a:defRPr/>
            </a:pPr>
            <a:fld id="{D768BD51-A4F8-CD47-A81C-34450CEE01FB}" type="datetimeFigureOut">
              <a:rPr lang="en-US"/>
              <a:pPr>
                <a:defRPr/>
              </a:pPr>
              <a:t>8/27/19</a:t>
            </a:fld>
            <a:endParaRPr lang="en-US"/>
          </a:p>
        </p:txBody>
      </p:sp>
      <p:sp>
        <p:nvSpPr>
          <p:cNvPr id="4" name="Footer Placeholder 2">
            <a:extLst>
              <a:ext uri="{FF2B5EF4-FFF2-40B4-BE49-F238E27FC236}">
                <a16:creationId xmlns:a16="http://schemas.microsoft.com/office/drawing/2014/main" id="{F5627FBE-56CA-7648-9F76-DA2F19741AB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3">
            <a:extLst>
              <a:ext uri="{FF2B5EF4-FFF2-40B4-BE49-F238E27FC236}">
                <a16:creationId xmlns:a16="http://schemas.microsoft.com/office/drawing/2014/main" id="{73D74E10-D3F3-D748-9766-5A42A712A6FC}"/>
              </a:ext>
            </a:extLst>
          </p:cNvPr>
          <p:cNvSpPr>
            <a:spLocks noGrp="1"/>
          </p:cNvSpPr>
          <p:nvPr>
            <p:ph type="sldNum" sz="quarter" idx="12"/>
          </p:nvPr>
        </p:nvSpPr>
        <p:spPr/>
        <p:txBody>
          <a:bodyPr/>
          <a:lstStyle>
            <a:lvl1pPr>
              <a:defRPr/>
            </a:lvl1pPr>
          </a:lstStyle>
          <a:p>
            <a:pPr>
              <a:defRPr/>
            </a:pPr>
            <a:fld id="{045C3C37-B209-924D-8C51-8BA369A61DAD}" type="slidenum">
              <a:rPr lang="en-US"/>
              <a:pPr>
                <a:defRPr/>
              </a:pPr>
              <a:t>‹#›</a:t>
            </a:fld>
            <a:endParaRPr lang="en-US"/>
          </a:p>
        </p:txBody>
      </p:sp>
    </p:spTree>
    <p:extLst>
      <p:ext uri="{BB962C8B-B14F-4D97-AF65-F5344CB8AC3E}">
        <p14:creationId xmlns:p14="http://schemas.microsoft.com/office/powerpoint/2010/main" val="206271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F500E-6285-47B7-953E-7536D61995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822BB6-902B-4B71-A064-12279185E061}"/>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80F693-3BC1-4F84-8E52-8FB92EDC8EE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FE72CCA0-31D9-6945-8215-558039CD9DFB}"/>
              </a:ext>
            </a:extLst>
          </p:cNvPr>
          <p:cNvSpPr>
            <a:spLocks noGrp="1"/>
          </p:cNvSpPr>
          <p:nvPr>
            <p:ph type="dt" sz="half" idx="10"/>
          </p:nvPr>
        </p:nvSpPr>
        <p:spPr/>
        <p:txBody>
          <a:bodyPr/>
          <a:lstStyle>
            <a:lvl1pPr>
              <a:defRPr/>
            </a:lvl1pPr>
          </a:lstStyle>
          <a:p>
            <a:pPr>
              <a:defRPr/>
            </a:pPr>
            <a:fld id="{E34A7FA8-0842-DB4E-82C3-902B32B69523}" type="datetimeFigureOut">
              <a:rPr lang="en-US"/>
              <a:pPr>
                <a:defRPr/>
              </a:pPr>
              <a:t>8/27/19</a:t>
            </a:fld>
            <a:endParaRPr lang="en-US"/>
          </a:p>
        </p:txBody>
      </p:sp>
      <p:sp>
        <p:nvSpPr>
          <p:cNvPr id="6" name="Footer Placeholder 4">
            <a:extLst>
              <a:ext uri="{FF2B5EF4-FFF2-40B4-BE49-F238E27FC236}">
                <a16:creationId xmlns:a16="http://schemas.microsoft.com/office/drawing/2014/main" id="{71F1106C-D125-EC46-B1A2-D61D15D32D2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E4383B4-4095-094E-A54A-E3E0099E4BF5}"/>
              </a:ext>
            </a:extLst>
          </p:cNvPr>
          <p:cNvSpPr>
            <a:spLocks noGrp="1"/>
          </p:cNvSpPr>
          <p:nvPr>
            <p:ph type="sldNum" sz="quarter" idx="12"/>
          </p:nvPr>
        </p:nvSpPr>
        <p:spPr/>
        <p:txBody>
          <a:bodyPr/>
          <a:lstStyle>
            <a:lvl1pPr>
              <a:defRPr/>
            </a:lvl1pPr>
          </a:lstStyle>
          <a:p>
            <a:pPr>
              <a:defRPr/>
            </a:pPr>
            <a:fld id="{A625AC69-F4DA-BE4B-81CE-37BC4DD4EA28}" type="slidenum">
              <a:rPr lang="en-US"/>
              <a:pPr>
                <a:defRPr/>
              </a:pPr>
              <a:t>‹#›</a:t>
            </a:fld>
            <a:endParaRPr lang="en-US"/>
          </a:p>
        </p:txBody>
      </p:sp>
    </p:spTree>
    <p:extLst>
      <p:ext uri="{BB962C8B-B14F-4D97-AF65-F5344CB8AC3E}">
        <p14:creationId xmlns:p14="http://schemas.microsoft.com/office/powerpoint/2010/main" val="272464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93017-577D-4F1F-B2E2-D11D0645586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262013-2353-4184-AF0C-5493C31AAC7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C979331E-511A-4572-B108-37D5980F989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504700FE-F3DE-7148-B6A5-2EF788D6C7FC}"/>
              </a:ext>
            </a:extLst>
          </p:cNvPr>
          <p:cNvSpPr>
            <a:spLocks noGrp="1"/>
          </p:cNvSpPr>
          <p:nvPr>
            <p:ph type="dt" sz="half" idx="10"/>
          </p:nvPr>
        </p:nvSpPr>
        <p:spPr/>
        <p:txBody>
          <a:bodyPr/>
          <a:lstStyle>
            <a:lvl1pPr>
              <a:defRPr/>
            </a:lvl1pPr>
          </a:lstStyle>
          <a:p>
            <a:pPr>
              <a:defRPr/>
            </a:pPr>
            <a:fld id="{20FC211B-804C-C44D-B2DA-E21F9B262342}" type="datetimeFigureOut">
              <a:rPr lang="en-US"/>
              <a:pPr>
                <a:defRPr/>
              </a:pPr>
              <a:t>8/27/19</a:t>
            </a:fld>
            <a:endParaRPr lang="en-US"/>
          </a:p>
        </p:txBody>
      </p:sp>
      <p:sp>
        <p:nvSpPr>
          <p:cNvPr id="6" name="Footer Placeholder 4">
            <a:extLst>
              <a:ext uri="{FF2B5EF4-FFF2-40B4-BE49-F238E27FC236}">
                <a16:creationId xmlns:a16="http://schemas.microsoft.com/office/drawing/2014/main" id="{595E4039-BC56-564E-8B6E-09362375AD3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A630F2E-C075-A741-9BB9-80195E61305E}"/>
              </a:ext>
            </a:extLst>
          </p:cNvPr>
          <p:cNvSpPr>
            <a:spLocks noGrp="1"/>
          </p:cNvSpPr>
          <p:nvPr>
            <p:ph type="sldNum" sz="quarter" idx="12"/>
          </p:nvPr>
        </p:nvSpPr>
        <p:spPr/>
        <p:txBody>
          <a:bodyPr/>
          <a:lstStyle>
            <a:lvl1pPr>
              <a:defRPr/>
            </a:lvl1pPr>
          </a:lstStyle>
          <a:p>
            <a:pPr>
              <a:defRPr/>
            </a:pPr>
            <a:fld id="{F54DDB32-C652-0D43-9226-F29123611B24}" type="slidenum">
              <a:rPr lang="en-US"/>
              <a:pPr>
                <a:defRPr/>
              </a:pPr>
              <a:t>‹#›</a:t>
            </a:fld>
            <a:endParaRPr lang="en-US"/>
          </a:p>
        </p:txBody>
      </p:sp>
    </p:spTree>
    <p:extLst>
      <p:ext uri="{BB962C8B-B14F-4D97-AF65-F5344CB8AC3E}">
        <p14:creationId xmlns:p14="http://schemas.microsoft.com/office/powerpoint/2010/main" val="459151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BC5C2-75E0-4760-B4AB-EAF43C069FF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D19DDB-0729-4696-8863-907665458212}"/>
              </a:ext>
            </a:extLst>
          </p:cNvPr>
          <p:cNvSpPr>
            <a:spLocks noGrp="1"/>
          </p:cNvSpPr>
          <p:nvPr>
            <p:ph type="body" orient="vert" idx="1"/>
          </p:nvPr>
        </p:nvSpPr>
        <p:spPr>
          <a:xfrm>
            <a:off x="838200" y="1825625"/>
            <a:ext cx="10515600" cy="3000375"/>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4A7C89-7270-0E4D-9FBF-9D1A21AFFDF8}"/>
              </a:ext>
            </a:extLst>
          </p:cNvPr>
          <p:cNvSpPr>
            <a:spLocks noGrp="1"/>
          </p:cNvSpPr>
          <p:nvPr>
            <p:ph type="dt" sz="half" idx="10"/>
          </p:nvPr>
        </p:nvSpPr>
        <p:spPr/>
        <p:txBody>
          <a:bodyPr/>
          <a:lstStyle>
            <a:lvl1pPr>
              <a:defRPr/>
            </a:lvl1pPr>
          </a:lstStyle>
          <a:p>
            <a:pPr>
              <a:defRPr/>
            </a:pPr>
            <a:fld id="{20BC20BB-9DCA-5A40-90F8-12EFA44687FB}" type="datetimeFigureOut">
              <a:rPr lang="en-US"/>
              <a:pPr>
                <a:defRPr/>
              </a:pPr>
              <a:t>8/27/19</a:t>
            </a:fld>
            <a:endParaRPr lang="en-US"/>
          </a:p>
        </p:txBody>
      </p:sp>
      <p:sp>
        <p:nvSpPr>
          <p:cNvPr id="5" name="Footer Placeholder 4">
            <a:extLst>
              <a:ext uri="{FF2B5EF4-FFF2-40B4-BE49-F238E27FC236}">
                <a16:creationId xmlns:a16="http://schemas.microsoft.com/office/drawing/2014/main" id="{39EEE288-56EC-3A41-A6A0-5808DA8AC1D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A3C15D4-5699-354D-A16F-A3E1A7AE0186}"/>
              </a:ext>
            </a:extLst>
          </p:cNvPr>
          <p:cNvSpPr>
            <a:spLocks noGrp="1"/>
          </p:cNvSpPr>
          <p:nvPr>
            <p:ph type="sldNum" sz="quarter" idx="12"/>
          </p:nvPr>
        </p:nvSpPr>
        <p:spPr/>
        <p:txBody>
          <a:bodyPr/>
          <a:lstStyle>
            <a:lvl1pPr>
              <a:defRPr/>
            </a:lvl1pPr>
          </a:lstStyle>
          <a:p>
            <a:pPr>
              <a:defRPr/>
            </a:pPr>
            <a:fld id="{7F215E81-FD0C-FF4F-AC3A-80082BFCFE91}" type="slidenum">
              <a:rPr lang="en-US"/>
              <a:pPr>
                <a:defRPr/>
              </a:pPr>
              <a:t>‹#›</a:t>
            </a:fld>
            <a:endParaRPr lang="en-US"/>
          </a:p>
        </p:txBody>
      </p:sp>
    </p:spTree>
    <p:extLst>
      <p:ext uri="{BB962C8B-B14F-4D97-AF65-F5344CB8AC3E}">
        <p14:creationId xmlns:p14="http://schemas.microsoft.com/office/powerpoint/2010/main" val="42058156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5E3B64-C723-44B3-BBB0-617FC6B1C3D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4FB109-9D8B-485B-9CA0-576A358F5DA0}"/>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D88C8-97E5-4D4C-8F58-030AA9D07D59}"/>
              </a:ext>
            </a:extLst>
          </p:cNvPr>
          <p:cNvSpPr>
            <a:spLocks noGrp="1"/>
          </p:cNvSpPr>
          <p:nvPr>
            <p:ph type="dt" sz="half" idx="10"/>
          </p:nvPr>
        </p:nvSpPr>
        <p:spPr/>
        <p:txBody>
          <a:bodyPr/>
          <a:lstStyle>
            <a:lvl1pPr>
              <a:defRPr/>
            </a:lvl1pPr>
          </a:lstStyle>
          <a:p>
            <a:pPr>
              <a:defRPr/>
            </a:pPr>
            <a:fld id="{C108EFD2-DC7E-7D43-82F8-DF2917A0F66C}" type="datetimeFigureOut">
              <a:rPr lang="en-US"/>
              <a:pPr>
                <a:defRPr/>
              </a:pPr>
              <a:t>8/27/19</a:t>
            </a:fld>
            <a:endParaRPr lang="en-US"/>
          </a:p>
        </p:txBody>
      </p:sp>
      <p:sp>
        <p:nvSpPr>
          <p:cNvPr id="5" name="Footer Placeholder 4">
            <a:extLst>
              <a:ext uri="{FF2B5EF4-FFF2-40B4-BE49-F238E27FC236}">
                <a16:creationId xmlns:a16="http://schemas.microsoft.com/office/drawing/2014/main" id="{113A406A-9100-3441-9CE1-53FDE48BC0A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D70ACC1-B582-D445-97AE-CBA7E1C48957}"/>
              </a:ext>
            </a:extLst>
          </p:cNvPr>
          <p:cNvSpPr>
            <a:spLocks noGrp="1"/>
          </p:cNvSpPr>
          <p:nvPr>
            <p:ph type="sldNum" sz="quarter" idx="12"/>
          </p:nvPr>
        </p:nvSpPr>
        <p:spPr/>
        <p:txBody>
          <a:bodyPr/>
          <a:lstStyle>
            <a:lvl1pPr>
              <a:defRPr/>
            </a:lvl1pPr>
          </a:lstStyle>
          <a:p>
            <a:pPr>
              <a:defRPr/>
            </a:pPr>
            <a:fld id="{427B2A73-8C00-AE44-A00B-8E93C17BE1FB}" type="slidenum">
              <a:rPr lang="en-US"/>
              <a:pPr>
                <a:defRPr/>
              </a:pPr>
              <a:t>‹#›</a:t>
            </a:fld>
            <a:endParaRPr lang="en-US"/>
          </a:p>
        </p:txBody>
      </p:sp>
    </p:spTree>
    <p:extLst>
      <p:ext uri="{BB962C8B-B14F-4D97-AF65-F5344CB8AC3E}">
        <p14:creationId xmlns:p14="http://schemas.microsoft.com/office/powerpoint/2010/main" val="1799113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1D2DF8C-500E-4EF9-950E-4D1F912BC3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5EEB975E-61AD-814C-9950-77BF98509ED2}" type="datetimeFigureOut">
              <a:rPr lang="en-US"/>
              <a:pPr>
                <a:defRPr/>
              </a:pPr>
              <a:t>8/27/19</a:t>
            </a:fld>
            <a:endParaRPr lang="en-US"/>
          </a:p>
        </p:txBody>
      </p:sp>
      <p:sp>
        <p:nvSpPr>
          <p:cNvPr id="5" name="Footer Placeholder 4">
            <a:extLst>
              <a:ext uri="{FF2B5EF4-FFF2-40B4-BE49-F238E27FC236}">
                <a16:creationId xmlns:a16="http://schemas.microsoft.com/office/drawing/2014/main" id="{168F2BA2-A22B-4E34-80A5-84D2C3F4DB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6521561-873F-4C1D-BD8B-3AFBA233ED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66A6A4BF-6CF2-7F4D-9586-24AE40100BF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15" r:id="rId11"/>
    <p:sldLayoutId id="2147483816" r:id="rId12"/>
    <p:sldLayoutId id="2147483817" r:id="rId13"/>
    <p:sldLayoutId id="2147483818" r:id="rId14"/>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9.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EADC224B-D01B-7C4E-A924-E7D5542F0C48}"/>
              </a:ext>
            </a:extLst>
          </p:cNvPr>
          <p:cNvSpPr txBox="1">
            <a:spLocks noChangeArrowheads="1"/>
          </p:cNvSpPr>
          <p:nvPr/>
        </p:nvSpPr>
        <p:spPr bwMode="auto">
          <a:xfrm>
            <a:off x="276545" y="856452"/>
            <a:ext cx="8261279"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3600" b="1" dirty="0">
                <a:solidFill>
                  <a:schemeClr val="bg1"/>
                </a:solidFill>
                <a:latin typeface="Verdana" panose="020B0604030504040204" pitchFamily="34" charset="0"/>
              </a:rPr>
              <a:t>SCSD2613</a:t>
            </a:r>
            <a:br>
              <a:rPr lang="en-US" altLang="en-US" sz="3600" b="1" dirty="0">
                <a:solidFill>
                  <a:schemeClr val="bg1"/>
                </a:solidFill>
                <a:latin typeface="Verdana" panose="020B0604030504040204" pitchFamily="34" charset="0"/>
              </a:rPr>
            </a:br>
            <a:r>
              <a:rPr lang="en-US" altLang="en-US" sz="3200" b="1" dirty="0">
                <a:solidFill>
                  <a:schemeClr val="bg1"/>
                </a:solidFill>
                <a:latin typeface="Verdana" panose="020B0604030504040204" pitchFamily="34" charset="0"/>
              </a:rPr>
              <a:t>System Analysis and Design</a:t>
            </a:r>
            <a:endParaRPr lang="en-US" altLang="en-US" sz="3600" b="1" dirty="0">
              <a:solidFill>
                <a:schemeClr val="bg1"/>
              </a:solidFill>
              <a:latin typeface="Verdana" panose="020B0604030504040204" pitchFamily="34" charset="0"/>
            </a:endParaRPr>
          </a:p>
        </p:txBody>
      </p:sp>
      <p:cxnSp>
        <p:nvCxnSpPr>
          <p:cNvPr id="8" name="Straight Connector 7">
            <a:extLst>
              <a:ext uri="{FF2B5EF4-FFF2-40B4-BE49-F238E27FC236}">
                <a16:creationId xmlns:a16="http://schemas.microsoft.com/office/drawing/2014/main" id="{0E316BA8-EFD8-4056-B5B4-01555F1655E0}"/>
              </a:ext>
            </a:extLst>
          </p:cNvPr>
          <p:cNvCxnSpPr>
            <a:cxnSpLocks/>
          </p:cNvCxnSpPr>
          <p:nvPr/>
        </p:nvCxnSpPr>
        <p:spPr>
          <a:xfrm>
            <a:off x="698500" y="2387600"/>
            <a:ext cx="5295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E58691-3F85-42F3-AD1B-E26F22405C81}"/>
              </a:ext>
            </a:extLst>
          </p:cNvPr>
          <p:cNvCxnSpPr>
            <a:cxnSpLocks/>
          </p:cNvCxnSpPr>
          <p:nvPr/>
        </p:nvCxnSpPr>
        <p:spPr>
          <a:xfrm>
            <a:off x="698500" y="4495800"/>
            <a:ext cx="5295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388" name="Title 1">
            <a:extLst>
              <a:ext uri="{FF2B5EF4-FFF2-40B4-BE49-F238E27FC236}">
                <a16:creationId xmlns:a16="http://schemas.microsoft.com/office/drawing/2014/main" id="{84B188F9-CA02-A24F-9AFF-1F827F7900D9}"/>
              </a:ext>
            </a:extLst>
          </p:cNvPr>
          <p:cNvSpPr txBox="1">
            <a:spLocks noChangeArrowheads="1"/>
          </p:cNvSpPr>
          <p:nvPr/>
        </p:nvSpPr>
        <p:spPr bwMode="auto">
          <a:xfrm>
            <a:off x="698500" y="2382043"/>
            <a:ext cx="11085513" cy="211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4400" b="1">
                <a:solidFill>
                  <a:schemeClr val="bg1"/>
                </a:solidFill>
              </a:rPr>
              <a:t>PART </a:t>
            </a:r>
            <a:r>
              <a:rPr lang="en-US" altLang="en-US" sz="4400" b="1" dirty="0">
                <a:solidFill>
                  <a:schemeClr val="bg1"/>
                </a:solidFill>
              </a:rPr>
              <a:t>IV</a:t>
            </a:r>
          </a:p>
          <a:p>
            <a:pPr algn="ctr" eaLnBrk="1" hangingPunct="1"/>
            <a:r>
              <a:rPr lang="en-US" altLang="en-US" sz="4400" b="1" dirty="0">
                <a:solidFill>
                  <a:schemeClr val="bg1"/>
                </a:solidFill>
              </a:rPr>
              <a:t>The Analysis Process #2:</a:t>
            </a:r>
          </a:p>
          <a:p>
            <a:pPr algn="ctr" eaLnBrk="1" hangingPunct="1"/>
            <a:r>
              <a:rPr lang="en-US" altLang="en-US" sz="4000" b="1" dirty="0">
                <a:solidFill>
                  <a:schemeClr val="bg1"/>
                </a:solidFill>
              </a:rPr>
              <a:t>Process Specifications and Structured Decisions</a:t>
            </a:r>
          </a:p>
        </p:txBody>
      </p:sp>
      <p:sp>
        <p:nvSpPr>
          <p:cNvPr id="6" name="TextBox 5">
            <a:extLst>
              <a:ext uri="{FF2B5EF4-FFF2-40B4-BE49-F238E27FC236}">
                <a16:creationId xmlns:a16="http://schemas.microsoft.com/office/drawing/2014/main" id="{D45AB27B-6D15-024B-B34A-864ADE4A9041}"/>
              </a:ext>
            </a:extLst>
          </p:cNvPr>
          <p:cNvSpPr txBox="1"/>
          <p:nvPr/>
        </p:nvSpPr>
        <p:spPr>
          <a:xfrm>
            <a:off x="9952234" y="6597214"/>
            <a:ext cx="2239766" cy="246221"/>
          </a:xfrm>
          <a:prstGeom prst="rect">
            <a:avLst/>
          </a:prstGeom>
          <a:noFill/>
        </p:spPr>
        <p:txBody>
          <a:bodyPr wrap="square" rtlCol="0">
            <a:spAutoFit/>
          </a:bodyPr>
          <a:lstStyle/>
          <a:p>
            <a:pPr algn="r"/>
            <a:r>
              <a:rPr lang="en-US" sz="1000" dirty="0">
                <a:solidFill>
                  <a:schemeClr val="bg1"/>
                </a:solidFill>
              </a:rPr>
              <a:t>update: August 2019 (</a:t>
            </a:r>
            <a:r>
              <a:rPr lang="en-US" sz="1000" dirty="0" err="1">
                <a:solidFill>
                  <a:schemeClr val="bg1"/>
                </a:solidFill>
              </a:rPr>
              <a:t>sharinhh</a:t>
            </a:r>
            <a:r>
              <a:rPr lang="en-US" sz="1000" dirty="0">
                <a:solidFill>
                  <a:schemeClr val="bg1"/>
                </a:solidFill>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OBJECTIVES</a:t>
            </a:r>
            <a:endParaRPr lang="en-US" altLang="en-US" sz="5400" dirty="0">
              <a:solidFill>
                <a:srgbClr val="85103F"/>
              </a:solidFill>
              <a:latin typeface="Calibri Light" panose="020F0302020204030204" pitchFamily="34" charset="0"/>
            </a:endParaRPr>
          </a:p>
        </p:txBody>
      </p:sp>
      <p:sp>
        <p:nvSpPr>
          <p:cNvPr id="17410" name="Rectangle 3">
            <a:extLst>
              <a:ext uri="{FF2B5EF4-FFF2-40B4-BE49-F238E27FC236}">
                <a16:creationId xmlns:a16="http://schemas.microsoft.com/office/drawing/2014/main" id="{906CA659-221B-9249-A9BB-C4A6FC6C7461}"/>
              </a:ext>
            </a:extLst>
          </p:cNvPr>
          <p:cNvSpPr txBox="1">
            <a:spLocks noChangeArrowheads="1"/>
          </p:cNvSpPr>
          <p:nvPr/>
        </p:nvSpPr>
        <p:spPr bwMode="auto">
          <a:xfrm>
            <a:off x="304800" y="1692275"/>
            <a:ext cx="11582400" cy="444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defRPr>
                <a:solidFill>
                  <a:schemeClr val="tx1"/>
                </a:solidFill>
                <a:latin typeface="Calibri" panose="020F0502020204030204" pitchFamily="34" charset="0"/>
              </a:defRPr>
            </a:lvl1pPr>
            <a:lvl2pPr marL="685800" indent="-22860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571500" indent="-571500">
              <a:buFont typeface="+mj-lt"/>
              <a:buAutoNum type="romanLcPeriod"/>
            </a:pPr>
            <a:r>
              <a:rPr lang="en-US" sz="3200" dirty="0"/>
              <a:t>Understand the purpose of process specifications.</a:t>
            </a:r>
          </a:p>
          <a:p>
            <a:pPr marL="571500" indent="-571500">
              <a:buFont typeface="+mj-lt"/>
              <a:buAutoNum type="romanLcPeriod"/>
            </a:pPr>
            <a:r>
              <a:rPr lang="en-US" sz="3200" dirty="0"/>
              <a:t>Recognize the difference between structured and semi structured decisions.</a:t>
            </a:r>
          </a:p>
          <a:p>
            <a:pPr marL="571500" indent="-571500">
              <a:buFont typeface="+mj-lt"/>
              <a:buAutoNum type="romanLcPeriod"/>
            </a:pPr>
            <a:r>
              <a:rPr lang="en-US" sz="3200" dirty="0"/>
              <a:t>Use structured English, decision tables, and decision trees to analyze, describe, and document structured decisions.</a:t>
            </a:r>
          </a:p>
          <a:p>
            <a:pPr marL="571500" indent="-571500">
              <a:buFont typeface="+mj-lt"/>
              <a:buAutoNum type="romanLcPeriod"/>
            </a:pPr>
            <a:r>
              <a:rPr lang="en-US" sz="3200" dirty="0"/>
              <a:t>Choose an appropriate decision analysis method for analyzing structured decisions and creating process specifications.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lated image">
            <a:extLst>
              <a:ext uri="{FF2B5EF4-FFF2-40B4-BE49-F238E27FC236}">
                <a16:creationId xmlns:a16="http://schemas.microsoft.com/office/drawing/2014/main" id="{068C7A49-0807-6147-AD35-A64737CD5B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0113" y="3038620"/>
            <a:ext cx="4291887" cy="3222480"/>
          </a:xfrm>
          <a:prstGeom prst="rect">
            <a:avLst/>
          </a:prstGeom>
          <a:noFill/>
          <a:extLst>
            <a:ext uri="{909E8E84-426E-40DD-AFC4-6F175D3DCCD1}">
              <a14:hiddenFill xmlns:a14="http://schemas.microsoft.com/office/drawing/2010/main">
                <a:solidFill>
                  <a:srgbClr val="FFFFFF"/>
                </a:solidFill>
              </a14:hiddenFill>
            </a:ext>
          </a:extLst>
        </p:spPr>
      </p:pic>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LOGIC OF DECISION</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12883628-A80A-C042-9F50-6823CACDED92}"/>
              </a:ext>
            </a:extLst>
          </p:cNvPr>
          <p:cNvSpPr txBox="1">
            <a:spLocks noChangeArrowheads="1"/>
          </p:cNvSpPr>
          <p:nvPr/>
        </p:nvSpPr>
        <p:spPr>
          <a:xfrm>
            <a:off x="477748" y="1566622"/>
            <a:ext cx="9231332" cy="492941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Documenting and analyzing logic:</a:t>
            </a:r>
          </a:p>
          <a:p>
            <a:pPr lvl="1"/>
            <a:r>
              <a:rPr lang="en-US" sz="2800" dirty="0"/>
              <a:t>Structured English</a:t>
            </a:r>
          </a:p>
          <a:p>
            <a:pPr lvl="1"/>
            <a:r>
              <a:rPr lang="en-US" sz="2800" dirty="0"/>
              <a:t>Decision tables</a:t>
            </a:r>
          </a:p>
          <a:p>
            <a:pPr lvl="1"/>
            <a:r>
              <a:rPr lang="en-US" sz="2800" dirty="0"/>
              <a:t>Decision trees</a:t>
            </a:r>
          </a:p>
          <a:p>
            <a:r>
              <a:rPr lang="en-US" sz="3200" dirty="0"/>
              <a:t>Logic and structured decisions are distinguishable from semi-structured decisions </a:t>
            </a:r>
          </a:p>
          <a:p>
            <a:r>
              <a:rPr lang="en-US" sz="3200" dirty="0"/>
              <a:t>Structured decision analysis methods promote completeness, accuracy, and communication</a:t>
            </a:r>
          </a:p>
          <a:p>
            <a:endParaRPr lang="en-US" sz="3200" dirty="0"/>
          </a:p>
        </p:txBody>
      </p:sp>
    </p:spTree>
    <p:extLst>
      <p:ext uri="{BB962C8B-B14F-4D97-AF65-F5344CB8AC3E}">
        <p14:creationId xmlns:p14="http://schemas.microsoft.com/office/powerpoint/2010/main" val="4051421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DC8AAC1-7DB5-434F-BE64-6CFB52E526BC}"/>
              </a:ext>
            </a:extLst>
          </p:cNvPr>
          <p:cNvGraphicFramePr/>
          <p:nvPr>
            <p:extLst>
              <p:ext uri="{D42A27DB-BD31-4B8C-83A1-F6EECF244321}">
                <p14:modId xmlns:p14="http://schemas.microsoft.com/office/powerpoint/2010/main" val="3739142324"/>
              </p:ext>
            </p:extLst>
          </p:nvPr>
        </p:nvGraphicFramePr>
        <p:xfrm>
          <a:off x="396875" y="1995916"/>
          <a:ext cx="11398250" cy="4632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DDDC9C0A-E626-0641-A8D4-489BDA0CE3A9}"/>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MAJOR TOPICS</a:t>
            </a:r>
            <a:endParaRPr lang="en-US" altLang="en-US" sz="5400" dirty="0">
              <a:solidFill>
                <a:srgbClr val="85103F"/>
              </a:solidFill>
              <a:latin typeface="Calibri Light" panose="020F03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DC8AAC1-7DB5-434F-BE64-6CFB52E526BC}"/>
              </a:ext>
            </a:extLst>
          </p:cNvPr>
          <p:cNvGraphicFramePr/>
          <p:nvPr>
            <p:extLst>
              <p:ext uri="{D42A27DB-BD31-4B8C-83A1-F6EECF244321}">
                <p14:modId xmlns:p14="http://schemas.microsoft.com/office/powerpoint/2010/main" val="1004808445"/>
              </p:ext>
            </p:extLst>
          </p:nvPr>
        </p:nvGraphicFramePr>
        <p:xfrm>
          <a:off x="396875" y="1995916"/>
          <a:ext cx="11398250" cy="2874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DDDC9C0A-E626-0641-A8D4-489BDA0CE3A9}"/>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MAJOR TOPICS</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707633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PROCESS SPECIFICATIONS</a:t>
            </a:r>
            <a:endParaRPr lang="en-US" altLang="en-US" sz="5400" dirty="0">
              <a:solidFill>
                <a:srgbClr val="85103F"/>
              </a:solidFill>
              <a:latin typeface="Calibri Light" panose="020F0302020204030204" pitchFamily="34" charset="0"/>
            </a:endParaRPr>
          </a:p>
        </p:txBody>
      </p:sp>
      <p:sp>
        <p:nvSpPr>
          <p:cNvPr id="6" name="Rectangle 3">
            <a:extLst>
              <a:ext uri="{FF2B5EF4-FFF2-40B4-BE49-F238E27FC236}">
                <a16:creationId xmlns:a16="http://schemas.microsoft.com/office/drawing/2014/main" id="{951EF85B-BBB1-6F4A-9B9C-8FB942FD34AC}"/>
              </a:ext>
            </a:extLst>
          </p:cNvPr>
          <p:cNvSpPr txBox="1">
            <a:spLocks noChangeArrowheads="1"/>
          </p:cNvSpPr>
          <p:nvPr/>
        </p:nvSpPr>
        <p:spPr>
          <a:xfrm>
            <a:off x="457200" y="1568450"/>
            <a:ext cx="11584112" cy="455771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Sometimes called </a:t>
            </a:r>
            <a:r>
              <a:rPr lang="en-US" sz="3200" dirty="0" err="1">
                <a:solidFill>
                  <a:srgbClr val="FF0000"/>
                </a:solidFill>
              </a:rPr>
              <a:t>minispecs</a:t>
            </a:r>
            <a:endParaRPr lang="en-US" sz="3200" dirty="0">
              <a:solidFill>
                <a:srgbClr val="FF0000"/>
              </a:solidFill>
            </a:endParaRPr>
          </a:p>
          <a:p>
            <a:r>
              <a:rPr lang="en-US" sz="3200" dirty="0"/>
              <a:t>Created for </a:t>
            </a:r>
            <a:r>
              <a:rPr lang="en-US" sz="3200" dirty="0">
                <a:solidFill>
                  <a:srgbClr val="FF0000"/>
                </a:solidFill>
              </a:rPr>
              <a:t>primitive processes</a:t>
            </a:r>
            <a:r>
              <a:rPr lang="en-US" sz="3200" dirty="0"/>
              <a:t> as well as for some higher level processes on a data flow diagram</a:t>
            </a:r>
          </a:p>
          <a:p>
            <a:r>
              <a:rPr lang="en-US" sz="3200" dirty="0"/>
              <a:t>Created for class methods in object-oriented design and for the steps in a use case.</a:t>
            </a:r>
          </a:p>
          <a:p>
            <a:r>
              <a:rPr lang="en-US" sz="3200" dirty="0"/>
              <a:t>Goals of producing Process Specification:</a:t>
            </a:r>
          </a:p>
          <a:p>
            <a:pPr marL="914400" lvl="1" indent="-457200">
              <a:buFont typeface="+mj-lt"/>
              <a:buAutoNum type="arabicPeriod"/>
            </a:pPr>
            <a:r>
              <a:rPr lang="en-US" sz="2800" dirty="0"/>
              <a:t>Reduce process ambiguity</a:t>
            </a:r>
          </a:p>
          <a:p>
            <a:pPr marL="914400" lvl="1" indent="-457200">
              <a:buFont typeface="+mj-lt"/>
              <a:buAutoNum type="arabicPeriod"/>
            </a:pPr>
            <a:r>
              <a:rPr lang="en-US" sz="2800" dirty="0"/>
              <a:t>Obtain a precise description of what is accomplished</a:t>
            </a:r>
          </a:p>
          <a:p>
            <a:pPr marL="914400" lvl="1" indent="-457200">
              <a:buFont typeface="+mj-lt"/>
              <a:buAutoNum type="arabicPeriod"/>
            </a:pPr>
            <a:r>
              <a:rPr lang="en-US" sz="2800" dirty="0"/>
              <a:t>Validate the system design</a:t>
            </a:r>
          </a:p>
          <a:p>
            <a:endParaRPr lang="en-US" sz="3200" dirty="0"/>
          </a:p>
        </p:txBody>
      </p:sp>
    </p:spTree>
    <p:extLst>
      <p:ext uri="{BB962C8B-B14F-4D97-AF65-F5344CB8AC3E}">
        <p14:creationId xmlns:p14="http://schemas.microsoft.com/office/powerpoint/2010/main" val="602036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PROCESS SPECIFICATIONS</a:t>
            </a:r>
            <a:endParaRPr lang="en-US" altLang="en-US" sz="5400" dirty="0">
              <a:solidFill>
                <a:srgbClr val="85103F"/>
              </a:solidFill>
              <a:latin typeface="Calibri Light" panose="020F0302020204030204" pitchFamily="34" charset="0"/>
            </a:endParaRPr>
          </a:p>
        </p:txBody>
      </p:sp>
      <p:sp>
        <p:nvSpPr>
          <p:cNvPr id="6" name="Rectangle 3">
            <a:extLst>
              <a:ext uri="{FF2B5EF4-FFF2-40B4-BE49-F238E27FC236}">
                <a16:creationId xmlns:a16="http://schemas.microsoft.com/office/drawing/2014/main" id="{951EF85B-BBB1-6F4A-9B9C-8FB942FD34AC}"/>
              </a:ext>
            </a:extLst>
          </p:cNvPr>
          <p:cNvSpPr txBox="1">
            <a:spLocks noChangeArrowheads="1"/>
          </p:cNvSpPr>
          <p:nvPr/>
        </p:nvSpPr>
        <p:spPr>
          <a:xfrm>
            <a:off x="427038" y="1468350"/>
            <a:ext cx="11584112" cy="73296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However, it is </a:t>
            </a:r>
            <a:r>
              <a:rPr lang="en-US" sz="4000" b="1" dirty="0">
                <a:solidFill>
                  <a:srgbClr val="840F3E"/>
                </a:solidFill>
              </a:rPr>
              <a:t>NOT</a:t>
            </a:r>
            <a:r>
              <a:rPr lang="en-US" sz="3200" dirty="0"/>
              <a:t> created for:</a:t>
            </a:r>
          </a:p>
          <a:p>
            <a:endParaRPr lang="en-US" sz="3200" dirty="0"/>
          </a:p>
        </p:txBody>
      </p:sp>
      <p:grpSp>
        <p:nvGrpSpPr>
          <p:cNvPr id="5" name="Group 4">
            <a:extLst>
              <a:ext uri="{FF2B5EF4-FFF2-40B4-BE49-F238E27FC236}">
                <a16:creationId xmlns:a16="http://schemas.microsoft.com/office/drawing/2014/main" id="{68F6E159-5AB0-3D44-AAE9-4F668B5B34A0}"/>
              </a:ext>
            </a:extLst>
          </p:cNvPr>
          <p:cNvGrpSpPr/>
          <p:nvPr/>
        </p:nvGrpSpPr>
        <p:grpSpPr>
          <a:xfrm>
            <a:off x="1628800" y="2322371"/>
            <a:ext cx="8112074" cy="3389646"/>
            <a:chOff x="1628800" y="2322371"/>
            <a:chExt cx="8112074" cy="3389646"/>
          </a:xfrm>
        </p:grpSpPr>
        <p:sp>
          <p:nvSpPr>
            <p:cNvPr id="7" name="Freeform 6">
              <a:extLst>
                <a:ext uri="{FF2B5EF4-FFF2-40B4-BE49-F238E27FC236}">
                  <a16:creationId xmlns:a16="http://schemas.microsoft.com/office/drawing/2014/main" id="{D17BFCDC-83C0-1B49-9641-6AD0395DE317}"/>
                </a:ext>
              </a:extLst>
            </p:cNvPr>
            <p:cNvSpPr/>
            <p:nvPr/>
          </p:nvSpPr>
          <p:spPr>
            <a:xfrm rot="21600000">
              <a:off x="2113035" y="2322371"/>
              <a:ext cx="7627839" cy="968471"/>
            </a:xfrm>
            <a:custGeom>
              <a:avLst/>
              <a:gdLst>
                <a:gd name="connsiteX0" fmla="*/ 0 w 7627839"/>
                <a:gd name="connsiteY0" fmla="*/ 0 h 968469"/>
                <a:gd name="connsiteX1" fmla="*/ 7143605 w 7627839"/>
                <a:gd name="connsiteY1" fmla="*/ 0 h 968469"/>
                <a:gd name="connsiteX2" fmla="*/ 7627839 w 7627839"/>
                <a:gd name="connsiteY2" fmla="*/ 484235 h 968469"/>
                <a:gd name="connsiteX3" fmla="*/ 7143605 w 7627839"/>
                <a:gd name="connsiteY3" fmla="*/ 968469 h 968469"/>
                <a:gd name="connsiteX4" fmla="*/ 0 w 7627839"/>
                <a:gd name="connsiteY4" fmla="*/ 968469 h 968469"/>
                <a:gd name="connsiteX5" fmla="*/ 0 w 7627839"/>
                <a:gd name="connsiteY5" fmla="*/ 0 h 968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7839" h="968469">
                  <a:moveTo>
                    <a:pt x="7627839" y="968468"/>
                  </a:moveTo>
                  <a:lnTo>
                    <a:pt x="484234" y="968468"/>
                  </a:lnTo>
                  <a:lnTo>
                    <a:pt x="0" y="484234"/>
                  </a:lnTo>
                  <a:lnTo>
                    <a:pt x="484234" y="1"/>
                  </a:lnTo>
                  <a:lnTo>
                    <a:pt x="7627839" y="1"/>
                  </a:lnTo>
                  <a:lnTo>
                    <a:pt x="7627839" y="968468"/>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69185" tIns="102871" rIns="192024" bIns="102871" numCol="1" spcCol="1270" anchor="ctr" anchorCtr="0">
              <a:noAutofit/>
            </a:bodyPr>
            <a:lstStyle/>
            <a:p>
              <a:pPr marL="0" lvl="0" indent="0" algn="ctr" defTabSz="1200150">
                <a:lnSpc>
                  <a:spcPct val="90000"/>
                </a:lnSpc>
                <a:spcBef>
                  <a:spcPct val="0"/>
                </a:spcBef>
                <a:spcAft>
                  <a:spcPct val="35000"/>
                </a:spcAft>
                <a:buNone/>
              </a:pPr>
              <a:r>
                <a:rPr lang="en-US" sz="2700" kern="1200"/>
                <a:t>Processes that represent physical input and/or output</a:t>
              </a:r>
              <a:endParaRPr lang="en-MY" sz="2700" kern="1200"/>
            </a:p>
          </p:txBody>
        </p:sp>
        <p:sp>
          <p:nvSpPr>
            <p:cNvPr id="8" name="Oval 7">
              <a:extLst>
                <a:ext uri="{FF2B5EF4-FFF2-40B4-BE49-F238E27FC236}">
                  <a16:creationId xmlns:a16="http://schemas.microsoft.com/office/drawing/2014/main" id="{A4293A4C-B8A6-7241-AE07-841D6F898DDE}"/>
                </a:ext>
              </a:extLst>
            </p:cNvPr>
            <p:cNvSpPr/>
            <p:nvPr/>
          </p:nvSpPr>
          <p:spPr>
            <a:xfrm>
              <a:off x="1628800" y="2322372"/>
              <a:ext cx="968469" cy="968469"/>
            </a:xfrm>
            <a:prstGeom prst="ellipse">
              <a:avLst/>
            </a:prstGeom>
          </p:spPr>
          <p:style>
            <a:lnRef idx="2">
              <a:schemeClr val="lt1">
                <a:hueOff val="0"/>
                <a:satOff val="0"/>
                <a:lumOff val="0"/>
                <a:alphaOff val="0"/>
              </a:schemeClr>
            </a:lnRef>
            <a:fillRef idx="1">
              <a:schemeClr val="accent2">
                <a:tint val="50000"/>
                <a:hueOff val="0"/>
                <a:satOff val="0"/>
                <a:lumOff val="0"/>
                <a:alphaOff val="0"/>
              </a:schemeClr>
            </a:fillRef>
            <a:effectRef idx="0">
              <a:schemeClr val="accent2">
                <a:tint val="50000"/>
                <a:hueOff val="0"/>
                <a:satOff val="0"/>
                <a:lumOff val="0"/>
                <a:alphaOff val="0"/>
              </a:schemeClr>
            </a:effectRef>
            <a:fontRef idx="minor">
              <a:schemeClr val="lt1">
                <a:hueOff val="0"/>
                <a:satOff val="0"/>
                <a:lumOff val="0"/>
                <a:alphaOff val="0"/>
              </a:schemeClr>
            </a:fontRef>
          </p:style>
        </p:sp>
        <p:sp>
          <p:nvSpPr>
            <p:cNvPr id="9" name="Freeform 8">
              <a:extLst>
                <a:ext uri="{FF2B5EF4-FFF2-40B4-BE49-F238E27FC236}">
                  <a16:creationId xmlns:a16="http://schemas.microsoft.com/office/drawing/2014/main" id="{2428597C-B273-DF48-8CC9-822195755314}"/>
                </a:ext>
              </a:extLst>
            </p:cNvPr>
            <p:cNvSpPr/>
            <p:nvPr/>
          </p:nvSpPr>
          <p:spPr>
            <a:xfrm rot="21600000">
              <a:off x="2113035" y="3532959"/>
              <a:ext cx="7627839" cy="968471"/>
            </a:xfrm>
            <a:custGeom>
              <a:avLst/>
              <a:gdLst>
                <a:gd name="connsiteX0" fmla="*/ 0 w 7627839"/>
                <a:gd name="connsiteY0" fmla="*/ 0 h 968469"/>
                <a:gd name="connsiteX1" fmla="*/ 7143605 w 7627839"/>
                <a:gd name="connsiteY1" fmla="*/ 0 h 968469"/>
                <a:gd name="connsiteX2" fmla="*/ 7627839 w 7627839"/>
                <a:gd name="connsiteY2" fmla="*/ 484235 h 968469"/>
                <a:gd name="connsiteX3" fmla="*/ 7143605 w 7627839"/>
                <a:gd name="connsiteY3" fmla="*/ 968469 h 968469"/>
                <a:gd name="connsiteX4" fmla="*/ 0 w 7627839"/>
                <a:gd name="connsiteY4" fmla="*/ 968469 h 968469"/>
                <a:gd name="connsiteX5" fmla="*/ 0 w 7627839"/>
                <a:gd name="connsiteY5" fmla="*/ 0 h 968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7839" h="968469">
                  <a:moveTo>
                    <a:pt x="7627839" y="968468"/>
                  </a:moveTo>
                  <a:lnTo>
                    <a:pt x="484234" y="968468"/>
                  </a:lnTo>
                  <a:lnTo>
                    <a:pt x="0" y="484234"/>
                  </a:lnTo>
                  <a:lnTo>
                    <a:pt x="484234" y="1"/>
                  </a:lnTo>
                  <a:lnTo>
                    <a:pt x="7627839" y="1"/>
                  </a:lnTo>
                  <a:lnTo>
                    <a:pt x="7627839" y="968468"/>
                  </a:lnTo>
                  <a:close/>
                </a:path>
              </a:pathLst>
            </a:custGeom>
          </p:spPr>
          <p:style>
            <a:lnRef idx="2">
              <a:schemeClr val="lt1">
                <a:hueOff val="0"/>
                <a:satOff val="0"/>
                <a:lumOff val="0"/>
                <a:alphaOff val="0"/>
              </a:schemeClr>
            </a:lnRef>
            <a:fillRef idx="1">
              <a:schemeClr val="accent2">
                <a:hueOff val="-727682"/>
                <a:satOff val="-41964"/>
                <a:lumOff val="4314"/>
                <a:alphaOff val="0"/>
              </a:schemeClr>
            </a:fillRef>
            <a:effectRef idx="0">
              <a:schemeClr val="accent2">
                <a:hueOff val="-727682"/>
                <a:satOff val="-41964"/>
                <a:lumOff val="4314"/>
                <a:alphaOff val="0"/>
              </a:schemeClr>
            </a:effectRef>
            <a:fontRef idx="minor">
              <a:schemeClr val="lt1"/>
            </a:fontRef>
          </p:style>
          <p:txBody>
            <a:bodyPr spcFirstLastPara="0" vert="horz" wrap="square" lIns="669185" tIns="102871" rIns="192024" bIns="102871" numCol="1" spcCol="1270" anchor="ctr" anchorCtr="0">
              <a:noAutofit/>
            </a:bodyPr>
            <a:lstStyle/>
            <a:p>
              <a:pPr marL="0" lvl="0" indent="0" algn="ctr" defTabSz="1200150">
                <a:lnSpc>
                  <a:spcPct val="90000"/>
                </a:lnSpc>
                <a:spcBef>
                  <a:spcPct val="0"/>
                </a:spcBef>
                <a:spcAft>
                  <a:spcPct val="35000"/>
                </a:spcAft>
                <a:buNone/>
              </a:pPr>
              <a:r>
                <a:rPr lang="en-US" sz="2700" kern="1200"/>
                <a:t>Processes that represent simple data validation</a:t>
              </a:r>
              <a:endParaRPr lang="en-MY" sz="2700" kern="1200"/>
            </a:p>
          </p:txBody>
        </p:sp>
        <p:sp>
          <p:nvSpPr>
            <p:cNvPr id="10" name="Oval 9">
              <a:extLst>
                <a:ext uri="{FF2B5EF4-FFF2-40B4-BE49-F238E27FC236}">
                  <a16:creationId xmlns:a16="http://schemas.microsoft.com/office/drawing/2014/main" id="{D8C9170E-32AD-C041-AB43-EB96757E631B}"/>
                </a:ext>
              </a:extLst>
            </p:cNvPr>
            <p:cNvSpPr/>
            <p:nvPr/>
          </p:nvSpPr>
          <p:spPr>
            <a:xfrm>
              <a:off x="1628800" y="3532960"/>
              <a:ext cx="968469" cy="968469"/>
            </a:xfrm>
            <a:prstGeom prst="ellipse">
              <a:avLst/>
            </a:prstGeom>
          </p:spPr>
          <p:style>
            <a:lnRef idx="2">
              <a:schemeClr val="lt1">
                <a:hueOff val="0"/>
                <a:satOff val="0"/>
                <a:lumOff val="0"/>
                <a:alphaOff val="0"/>
              </a:schemeClr>
            </a:lnRef>
            <a:fillRef idx="1">
              <a:schemeClr val="accent2">
                <a:tint val="50000"/>
                <a:hueOff val="-440331"/>
                <a:satOff val="-38085"/>
                <a:lumOff val="-381"/>
                <a:alphaOff val="0"/>
              </a:schemeClr>
            </a:fillRef>
            <a:effectRef idx="0">
              <a:schemeClr val="accent2">
                <a:tint val="50000"/>
                <a:hueOff val="-440331"/>
                <a:satOff val="-38085"/>
                <a:lumOff val="-381"/>
                <a:alphaOff val="0"/>
              </a:schemeClr>
            </a:effectRef>
            <a:fontRef idx="minor">
              <a:schemeClr val="lt1">
                <a:hueOff val="0"/>
                <a:satOff val="0"/>
                <a:lumOff val="0"/>
                <a:alphaOff val="0"/>
              </a:schemeClr>
            </a:fontRef>
          </p:style>
        </p:sp>
        <p:sp>
          <p:nvSpPr>
            <p:cNvPr id="11" name="Freeform 10">
              <a:extLst>
                <a:ext uri="{FF2B5EF4-FFF2-40B4-BE49-F238E27FC236}">
                  <a16:creationId xmlns:a16="http://schemas.microsoft.com/office/drawing/2014/main" id="{68B51541-4DEB-6842-BBE4-A52068AF28B8}"/>
                </a:ext>
              </a:extLst>
            </p:cNvPr>
            <p:cNvSpPr/>
            <p:nvPr/>
          </p:nvSpPr>
          <p:spPr>
            <a:xfrm rot="21600000">
              <a:off x="2113035" y="4743546"/>
              <a:ext cx="7627839" cy="968471"/>
            </a:xfrm>
            <a:custGeom>
              <a:avLst/>
              <a:gdLst>
                <a:gd name="connsiteX0" fmla="*/ 0 w 7627839"/>
                <a:gd name="connsiteY0" fmla="*/ 0 h 968469"/>
                <a:gd name="connsiteX1" fmla="*/ 7143605 w 7627839"/>
                <a:gd name="connsiteY1" fmla="*/ 0 h 968469"/>
                <a:gd name="connsiteX2" fmla="*/ 7627839 w 7627839"/>
                <a:gd name="connsiteY2" fmla="*/ 484235 h 968469"/>
                <a:gd name="connsiteX3" fmla="*/ 7143605 w 7627839"/>
                <a:gd name="connsiteY3" fmla="*/ 968469 h 968469"/>
                <a:gd name="connsiteX4" fmla="*/ 0 w 7627839"/>
                <a:gd name="connsiteY4" fmla="*/ 968469 h 968469"/>
                <a:gd name="connsiteX5" fmla="*/ 0 w 7627839"/>
                <a:gd name="connsiteY5" fmla="*/ 0 h 968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27839" h="968469">
                  <a:moveTo>
                    <a:pt x="7627839" y="968468"/>
                  </a:moveTo>
                  <a:lnTo>
                    <a:pt x="484234" y="968468"/>
                  </a:lnTo>
                  <a:lnTo>
                    <a:pt x="0" y="484234"/>
                  </a:lnTo>
                  <a:lnTo>
                    <a:pt x="484234" y="1"/>
                  </a:lnTo>
                  <a:lnTo>
                    <a:pt x="7627839" y="1"/>
                  </a:lnTo>
                  <a:lnTo>
                    <a:pt x="7627839" y="968468"/>
                  </a:lnTo>
                  <a:close/>
                </a:path>
              </a:pathLst>
            </a:custGeom>
          </p:spPr>
          <p:style>
            <a:lnRef idx="2">
              <a:schemeClr val="lt1">
                <a:hueOff val="0"/>
                <a:satOff val="0"/>
                <a:lumOff val="0"/>
                <a:alphaOff val="0"/>
              </a:schemeClr>
            </a:lnRef>
            <a:fillRef idx="1">
              <a:schemeClr val="accent2">
                <a:hueOff val="-1455363"/>
                <a:satOff val="-83928"/>
                <a:lumOff val="8628"/>
                <a:alphaOff val="0"/>
              </a:schemeClr>
            </a:fillRef>
            <a:effectRef idx="0">
              <a:schemeClr val="accent2">
                <a:hueOff val="-1455363"/>
                <a:satOff val="-83928"/>
                <a:lumOff val="8628"/>
                <a:alphaOff val="0"/>
              </a:schemeClr>
            </a:effectRef>
            <a:fontRef idx="minor">
              <a:schemeClr val="lt1"/>
            </a:fontRef>
          </p:style>
          <p:txBody>
            <a:bodyPr spcFirstLastPara="0" vert="horz" wrap="square" lIns="669185" tIns="102871" rIns="192024" bIns="102871" numCol="1" spcCol="1270" anchor="ctr" anchorCtr="0">
              <a:noAutofit/>
            </a:bodyPr>
            <a:lstStyle/>
            <a:p>
              <a:pPr marL="0" lvl="0" indent="0" algn="ctr" defTabSz="1200150">
                <a:lnSpc>
                  <a:spcPct val="90000"/>
                </a:lnSpc>
                <a:spcBef>
                  <a:spcPct val="0"/>
                </a:spcBef>
                <a:spcAft>
                  <a:spcPct val="35000"/>
                </a:spcAft>
                <a:buNone/>
              </a:pPr>
              <a:r>
                <a:rPr lang="en-US" sz="2700" kern="1200"/>
                <a:t>Processes that use prewritten code</a:t>
              </a:r>
              <a:endParaRPr lang="en-MY" sz="2700" kern="1200"/>
            </a:p>
          </p:txBody>
        </p:sp>
        <p:sp>
          <p:nvSpPr>
            <p:cNvPr id="12" name="Oval 11">
              <a:extLst>
                <a:ext uri="{FF2B5EF4-FFF2-40B4-BE49-F238E27FC236}">
                  <a16:creationId xmlns:a16="http://schemas.microsoft.com/office/drawing/2014/main" id="{2BBC6D67-9116-0D43-9534-6459E11D73B3}"/>
                </a:ext>
              </a:extLst>
            </p:cNvPr>
            <p:cNvSpPr/>
            <p:nvPr/>
          </p:nvSpPr>
          <p:spPr>
            <a:xfrm>
              <a:off x="1628800" y="4743547"/>
              <a:ext cx="968469" cy="968469"/>
            </a:xfrm>
            <a:prstGeom prst="ellipse">
              <a:avLst/>
            </a:prstGeom>
          </p:spPr>
          <p:style>
            <a:lnRef idx="2">
              <a:schemeClr val="lt1">
                <a:hueOff val="0"/>
                <a:satOff val="0"/>
                <a:lumOff val="0"/>
                <a:alphaOff val="0"/>
              </a:schemeClr>
            </a:lnRef>
            <a:fillRef idx="1">
              <a:schemeClr val="accent2">
                <a:tint val="50000"/>
                <a:hueOff val="-880662"/>
                <a:satOff val="-76170"/>
                <a:lumOff val="-762"/>
                <a:alphaOff val="0"/>
              </a:schemeClr>
            </a:fillRef>
            <a:effectRef idx="0">
              <a:schemeClr val="accent2">
                <a:tint val="50000"/>
                <a:hueOff val="-880662"/>
                <a:satOff val="-76170"/>
                <a:lumOff val="-762"/>
                <a:alphaOff val="0"/>
              </a:schemeClr>
            </a:effectRef>
            <a:fontRef idx="minor">
              <a:schemeClr val="lt1">
                <a:hueOff val="0"/>
                <a:satOff val="0"/>
                <a:lumOff val="0"/>
                <a:alphaOff val="0"/>
              </a:schemeClr>
            </a:fontRef>
          </p:style>
        </p:sp>
      </p:grpSp>
      <p:pic>
        <p:nvPicPr>
          <p:cNvPr id="2050" name="Picture 2" descr="Image result for cancel png">
            <a:extLst>
              <a:ext uri="{FF2B5EF4-FFF2-40B4-BE49-F238E27FC236}">
                <a16:creationId xmlns:a16="http://schemas.microsoft.com/office/drawing/2014/main" id="{DD9DB893-1BA7-1549-A638-60F289E77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3180" y="2465797"/>
            <a:ext cx="659710" cy="64997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cancel png">
            <a:extLst>
              <a:ext uri="{FF2B5EF4-FFF2-40B4-BE49-F238E27FC236}">
                <a16:creationId xmlns:a16="http://schemas.microsoft.com/office/drawing/2014/main" id="{02599934-D58C-054C-92BF-5921312027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416" y="3692207"/>
            <a:ext cx="659710" cy="64997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mage result for cancel png">
            <a:extLst>
              <a:ext uri="{FF2B5EF4-FFF2-40B4-BE49-F238E27FC236}">
                <a16:creationId xmlns:a16="http://schemas.microsoft.com/office/drawing/2014/main" id="{70B12138-67F2-664F-8CE8-3CBCC26A50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1416" y="4902794"/>
            <a:ext cx="659710" cy="649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0952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7" y="596900"/>
            <a:ext cx="11675919"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HOW PROCESS SPECIFICATION RELATE TO DFD</a:t>
            </a:r>
            <a:endParaRPr lang="en-US" altLang="en-US" sz="5400" dirty="0">
              <a:solidFill>
                <a:srgbClr val="85103F"/>
              </a:solidFill>
              <a:latin typeface="Calibri Light" panose="020F0302020204030204" pitchFamily="34" charset="0"/>
            </a:endParaRPr>
          </a:p>
        </p:txBody>
      </p:sp>
      <p:pic>
        <p:nvPicPr>
          <p:cNvPr id="3" name="Picture 9">
            <a:extLst>
              <a:ext uri="{FF2B5EF4-FFF2-40B4-BE49-F238E27FC236}">
                <a16:creationId xmlns:a16="http://schemas.microsoft.com/office/drawing/2014/main" id="{8FC422BD-78E6-2941-A54A-8F6BAB7C44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975" y="1479478"/>
            <a:ext cx="6711910" cy="49441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8569239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293473"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PROCESS SPEFICATION FORMAT</a:t>
            </a:r>
            <a:endParaRPr lang="en-US" altLang="en-US" sz="5400" dirty="0">
              <a:solidFill>
                <a:srgbClr val="85103F"/>
              </a:solidFill>
              <a:latin typeface="Calibri Light" panose="020F0302020204030204" pitchFamily="34" charset="0"/>
            </a:endParaRPr>
          </a:p>
        </p:txBody>
      </p:sp>
      <p:pic>
        <p:nvPicPr>
          <p:cNvPr id="3" name="Picture 8">
            <a:extLst>
              <a:ext uri="{FF2B5EF4-FFF2-40B4-BE49-F238E27FC236}">
                <a16:creationId xmlns:a16="http://schemas.microsoft.com/office/drawing/2014/main" id="{2660B2C3-E00E-3E44-9074-674545AD65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2608" y="1300410"/>
            <a:ext cx="4270360" cy="527960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Rectangle 3">
            <a:extLst>
              <a:ext uri="{FF2B5EF4-FFF2-40B4-BE49-F238E27FC236}">
                <a16:creationId xmlns:a16="http://schemas.microsoft.com/office/drawing/2014/main" id="{266A25CA-D166-5E4A-8E43-F5590E37A283}"/>
              </a:ext>
            </a:extLst>
          </p:cNvPr>
          <p:cNvSpPr txBox="1">
            <a:spLocks noChangeArrowheads="1"/>
          </p:cNvSpPr>
          <p:nvPr/>
        </p:nvSpPr>
        <p:spPr>
          <a:xfrm>
            <a:off x="5126704" y="1664478"/>
            <a:ext cx="6962515" cy="492941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sz="2400" dirty="0"/>
              <a:t>The process number</a:t>
            </a:r>
          </a:p>
          <a:p>
            <a:pPr marL="514350" indent="-514350">
              <a:buFont typeface="+mj-lt"/>
              <a:buAutoNum type="arabicPeriod"/>
            </a:pPr>
            <a:r>
              <a:rPr lang="en-US" sz="2400" dirty="0"/>
              <a:t>The process name </a:t>
            </a:r>
          </a:p>
          <a:p>
            <a:pPr marL="514350" indent="-514350">
              <a:buFont typeface="+mj-lt"/>
              <a:buAutoNum type="arabicPeriod"/>
            </a:pPr>
            <a:r>
              <a:rPr lang="en-US" sz="2400" dirty="0"/>
              <a:t>Description of what the process accomplishes</a:t>
            </a:r>
          </a:p>
          <a:p>
            <a:pPr marL="514350" indent="-514350">
              <a:buFont typeface="+mj-lt"/>
              <a:buAutoNum type="arabicPeriod"/>
            </a:pPr>
            <a:r>
              <a:rPr lang="en-US" sz="2400" dirty="0"/>
              <a:t>A list of input data flow</a:t>
            </a:r>
          </a:p>
          <a:p>
            <a:pPr marL="514350" indent="-514350">
              <a:buFont typeface="+mj-lt"/>
              <a:buAutoNum type="arabicPeriod"/>
            </a:pPr>
            <a:r>
              <a:rPr lang="en-US" sz="2400" dirty="0"/>
              <a:t>Output data flows</a:t>
            </a:r>
          </a:p>
          <a:p>
            <a:pPr marL="514350" indent="-514350">
              <a:buFont typeface="+mj-lt"/>
              <a:buAutoNum type="arabicPeriod"/>
            </a:pPr>
            <a:r>
              <a:rPr lang="en-US" sz="2400" dirty="0"/>
              <a:t>Type of process </a:t>
            </a:r>
          </a:p>
          <a:p>
            <a:pPr marL="514350" indent="-514350">
              <a:buFont typeface="+mj-lt"/>
              <a:buAutoNum type="arabicPeriod"/>
            </a:pPr>
            <a:r>
              <a:rPr lang="en-US" sz="2400" dirty="0"/>
              <a:t>Uses prewritten code</a:t>
            </a:r>
          </a:p>
          <a:p>
            <a:pPr marL="514350" indent="-514350">
              <a:buFont typeface="+mj-lt"/>
              <a:buAutoNum type="arabicPeriod"/>
            </a:pPr>
            <a:r>
              <a:rPr lang="en-US" sz="2400" dirty="0"/>
              <a:t>Process logic description</a:t>
            </a:r>
          </a:p>
          <a:p>
            <a:pPr marL="514350" indent="-514350">
              <a:buFont typeface="+mj-lt"/>
              <a:buAutoNum type="arabicPeriod"/>
            </a:pPr>
            <a:r>
              <a:rPr lang="en-US" sz="2400" dirty="0"/>
              <a:t>Logic method reference </a:t>
            </a:r>
          </a:p>
          <a:p>
            <a:pPr marL="514350" indent="-514350">
              <a:buFont typeface="+mj-lt"/>
              <a:buAutoNum type="arabicPeriod"/>
            </a:pPr>
            <a:r>
              <a:rPr lang="en-US" sz="2400" dirty="0"/>
              <a:t>List any unresolved issues</a:t>
            </a:r>
          </a:p>
        </p:txBody>
      </p:sp>
    </p:spTree>
    <p:extLst>
      <p:ext uri="{BB962C8B-B14F-4D97-AF65-F5344CB8AC3E}">
        <p14:creationId xmlns:p14="http://schemas.microsoft.com/office/powerpoint/2010/main" val="2329588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293473"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PROCESS SPEFICATION FORMAT</a:t>
            </a:r>
            <a:endParaRPr lang="en-US" altLang="en-US" sz="5400" dirty="0">
              <a:solidFill>
                <a:srgbClr val="85103F"/>
              </a:solidFill>
              <a:latin typeface="Calibri Light" panose="020F0302020204030204" pitchFamily="34" charset="0"/>
            </a:endParaRPr>
          </a:p>
        </p:txBody>
      </p:sp>
      <p:graphicFrame>
        <p:nvGraphicFramePr>
          <p:cNvPr id="6" name="Table 5">
            <a:extLst>
              <a:ext uri="{FF2B5EF4-FFF2-40B4-BE49-F238E27FC236}">
                <a16:creationId xmlns:a16="http://schemas.microsoft.com/office/drawing/2014/main" id="{8B6C7FEC-92E6-1C4A-ABBA-B5A1D2C14A3F}"/>
              </a:ext>
            </a:extLst>
          </p:cNvPr>
          <p:cNvGraphicFramePr>
            <a:graphicFrameLocks noGrp="1"/>
          </p:cNvGraphicFramePr>
          <p:nvPr>
            <p:extLst>
              <p:ext uri="{D42A27DB-BD31-4B8C-83A1-F6EECF244321}">
                <p14:modId xmlns:p14="http://schemas.microsoft.com/office/powerpoint/2010/main" val="1977555863"/>
              </p:ext>
            </p:extLst>
          </p:nvPr>
        </p:nvGraphicFramePr>
        <p:xfrm>
          <a:off x="530794" y="1568450"/>
          <a:ext cx="11367733" cy="4487170"/>
        </p:xfrm>
        <a:graphic>
          <a:graphicData uri="http://schemas.openxmlformats.org/drawingml/2006/table">
            <a:tbl>
              <a:tblPr firstRow="1" bandRow="1">
                <a:tableStyleId>{21E4AEA4-8DFA-4A89-87EB-49C32662AFE0}</a:tableStyleId>
              </a:tblPr>
              <a:tblGrid>
                <a:gridCol w="479995">
                  <a:extLst>
                    <a:ext uri="{9D8B030D-6E8A-4147-A177-3AD203B41FA5}">
                      <a16:colId xmlns:a16="http://schemas.microsoft.com/office/drawing/2014/main" val="52217378"/>
                    </a:ext>
                  </a:extLst>
                </a:gridCol>
                <a:gridCol w="3349256">
                  <a:extLst>
                    <a:ext uri="{9D8B030D-6E8A-4147-A177-3AD203B41FA5}">
                      <a16:colId xmlns:a16="http://schemas.microsoft.com/office/drawing/2014/main" val="2385481471"/>
                    </a:ext>
                  </a:extLst>
                </a:gridCol>
                <a:gridCol w="7538482">
                  <a:extLst>
                    <a:ext uri="{9D8B030D-6E8A-4147-A177-3AD203B41FA5}">
                      <a16:colId xmlns:a16="http://schemas.microsoft.com/office/drawing/2014/main" val="4132960733"/>
                    </a:ext>
                  </a:extLst>
                </a:gridCol>
              </a:tblGrid>
              <a:tr h="483634">
                <a:tc>
                  <a:txBody>
                    <a:bodyPr/>
                    <a:lstStyle/>
                    <a:p>
                      <a:endParaRPr lang="en-US" sz="2000" dirty="0"/>
                    </a:p>
                  </a:txBody>
                  <a:tcPr/>
                </a:tc>
                <a:tc>
                  <a:txBody>
                    <a:bodyPr/>
                    <a:lstStyle/>
                    <a:p>
                      <a:pPr algn="ctr"/>
                      <a:r>
                        <a:rPr lang="en-US" sz="1800" dirty="0"/>
                        <a:t>PROCESS SPECIFICATION ITEMS</a:t>
                      </a:r>
                    </a:p>
                  </a:txBody>
                  <a:tcPr/>
                </a:tc>
                <a:tc>
                  <a:txBody>
                    <a:bodyPr/>
                    <a:lstStyle/>
                    <a:p>
                      <a:pPr algn="ctr"/>
                      <a:r>
                        <a:rPr lang="en-US" sz="2000" dirty="0"/>
                        <a:t>DESCRIPTION</a:t>
                      </a:r>
                    </a:p>
                  </a:txBody>
                  <a:tcPr/>
                </a:tc>
                <a:extLst>
                  <a:ext uri="{0D108BD9-81ED-4DB2-BD59-A6C34878D82A}">
                    <a16:rowId xmlns:a16="http://schemas.microsoft.com/office/drawing/2014/main" val="4115150587"/>
                  </a:ext>
                </a:extLst>
              </a:tr>
              <a:tr h="782108">
                <a:tc>
                  <a:txBody>
                    <a:bodyPr/>
                    <a:lstStyle/>
                    <a:p>
                      <a:r>
                        <a:rPr lang="en-US" sz="2000"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process number</a:t>
                      </a:r>
                    </a:p>
                  </a:txBody>
                  <a:tcPr/>
                </a:tc>
                <a:tc>
                  <a:txBody>
                    <a:bodyPr/>
                    <a:lstStyle/>
                    <a:p>
                      <a:pPr marL="285750" indent="-285750">
                        <a:buFont typeface="Arial" panose="020B0604020202020204" pitchFamily="34" charset="0"/>
                        <a:buChar char="•"/>
                      </a:pPr>
                      <a:r>
                        <a:rPr lang="en-US" sz="2000" dirty="0"/>
                        <a:t>Must match the process ID on the data flow diagram</a:t>
                      </a:r>
                    </a:p>
                    <a:p>
                      <a:pPr marL="285750" indent="-285750">
                        <a:buFont typeface="Arial" panose="020B0604020202020204" pitchFamily="34" charset="0"/>
                        <a:buChar char="•"/>
                      </a:pPr>
                      <a:r>
                        <a:rPr lang="en-US" sz="2000" dirty="0"/>
                        <a:t>Allows the analyst to work on or review any process, and to locate the data flow diagram containing the process easily</a:t>
                      </a:r>
                    </a:p>
                  </a:txBody>
                  <a:tcPr/>
                </a:tc>
                <a:extLst>
                  <a:ext uri="{0D108BD9-81ED-4DB2-BD59-A6C34878D82A}">
                    <a16:rowId xmlns:a16="http://schemas.microsoft.com/office/drawing/2014/main" val="3657840446"/>
                  </a:ext>
                </a:extLst>
              </a:tr>
              <a:tr h="446567">
                <a:tc>
                  <a:txBody>
                    <a:bodyPr/>
                    <a:lstStyle/>
                    <a:p>
                      <a:r>
                        <a:rPr lang="en-US" sz="2000"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process name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same as displays within the process symbol on the DFD</a:t>
                      </a:r>
                    </a:p>
                  </a:txBody>
                  <a:tcPr/>
                </a:tc>
                <a:extLst>
                  <a:ext uri="{0D108BD9-81ED-4DB2-BD59-A6C34878D82A}">
                    <a16:rowId xmlns:a16="http://schemas.microsoft.com/office/drawing/2014/main" val="3062096802"/>
                  </a:ext>
                </a:extLst>
              </a:tr>
              <a:tr h="782108">
                <a:tc>
                  <a:txBody>
                    <a:bodyPr/>
                    <a:lstStyle/>
                    <a:p>
                      <a:r>
                        <a:rPr lang="en-US" sz="2000"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Description of what the process accomplishes</a:t>
                      </a:r>
                    </a:p>
                  </a:txBody>
                  <a:tcPr/>
                </a:tc>
                <a:tc>
                  <a:txBody>
                    <a:bodyPr/>
                    <a:lstStyle/>
                    <a:p>
                      <a:r>
                        <a:rPr lang="en-US" sz="2000" dirty="0"/>
                        <a:t>Example:</a:t>
                      </a:r>
                    </a:p>
                    <a:p>
                      <a:r>
                        <a:rPr lang="en-US" sz="2000" dirty="0"/>
                        <a:t>Determine if an item is available for sale. If it is not available, create a backordered item record. Determine the quantity available.</a:t>
                      </a:r>
                    </a:p>
                  </a:txBody>
                  <a:tcPr/>
                </a:tc>
                <a:extLst>
                  <a:ext uri="{0D108BD9-81ED-4DB2-BD59-A6C34878D82A}">
                    <a16:rowId xmlns:a16="http://schemas.microsoft.com/office/drawing/2014/main" val="84353043"/>
                  </a:ext>
                </a:extLst>
              </a:tr>
              <a:tr h="782108">
                <a:tc>
                  <a:txBody>
                    <a:bodyPr/>
                    <a:lstStyle/>
                    <a:p>
                      <a:r>
                        <a:rPr lang="en-US" sz="2000"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 list of input data flow</a:t>
                      </a:r>
                    </a:p>
                  </a:txBody>
                  <a:tcPr/>
                </a:tc>
                <a:tc>
                  <a:txBody>
                    <a:bodyPr/>
                    <a:lstStyle/>
                    <a:p>
                      <a:pPr marL="285750" indent="-285750">
                        <a:buFont typeface="Arial" panose="020B0604020202020204" pitchFamily="34" charset="0"/>
                        <a:buChar char="•"/>
                      </a:pPr>
                      <a:r>
                        <a:rPr lang="en-US" sz="2000" dirty="0"/>
                        <a:t>Uses the names found on the data flow diagram</a:t>
                      </a:r>
                    </a:p>
                    <a:p>
                      <a:pPr marL="285750" indent="-285750">
                        <a:buFont typeface="Arial" panose="020B0604020202020204" pitchFamily="34" charset="0"/>
                        <a:buChar char="•"/>
                      </a:pPr>
                      <a:r>
                        <a:rPr lang="en-US" sz="2000" dirty="0"/>
                        <a:t>Data names used in the formula or logic should match the data dictionary, for consistency and good communication</a:t>
                      </a:r>
                    </a:p>
                  </a:txBody>
                  <a:tcPr/>
                </a:tc>
                <a:extLst>
                  <a:ext uri="{0D108BD9-81ED-4DB2-BD59-A6C34878D82A}">
                    <a16:rowId xmlns:a16="http://schemas.microsoft.com/office/drawing/2014/main" val="3740605590"/>
                  </a:ext>
                </a:extLst>
              </a:tr>
              <a:tr h="539449">
                <a:tc>
                  <a:txBody>
                    <a:bodyPr/>
                    <a:lstStyle/>
                    <a:p>
                      <a:r>
                        <a:rPr lang="en-US" sz="2000"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Output data flows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Uses data flow diagram and data dictionary names</a:t>
                      </a:r>
                    </a:p>
                  </a:txBody>
                  <a:tcPr/>
                </a:tc>
                <a:extLst>
                  <a:ext uri="{0D108BD9-81ED-4DB2-BD59-A6C34878D82A}">
                    <a16:rowId xmlns:a16="http://schemas.microsoft.com/office/drawing/2014/main" val="2229120716"/>
                  </a:ext>
                </a:extLst>
              </a:tr>
            </a:tbl>
          </a:graphicData>
        </a:graphic>
      </p:graphicFrame>
    </p:spTree>
    <p:extLst>
      <p:ext uri="{BB962C8B-B14F-4D97-AF65-F5344CB8AC3E}">
        <p14:creationId xmlns:p14="http://schemas.microsoft.com/office/powerpoint/2010/main" val="1424344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8B6C7FEC-92E6-1C4A-ABBA-B5A1D2C14A3F}"/>
              </a:ext>
            </a:extLst>
          </p:cNvPr>
          <p:cNvGraphicFramePr>
            <a:graphicFrameLocks noGrp="1"/>
          </p:cNvGraphicFramePr>
          <p:nvPr>
            <p:extLst>
              <p:ext uri="{D42A27DB-BD31-4B8C-83A1-F6EECF244321}">
                <p14:modId xmlns:p14="http://schemas.microsoft.com/office/powerpoint/2010/main" val="3955963994"/>
              </p:ext>
            </p:extLst>
          </p:nvPr>
        </p:nvGraphicFramePr>
        <p:xfrm>
          <a:off x="336003" y="662309"/>
          <a:ext cx="11367733" cy="5746041"/>
        </p:xfrm>
        <a:graphic>
          <a:graphicData uri="http://schemas.openxmlformats.org/drawingml/2006/table">
            <a:tbl>
              <a:tblPr firstRow="1" bandRow="1">
                <a:tableStyleId>{21E4AEA4-8DFA-4A89-87EB-49C32662AFE0}</a:tableStyleId>
              </a:tblPr>
              <a:tblGrid>
                <a:gridCol w="479995">
                  <a:extLst>
                    <a:ext uri="{9D8B030D-6E8A-4147-A177-3AD203B41FA5}">
                      <a16:colId xmlns:a16="http://schemas.microsoft.com/office/drawing/2014/main" val="52217378"/>
                    </a:ext>
                  </a:extLst>
                </a:gridCol>
                <a:gridCol w="3349256">
                  <a:extLst>
                    <a:ext uri="{9D8B030D-6E8A-4147-A177-3AD203B41FA5}">
                      <a16:colId xmlns:a16="http://schemas.microsoft.com/office/drawing/2014/main" val="2385481471"/>
                    </a:ext>
                  </a:extLst>
                </a:gridCol>
                <a:gridCol w="7538482">
                  <a:extLst>
                    <a:ext uri="{9D8B030D-6E8A-4147-A177-3AD203B41FA5}">
                      <a16:colId xmlns:a16="http://schemas.microsoft.com/office/drawing/2014/main" val="4132960733"/>
                    </a:ext>
                  </a:extLst>
                </a:gridCol>
              </a:tblGrid>
              <a:tr h="483634">
                <a:tc>
                  <a:txBody>
                    <a:bodyPr/>
                    <a:lstStyle/>
                    <a:p>
                      <a:endParaRPr lang="en-US" sz="2000" dirty="0"/>
                    </a:p>
                  </a:txBody>
                  <a:tcPr/>
                </a:tc>
                <a:tc>
                  <a:txBody>
                    <a:bodyPr/>
                    <a:lstStyle/>
                    <a:p>
                      <a:pPr algn="ctr"/>
                      <a:r>
                        <a:rPr lang="en-US" sz="1800" dirty="0"/>
                        <a:t>PROCESS SPECIFICATION ITEMS</a:t>
                      </a:r>
                    </a:p>
                  </a:txBody>
                  <a:tcPr/>
                </a:tc>
                <a:tc>
                  <a:txBody>
                    <a:bodyPr/>
                    <a:lstStyle/>
                    <a:p>
                      <a:pPr algn="ctr"/>
                      <a:r>
                        <a:rPr lang="en-US" sz="2000" dirty="0"/>
                        <a:t>DESCRIPTION</a:t>
                      </a:r>
                    </a:p>
                  </a:txBody>
                  <a:tcPr/>
                </a:tc>
                <a:extLst>
                  <a:ext uri="{0D108BD9-81ED-4DB2-BD59-A6C34878D82A}">
                    <a16:rowId xmlns:a16="http://schemas.microsoft.com/office/drawing/2014/main" val="4115150587"/>
                  </a:ext>
                </a:extLst>
              </a:tr>
              <a:tr h="782108">
                <a:tc>
                  <a:txBody>
                    <a:bodyPr/>
                    <a:lstStyle/>
                    <a:p>
                      <a:r>
                        <a:rPr lang="en-US" sz="2000"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Type of process</a:t>
                      </a:r>
                    </a:p>
                  </a:txBody>
                  <a:tcPr/>
                </a:tc>
                <a:tc>
                  <a:txBody>
                    <a:bodyPr/>
                    <a:lstStyle/>
                    <a:p>
                      <a:pPr marL="342900" indent="-342900">
                        <a:buFont typeface="+mj-lt"/>
                        <a:buAutoNum type="arabicPeriod"/>
                      </a:pPr>
                      <a:r>
                        <a:rPr lang="en-US" dirty="0"/>
                        <a:t>Batch</a:t>
                      </a:r>
                    </a:p>
                    <a:p>
                      <a:pPr marL="342900" indent="-342900">
                        <a:buFont typeface="+mj-lt"/>
                        <a:buAutoNum type="arabicPeriod"/>
                      </a:pPr>
                      <a:r>
                        <a:rPr lang="en-US" dirty="0"/>
                        <a:t>Online - require screen design or web pages</a:t>
                      </a:r>
                    </a:p>
                    <a:p>
                      <a:pPr marL="342900" indent="-342900">
                        <a:buFont typeface="+mj-lt"/>
                        <a:buAutoNum type="arabicPeriod"/>
                      </a:pPr>
                      <a:r>
                        <a:rPr lang="en-US" dirty="0"/>
                        <a:t>Manual - should have well-defined procedures for employees performing the process tasks</a:t>
                      </a:r>
                    </a:p>
                  </a:txBody>
                  <a:tcPr/>
                </a:tc>
                <a:extLst>
                  <a:ext uri="{0D108BD9-81ED-4DB2-BD59-A6C34878D82A}">
                    <a16:rowId xmlns:a16="http://schemas.microsoft.com/office/drawing/2014/main" val="3657840446"/>
                  </a:ext>
                </a:extLst>
              </a:tr>
              <a:tr h="446567">
                <a:tc>
                  <a:txBody>
                    <a:bodyPr/>
                    <a:lstStyle/>
                    <a:p>
                      <a:r>
                        <a:rPr lang="en-US" sz="2000" dirty="0"/>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Uses prewritten code</a:t>
                      </a:r>
                    </a:p>
                  </a:txBody>
                  <a:tcPr/>
                </a:tc>
                <a:tc>
                  <a:txBody>
                    <a:bodyPr/>
                    <a:lstStyle/>
                    <a:p>
                      <a:r>
                        <a:rPr lang="en-US" sz="2000" dirty="0"/>
                        <a:t>Include the name of the subprogram or function containing the code</a:t>
                      </a:r>
                    </a:p>
                  </a:txBody>
                  <a:tcPr/>
                </a:tc>
                <a:extLst>
                  <a:ext uri="{0D108BD9-81ED-4DB2-BD59-A6C34878D82A}">
                    <a16:rowId xmlns:a16="http://schemas.microsoft.com/office/drawing/2014/main" val="3062096802"/>
                  </a:ext>
                </a:extLst>
              </a:tr>
              <a:tr h="782108">
                <a:tc>
                  <a:txBody>
                    <a:bodyPr/>
                    <a:lstStyle/>
                    <a:p>
                      <a:r>
                        <a:rPr lang="en-US" sz="2000" dirty="0"/>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Process logic description</a:t>
                      </a:r>
                    </a:p>
                  </a:txBody>
                  <a:tcPr/>
                </a:tc>
                <a:tc>
                  <a:txBody>
                    <a:bodyPr/>
                    <a:lstStyle/>
                    <a:p>
                      <a:pPr marL="342900" indent="-342900">
                        <a:buFont typeface="Arial" panose="020B0604020202020204" pitchFamily="34" charset="0"/>
                        <a:buChar char="•"/>
                      </a:pPr>
                      <a:r>
                        <a:rPr lang="en-US" sz="2000" dirty="0"/>
                        <a:t>This should state policy and business rules, not computer language pseudo-code</a:t>
                      </a:r>
                    </a:p>
                    <a:p>
                      <a:pPr marL="342900" indent="-342900">
                        <a:buFont typeface="Arial" panose="020B0604020202020204" pitchFamily="34" charset="0"/>
                        <a:buChar char="•"/>
                      </a:pPr>
                      <a:r>
                        <a:rPr lang="en-US" sz="2000" dirty="0"/>
                        <a:t>Business rules</a:t>
                      </a:r>
                      <a:r>
                        <a:rPr lang="en-US" sz="2000" baseline="30000" dirty="0"/>
                        <a:t>*</a:t>
                      </a:r>
                      <a:r>
                        <a:rPr lang="en-US" sz="2000" dirty="0"/>
                        <a:t> are the procedures that allow a corporation to run its business</a:t>
                      </a:r>
                    </a:p>
                  </a:txBody>
                  <a:tcPr/>
                </a:tc>
                <a:extLst>
                  <a:ext uri="{0D108BD9-81ED-4DB2-BD59-A6C34878D82A}">
                    <a16:rowId xmlns:a16="http://schemas.microsoft.com/office/drawing/2014/main" val="84353043"/>
                  </a:ext>
                </a:extLst>
              </a:tr>
              <a:tr h="782108">
                <a:tc>
                  <a:txBody>
                    <a:bodyPr/>
                    <a:lstStyle/>
                    <a:p>
                      <a:r>
                        <a:rPr lang="en-US" sz="2000" dirty="0"/>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Logic method reference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000" dirty="0"/>
                        <a:t>If there is not enough room for a complete structured English description include a reference to the structured English description, decision table, or tree depicting the logic</a:t>
                      </a:r>
                    </a:p>
                  </a:txBody>
                  <a:tcPr/>
                </a:tc>
                <a:extLst>
                  <a:ext uri="{0D108BD9-81ED-4DB2-BD59-A6C34878D82A}">
                    <a16:rowId xmlns:a16="http://schemas.microsoft.com/office/drawing/2014/main" val="3740605590"/>
                  </a:ext>
                </a:extLst>
              </a:tr>
              <a:tr h="782108">
                <a:tc>
                  <a:txBody>
                    <a:bodyPr/>
                    <a:lstStyle/>
                    <a:p>
                      <a:r>
                        <a:rPr lang="en-US" sz="2000" dirty="0"/>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List any unresolved issues</a:t>
                      </a:r>
                    </a:p>
                  </a:txBody>
                  <a:tcPr/>
                </a:tc>
                <a:tc>
                  <a:txBody>
                    <a:bodyPr/>
                    <a:lstStyle/>
                    <a:p>
                      <a:pPr marL="342900" indent="-342900">
                        <a:buFont typeface="Arial" panose="020B0604020202020204" pitchFamily="34" charset="0"/>
                        <a:buChar char="•"/>
                      </a:pPr>
                      <a:r>
                        <a:rPr lang="en-US" sz="2000" dirty="0"/>
                        <a:t>Incomplete portions of logic</a:t>
                      </a:r>
                    </a:p>
                    <a:p>
                      <a:pPr marL="342900" indent="-342900">
                        <a:buFont typeface="Arial" panose="020B0604020202020204" pitchFamily="34" charset="0"/>
                        <a:buChar char="•"/>
                      </a:pPr>
                      <a:r>
                        <a:rPr lang="en-US" sz="2000" dirty="0"/>
                        <a:t>These issues form the basis of the questions used for follow-up interviews with users or business experts you have added to your project team</a:t>
                      </a:r>
                    </a:p>
                  </a:txBody>
                  <a:tcPr/>
                </a:tc>
                <a:extLst>
                  <a:ext uri="{0D108BD9-81ED-4DB2-BD59-A6C34878D82A}">
                    <a16:rowId xmlns:a16="http://schemas.microsoft.com/office/drawing/2014/main" val="2229120716"/>
                  </a:ext>
                </a:extLst>
              </a:tr>
            </a:tbl>
          </a:graphicData>
        </a:graphic>
      </p:graphicFrame>
      <p:sp>
        <p:nvSpPr>
          <p:cNvPr id="2" name="TextBox 1">
            <a:extLst>
              <a:ext uri="{FF2B5EF4-FFF2-40B4-BE49-F238E27FC236}">
                <a16:creationId xmlns:a16="http://schemas.microsoft.com/office/drawing/2014/main" id="{B8ECAE59-332E-2446-8092-507452C5F3E3}"/>
              </a:ext>
            </a:extLst>
          </p:cNvPr>
          <p:cNvSpPr txBox="1"/>
          <p:nvPr/>
        </p:nvSpPr>
        <p:spPr>
          <a:xfrm>
            <a:off x="255181" y="6337006"/>
            <a:ext cx="1878015" cy="307777"/>
          </a:xfrm>
          <a:prstGeom prst="rect">
            <a:avLst/>
          </a:prstGeom>
          <a:noFill/>
        </p:spPr>
        <p:txBody>
          <a:bodyPr wrap="none" rtlCol="0">
            <a:spAutoFit/>
          </a:bodyPr>
          <a:lstStyle/>
          <a:p>
            <a:r>
              <a:rPr lang="en-US" sz="1400" i="1" dirty="0"/>
              <a:t>*please refer next slide</a:t>
            </a:r>
          </a:p>
        </p:txBody>
      </p:sp>
    </p:spTree>
    <p:extLst>
      <p:ext uri="{BB962C8B-B14F-4D97-AF65-F5344CB8AC3E}">
        <p14:creationId xmlns:p14="http://schemas.microsoft.com/office/powerpoint/2010/main" val="3824528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293472" y="596900"/>
            <a:ext cx="11441327"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BUSINESS RULES</a:t>
            </a:r>
            <a:endParaRPr lang="en-US" altLang="en-US" sz="5400" dirty="0">
              <a:solidFill>
                <a:srgbClr val="85103F"/>
              </a:solidFill>
              <a:latin typeface="Calibri Light" panose="020F0302020204030204" pitchFamily="34" charset="0"/>
            </a:endParaRPr>
          </a:p>
        </p:txBody>
      </p:sp>
      <p:sp>
        <p:nvSpPr>
          <p:cNvPr id="4" name="Rectangle 3">
            <a:extLst>
              <a:ext uri="{FF2B5EF4-FFF2-40B4-BE49-F238E27FC236}">
                <a16:creationId xmlns:a16="http://schemas.microsoft.com/office/drawing/2014/main" id="{51A982DA-549D-DE47-B66C-C5B3382E896D}"/>
              </a:ext>
            </a:extLst>
          </p:cNvPr>
          <p:cNvSpPr txBox="1">
            <a:spLocks noChangeArrowheads="1"/>
          </p:cNvSpPr>
          <p:nvPr/>
        </p:nvSpPr>
        <p:spPr>
          <a:xfrm>
            <a:off x="457200" y="1568450"/>
            <a:ext cx="11589488" cy="455771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What is BUSINESS RULES?</a:t>
            </a:r>
          </a:p>
          <a:p>
            <a:pPr lvl="1"/>
            <a:r>
              <a:rPr lang="en-MY" dirty="0"/>
              <a:t>A business rule is a rule that defines a specific constraint within the context of a business.</a:t>
            </a:r>
            <a:endParaRPr lang="en-US" dirty="0"/>
          </a:p>
          <a:p>
            <a:r>
              <a:rPr lang="en-US" dirty="0"/>
              <a:t>Common business rules format</a:t>
            </a:r>
          </a:p>
          <a:p>
            <a:pPr lvl="1"/>
            <a:r>
              <a:rPr lang="en-US" dirty="0"/>
              <a:t>Definitions of business terms</a:t>
            </a:r>
          </a:p>
          <a:p>
            <a:pPr lvl="1"/>
            <a:r>
              <a:rPr lang="en-US" dirty="0"/>
              <a:t>Business conditions and actions</a:t>
            </a:r>
          </a:p>
          <a:p>
            <a:pPr lvl="1"/>
            <a:r>
              <a:rPr lang="en-US" dirty="0"/>
              <a:t>Data integrity constraints</a:t>
            </a:r>
          </a:p>
          <a:p>
            <a:pPr lvl="1"/>
            <a:r>
              <a:rPr lang="en-US" dirty="0"/>
              <a:t>Mathematical and functional derivations</a:t>
            </a:r>
          </a:p>
          <a:p>
            <a:pPr lvl="1"/>
            <a:r>
              <a:rPr lang="en-US" dirty="0"/>
              <a:t>Logical inferences</a:t>
            </a:r>
          </a:p>
          <a:p>
            <a:pPr lvl="1"/>
            <a:r>
              <a:rPr lang="en-US" dirty="0"/>
              <a:t>Processing sequences</a:t>
            </a:r>
          </a:p>
          <a:p>
            <a:pPr lvl="1"/>
            <a:r>
              <a:rPr lang="en-US" dirty="0"/>
              <a:t>Relationships among facts about the business</a:t>
            </a:r>
          </a:p>
        </p:txBody>
      </p:sp>
    </p:spTree>
    <p:extLst>
      <p:ext uri="{BB962C8B-B14F-4D97-AF65-F5344CB8AC3E}">
        <p14:creationId xmlns:p14="http://schemas.microsoft.com/office/powerpoint/2010/main" val="3043491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8">
            <a:extLst>
              <a:ext uri="{FF2B5EF4-FFF2-40B4-BE49-F238E27FC236}">
                <a16:creationId xmlns:a16="http://schemas.microsoft.com/office/drawing/2014/main" id="{2660B2C3-E00E-3E44-9074-674545AD65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1222" y="0"/>
            <a:ext cx="5199094" cy="64278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4" descr="A picture containing text, screenshot, map&#10;&#10;Description automatically generated">
            <a:extLst>
              <a:ext uri="{FF2B5EF4-FFF2-40B4-BE49-F238E27FC236}">
                <a16:creationId xmlns:a16="http://schemas.microsoft.com/office/drawing/2014/main" id="{65B28607-95B4-9D45-84BD-4A312006E7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1254" y="1302487"/>
            <a:ext cx="5437083" cy="3896833"/>
          </a:xfrm>
          <a:prstGeom prst="rect">
            <a:avLst/>
          </a:prstGeom>
          <a:ln>
            <a:solidFill>
              <a:schemeClr val="tx1"/>
            </a:solidFill>
          </a:ln>
        </p:spPr>
      </p:pic>
    </p:spTree>
    <p:extLst>
      <p:ext uri="{BB962C8B-B14F-4D97-AF65-F5344CB8AC3E}">
        <p14:creationId xmlns:p14="http://schemas.microsoft.com/office/powerpoint/2010/main" val="2699156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DC8AAC1-7DB5-434F-BE64-6CFB52E526BC}"/>
              </a:ext>
            </a:extLst>
          </p:cNvPr>
          <p:cNvGraphicFramePr/>
          <p:nvPr>
            <p:extLst>
              <p:ext uri="{D42A27DB-BD31-4B8C-83A1-F6EECF244321}">
                <p14:modId xmlns:p14="http://schemas.microsoft.com/office/powerpoint/2010/main" val="3557380591"/>
              </p:ext>
            </p:extLst>
          </p:nvPr>
        </p:nvGraphicFramePr>
        <p:xfrm>
          <a:off x="396875" y="1995916"/>
          <a:ext cx="11398250" cy="2874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DDDC9C0A-E626-0641-A8D4-489BDA0CE3A9}"/>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MAJOR TOPICS</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2332882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STRUCTURED ENGLISH</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6E4E4329-C1BE-8849-BD09-324D58097726}"/>
              </a:ext>
            </a:extLst>
          </p:cNvPr>
          <p:cNvSpPr txBox="1">
            <a:spLocks noChangeArrowheads="1"/>
          </p:cNvSpPr>
          <p:nvPr/>
        </p:nvSpPr>
        <p:spPr>
          <a:xfrm>
            <a:off x="457200" y="1786270"/>
            <a:ext cx="11307762" cy="433989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Used when the process logic involves </a:t>
            </a:r>
            <a:r>
              <a:rPr lang="en-US" sz="3200" dirty="0">
                <a:solidFill>
                  <a:srgbClr val="FF0000"/>
                </a:solidFill>
              </a:rPr>
              <a:t>formulas or iteration</a:t>
            </a:r>
            <a:r>
              <a:rPr lang="en-US" sz="3200" dirty="0"/>
              <a:t>, or when structured decisions are </a:t>
            </a:r>
            <a:r>
              <a:rPr lang="en-US" sz="3200" dirty="0">
                <a:solidFill>
                  <a:srgbClr val="FF0000"/>
                </a:solidFill>
              </a:rPr>
              <a:t>not complex </a:t>
            </a:r>
          </a:p>
          <a:p>
            <a:r>
              <a:rPr lang="en-US" sz="3200" dirty="0"/>
              <a:t>Based on structured logic and simple English statements such as add, multiply, and move</a:t>
            </a:r>
          </a:p>
          <a:p>
            <a:r>
              <a:rPr lang="en-US" sz="3200" dirty="0"/>
              <a:t>Advantages:</a:t>
            </a:r>
          </a:p>
          <a:p>
            <a:pPr marL="971550" lvl="1" indent="-514350">
              <a:buFont typeface="+mj-lt"/>
              <a:buAutoNum type="arabicPeriod"/>
            </a:pPr>
            <a:r>
              <a:rPr lang="en-US" sz="2800" dirty="0"/>
              <a:t>Clarifying the logic and relationships found in human languages</a:t>
            </a:r>
          </a:p>
          <a:p>
            <a:pPr marL="971550" lvl="1" indent="-514350">
              <a:buFont typeface="+mj-lt"/>
              <a:buAutoNum type="arabicPeriod"/>
            </a:pPr>
            <a:r>
              <a:rPr lang="en-US" sz="2800" dirty="0"/>
              <a:t>An effective communication tool, it can be taught to and understood by users in the organization</a:t>
            </a:r>
          </a:p>
          <a:p>
            <a:endParaRPr lang="en-US" sz="3200" dirty="0"/>
          </a:p>
          <a:p>
            <a:endParaRPr lang="en-US" sz="3200" dirty="0"/>
          </a:p>
        </p:txBody>
      </p:sp>
    </p:spTree>
    <p:extLst>
      <p:ext uri="{BB962C8B-B14F-4D97-AF65-F5344CB8AC3E}">
        <p14:creationId xmlns:p14="http://schemas.microsoft.com/office/powerpoint/2010/main" val="2201785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STRUCTURED ENGLISH</a:t>
            </a:r>
            <a:endParaRPr lang="en-US" altLang="en-US" sz="5400" dirty="0">
              <a:solidFill>
                <a:srgbClr val="85103F"/>
              </a:solidFill>
              <a:latin typeface="Calibri Light" panose="020F0302020204030204" pitchFamily="34" charset="0"/>
            </a:endParaRPr>
          </a:p>
        </p:txBody>
      </p:sp>
      <p:sp>
        <p:nvSpPr>
          <p:cNvPr id="3" name="Rectangle 2">
            <a:extLst>
              <a:ext uri="{FF2B5EF4-FFF2-40B4-BE49-F238E27FC236}">
                <a16:creationId xmlns:a16="http://schemas.microsoft.com/office/drawing/2014/main" id="{9071D1F2-E282-024C-8A62-6963C04045F3}"/>
              </a:ext>
            </a:extLst>
          </p:cNvPr>
          <p:cNvSpPr txBox="1">
            <a:spLocks noChangeArrowheads="1"/>
          </p:cNvSpPr>
          <p:nvPr/>
        </p:nvSpPr>
        <p:spPr>
          <a:xfrm>
            <a:off x="427038" y="1373857"/>
            <a:ext cx="11430000" cy="492941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It</a:t>
            </a:r>
            <a:r>
              <a:rPr lang="ja-JP" altLang="en-US"/>
              <a:t>’</a:t>
            </a:r>
            <a:r>
              <a:rPr lang="en-US" dirty="0"/>
              <a:t>s similar to algorithm.</a:t>
            </a:r>
          </a:p>
          <a:p>
            <a:r>
              <a:rPr lang="en-US" dirty="0"/>
              <a:t>It used to describe the logic process which involves formula, repetition, or simple structured decision.</a:t>
            </a:r>
          </a:p>
          <a:p>
            <a:endParaRPr lang="en-US" dirty="0"/>
          </a:p>
        </p:txBody>
      </p:sp>
      <p:grpSp>
        <p:nvGrpSpPr>
          <p:cNvPr id="5" name="Group 4">
            <a:extLst>
              <a:ext uri="{FF2B5EF4-FFF2-40B4-BE49-F238E27FC236}">
                <a16:creationId xmlns:a16="http://schemas.microsoft.com/office/drawing/2014/main" id="{0141541F-9634-9D48-B52B-62B24BA14039}"/>
              </a:ext>
            </a:extLst>
          </p:cNvPr>
          <p:cNvGrpSpPr/>
          <p:nvPr/>
        </p:nvGrpSpPr>
        <p:grpSpPr>
          <a:xfrm>
            <a:off x="8114987" y="3589598"/>
            <a:ext cx="2210521" cy="1905000"/>
            <a:chOff x="6084168" y="4365625"/>
            <a:chExt cx="2210521" cy="1905000"/>
          </a:xfrm>
        </p:grpSpPr>
        <p:sp>
          <p:nvSpPr>
            <p:cNvPr id="6" name="AutoShape 6">
              <a:extLst>
                <a:ext uri="{FF2B5EF4-FFF2-40B4-BE49-F238E27FC236}">
                  <a16:creationId xmlns:a16="http://schemas.microsoft.com/office/drawing/2014/main" id="{43B65FB3-93B6-5E42-8A42-5D885748D3B0}"/>
                </a:ext>
              </a:extLst>
            </p:cNvPr>
            <p:cNvSpPr>
              <a:spLocks noChangeArrowheads="1"/>
            </p:cNvSpPr>
            <p:nvPr/>
          </p:nvSpPr>
          <p:spPr bwMode="auto">
            <a:xfrm>
              <a:off x="6084889" y="4365625"/>
              <a:ext cx="2209800" cy="1905000"/>
            </a:xfrm>
            <a:prstGeom prst="roundRect">
              <a:avLst>
                <a:gd name="adj" fmla="val 16667"/>
              </a:avLst>
            </a:prstGeom>
            <a:solidFill>
              <a:srgbClr val="FFFFFF"/>
            </a:solidFill>
            <a:ln w="9525">
              <a:solidFill>
                <a:srgbClr val="000000"/>
              </a:solidFill>
              <a:round/>
              <a:headEnd/>
              <a:tailEnd/>
            </a:ln>
          </p:spPr>
          <p:txBody>
            <a:bodyPr/>
            <a:lstStyle/>
            <a:p>
              <a:pPr algn="ctr" eaLnBrk="0" hangingPunct="0"/>
              <a:r>
                <a:rPr lang="en-US" b="1" dirty="0">
                  <a:latin typeface="Verdana" charset="0"/>
                </a:rPr>
                <a:t>2.1</a:t>
              </a:r>
            </a:p>
            <a:p>
              <a:pPr algn="ctr" eaLnBrk="0" hangingPunct="0"/>
              <a:endParaRPr lang="en-US" dirty="0">
                <a:latin typeface="Verdana" charset="0"/>
              </a:endParaRPr>
            </a:p>
            <a:p>
              <a:pPr algn="ctr" eaLnBrk="0" hangingPunct="0"/>
              <a:r>
                <a:rPr lang="en-US" dirty="0">
                  <a:latin typeface="Verdana" charset="0"/>
                </a:rPr>
                <a:t>Logs </a:t>
              </a:r>
            </a:p>
            <a:p>
              <a:pPr algn="ctr" eaLnBrk="0" hangingPunct="0"/>
              <a:r>
                <a:rPr lang="en-US" dirty="0">
                  <a:latin typeface="Verdana" charset="0"/>
                </a:rPr>
                <a:t>Customer</a:t>
              </a:r>
            </a:p>
            <a:p>
              <a:pPr algn="ctr" eaLnBrk="0" hangingPunct="0"/>
              <a:r>
                <a:rPr lang="en-US" dirty="0">
                  <a:latin typeface="Verdana" charset="0"/>
                </a:rPr>
                <a:t> Orders</a:t>
              </a:r>
            </a:p>
            <a:p>
              <a:pPr algn="ctr" eaLnBrk="0" hangingPunct="0"/>
              <a:endParaRPr lang="en-US" dirty="0">
                <a:latin typeface="Verdana" charset="0"/>
              </a:endParaRPr>
            </a:p>
            <a:p>
              <a:pPr algn="ctr" eaLnBrk="0" hangingPunct="0"/>
              <a:endParaRPr lang="en-US" sz="1600" dirty="0">
                <a:latin typeface="Verdana" charset="0"/>
              </a:endParaRPr>
            </a:p>
            <a:p>
              <a:pPr algn="ctr" eaLnBrk="0" hangingPunct="0"/>
              <a:endParaRPr lang="en-US" sz="1600" dirty="0">
                <a:latin typeface="Verdana" charset="0"/>
              </a:endParaRPr>
            </a:p>
          </p:txBody>
        </p:sp>
        <p:sp>
          <p:nvSpPr>
            <p:cNvPr id="7" name="Line 7">
              <a:extLst>
                <a:ext uri="{FF2B5EF4-FFF2-40B4-BE49-F238E27FC236}">
                  <a16:creationId xmlns:a16="http://schemas.microsoft.com/office/drawing/2014/main" id="{0F10A7AD-887E-4241-885F-A8D2BB7385E8}"/>
                </a:ext>
              </a:extLst>
            </p:cNvPr>
            <p:cNvSpPr>
              <a:spLocks noChangeShapeType="1"/>
            </p:cNvSpPr>
            <p:nvPr/>
          </p:nvSpPr>
          <p:spPr bwMode="auto">
            <a:xfrm>
              <a:off x="6084168" y="4869160"/>
              <a:ext cx="2209800" cy="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en-US"/>
            </a:p>
          </p:txBody>
        </p:sp>
      </p:grpSp>
      <p:sp>
        <p:nvSpPr>
          <p:cNvPr id="2" name="Right Arrow 1">
            <a:extLst>
              <a:ext uri="{FF2B5EF4-FFF2-40B4-BE49-F238E27FC236}">
                <a16:creationId xmlns:a16="http://schemas.microsoft.com/office/drawing/2014/main" id="{C30DC768-929B-D846-BB61-B7A26826DDE1}"/>
              </a:ext>
            </a:extLst>
          </p:cNvPr>
          <p:cNvSpPr/>
          <p:nvPr/>
        </p:nvSpPr>
        <p:spPr>
          <a:xfrm>
            <a:off x="5684838" y="4207172"/>
            <a:ext cx="1981236" cy="669852"/>
          </a:xfrm>
          <a:prstGeom prst="rightArrow">
            <a:avLst/>
          </a:prstGeom>
          <a:solidFill>
            <a:srgbClr val="840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A screenshot of a cell phone&#10;&#10;Description automatically generated">
            <a:extLst>
              <a:ext uri="{FF2B5EF4-FFF2-40B4-BE49-F238E27FC236}">
                <a16:creationId xmlns:a16="http://schemas.microsoft.com/office/drawing/2014/main" id="{BFD574A9-D190-6D4E-AAAC-0D9225147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567" y="2730083"/>
            <a:ext cx="5067124" cy="3932195"/>
          </a:xfrm>
          <a:prstGeom prst="rect">
            <a:avLst/>
          </a:prstGeom>
        </p:spPr>
      </p:pic>
    </p:spTree>
    <p:extLst>
      <p:ext uri="{BB962C8B-B14F-4D97-AF65-F5344CB8AC3E}">
        <p14:creationId xmlns:p14="http://schemas.microsoft.com/office/powerpoint/2010/main" val="112277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WRITING STRUCTURED ENGLISH</a:t>
            </a:r>
            <a:endParaRPr lang="en-US" altLang="en-US" sz="5400" dirty="0">
              <a:solidFill>
                <a:srgbClr val="85103F"/>
              </a:solidFill>
              <a:latin typeface="Calibri Light" panose="020F0302020204030204" pitchFamily="34" charset="0"/>
            </a:endParaRPr>
          </a:p>
        </p:txBody>
      </p:sp>
      <p:sp>
        <p:nvSpPr>
          <p:cNvPr id="4" name="Rectangle 3">
            <a:extLst>
              <a:ext uri="{FF2B5EF4-FFF2-40B4-BE49-F238E27FC236}">
                <a16:creationId xmlns:a16="http://schemas.microsoft.com/office/drawing/2014/main" id="{D62761DA-199C-5449-A617-B225F6BC0F1E}"/>
              </a:ext>
            </a:extLst>
          </p:cNvPr>
          <p:cNvSpPr txBox="1">
            <a:spLocks noChangeArrowheads="1"/>
          </p:cNvSpPr>
          <p:nvPr/>
        </p:nvSpPr>
        <p:spPr>
          <a:xfrm>
            <a:off x="457200" y="1568450"/>
            <a:ext cx="11515060" cy="455771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Express all logic in terms of sequential structures, decision structures, case structures, or iterations</a:t>
            </a:r>
          </a:p>
          <a:p>
            <a:r>
              <a:rPr lang="en-US" sz="3200" dirty="0"/>
              <a:t>Use and capitalize accepted keywords such as IF, THEN, ELSE, DO, and PERFORM</a:t>
            </a:r>
          </a:p>
          <a:p>
            <a:r>
              <a:rPr lang="en-US" sz="3200" dirty="0"/>
              <a:t>Indent blocks of statements to show their hierarchy (nesting) clearly</a:t>
            </a:r>
          </a:p>
          <a:p>
            <a:r>
              <a:rPr lang="en-US" sz="3200" dirty="0"/>
              <a:t>Underline words or phrases that have been defined in a data dictionary</a:t>
            </a:r>
          </a:p>
          <a:p>
            <a:r>
              <a:rPr lang="en-US" sz="3200" dirty="0"/>
              <a:t>Clarify the logical statements</a:t>
            </a:r>
          </a:p>
        </p:txBody>
      </p:sp>
    </p:spTree>
    <p:extLst>
      <p:ext uri="{BB962C8B-B14F-4D97-AF65-F5344CB8AC3E}">
        <p14:creationId xmlns:p14="http://schemas.microsoft.com/office/powerpoint/2010/main" val="29133160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STRUCTURED ENGLISH EXAMPLES</a:t>
            </a:r>
            <a:endParaRPr lang="en-US" altLang="en-US" sz="5400" dirty="0">
              <a:solidFill>
                <a:srgbClr val="85103F"/>
              </a:solidFill>
              <a:latin typeface="Calibri Light" panose="020F0302020204030204" pitchFamily="34" charset="0"/>
            </a:endParaRPr>
          </a:p>
        </p:txBody>
      </p:sp>
      <p:pic>
        <p:nvPicPr>
          <p:cNvPr id="3" name="Picture 7">
            <a:extLst>
              <a:ext uri="{FF2B5EF4-FFF2-40B4-BE49-F238E27FC236}">
                <a16:creationId xmlns:a16="http://schemas.microsoft.com/office/drawing/2014/main" id="{EDCE39F0-7454-9F42-9BCE-572560CA349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6080" y="1306722"/>
            <a:ext cx="5700088" cy="5131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87726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7" y="596900"/>
            <a:ext cx="1163028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DATA DICTIONARY AND PROCESS SPECIFICATIONS</a:t>
            </a:r>
            <a:endParaRPr lang="en-US" altLang="en-US" sz="48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6FC740E2-5A6C-4A4D-99A3-FC8132553928}"/>
              </a:ext>
            </a:extLst>
          </p:cNvPr>
          <p:cNvSpPr txBox="1">
            <a:spLocks noChangeArrowheads="1"/>
          </p:cNvSpPr>
          <p:nvPr/>
        </p:nvSpPr>
        <p:spPr>
          <a:xfrm>
            <a:off x="427037" y="2100521"/>
            <a:ext cx="11630282" cy="3683592"/>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a:t>The data dictionary is a starting point for creating structured English:</a:t>
            </a:r>
          </a:p>
          <a:p>
            <a:pPr lvl="1"/>
            <a:r>
              <a:rPr lang="en-US" sz="2800"/>
              <a:t>Sequence—a simple sequence of statements MOVE, ADD, and SUBTRACT</a:t>
            </a:r>
          </a:p>
          <a:p>
            <a:pPr lvl="1"/>
            <a:r>
              <a:rPr lang="en-US" sz="2800"/>
              <a:t>Selection—[] entries become IF…THEN...ELSE statements</a:t>
            </a:r>
          </a:p>
          <a:p>
            <a:pPr lvl="1"/>
            <a:r>
              <a:rPr lang="en-US" sz="2800"/>
              <a:t>Iteration { } entries become DO WHILE, DO UNTIL, or PERFORM UNTIL</a:t>
            </a:r>
            <a:endParaRPr lang="en-US" sz="2800" dirty="0"/>
          </a:p>
        </p:txBody>
      </p:sp>
    </p:spTree>
    <p:extLst>
      <p:ext uri="{BB962C8B-B14F-4D97-AF65-F5344CB8AC3E}">
        <p14:creationId xmlns:p14="http://schemas.microsoft.com/office/powerpoint/2010/main" val="23143442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A57BAA7-B5C8-E941-9A82-3AFB1755D77F}"/>
              </a:ext>
            </a:extLst>
          </p:cNvPr>
          <p:cNvSpPr/>
          <p:nvPr/>
        </p:nvSpPr>
        <p:spPr>
          <a:xfrm>
            <a:off x="270553" y="2686556"/>
            <a:ext cx="11691991" cy="2866490"/>
          </a:xfrm>
          <a:prstGeom prst="rect">
            <a:avLst/>
          </a:prstGeom>
          <a:solidFill>
            <a:srgbClr val="840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a:extLst>
              <a:ext uri="{FF2B5EF4-FFF2-40B4-BE49-F238E27FC236}">
                <a16:creationId xmlns:a16="http://schemas.microsoft.com/office/drawing/2014/main" id="{F9C3898B-21C2-9F4F-B316-3CDEBC7FC352}"/>
              </a:ext>
            </a:extLst>
          </p:cNvPr>
          <p:cNvSpPr>
            <a:spLocks noGrp="1"/>
          </p:cNvSpPr>
          <p:nvPr>
            <p:ph type="sldNum" sz="quarter" idx="12"/>
          </p:nvPr>
        </p:nvSpPr>
        <p:spPr/>
        <p:txBody>
          <a:bodyPr/>
          <a:lstStyle/>
          <a:p>
            <a:pPr>
              <a:defRPr/>
            </a:pPr>
            <a:fld id="{D1A9425D-9892-784D-B3BB-790F829805F1}" type="slidenum">
              <a:rPr lang="en-US" smtClean="0"/>
              <a:pPr>
                <a:defRPr/>
              </a:pPr>
              <a:t>20</a:t>
            </a:fld>
            <a:endParaRPr lang="en-US"/>
          </a:p>
        </p:txBody>
      </p:sp>
      <p:sp>
        <p:nvSpPr>
          <p:cNvPr id="3" name="TextBox 2">
            <a:extLst>
              <a:ext uri="{FF2B5EF4-FFF2-40B4-BE49-F238E27FC236}">
                <a16:creationId xmlns:a16="http://schemas.microsoft.com/office/drawing/2014/main" id="{470B477D-8029-EC43-ACDA-84D7B787EBC7}"/>
              </a:ext>
            </a:extLst>
          </p:cNvPr>
          <p:cNvSpPr txBox="1"/>
          <p:nvPr/>
        </p:nvSpPr>
        <p:spPr>
          <a:xfrm>
            <a:off x="342472" y="1749040"/>
            <a:ext cx="11507055" cy="4493538"/>
          </a:xfrm>
          <a:prstGeom prst="rect">
            <a:avLst/>
          </a:prstGeom>
          <a:noFill/>
        </p:spPr>
        <p:txBody>
          <a:bodyPr wrap="square" rtlCol="0">
            <a:spAutoFit/>
          </a:bodyPr>
          <a:lstStyle/>
          <a:p>
            <a:pPr algn="just"/>
            <a:r>
              <a:rPr lang="en-US" sz="2200" dirty="0">
                <a:latin typeface="Avenir Book" panose="02000503020000020003" pitchFamily="2" charset="0"/>
              </a:rPr>
              <a:t>Encik Amir is reviewing his firm’s expense reimbursement policies with a new salesperson in his department. </a:t>
            </a:r>
          </a:p>
          <a:p>
            <a:pPr algn="just"/>
            <a:endParaRPr lang="en-US" sz="2200" dirty="0">
              <a:latin typeface="Avenir Book" panose="02000503020000020003" pitchFamily="2" charset="0"/>
            </a:endParaRPr>
          </a:p>
          <a:p>
            <a:pPr algn="just"/>
            <a:r>
              <a:rPr lang="en-US" sz="2200" i="1" dirty="0">
                <a:solidFill>
                  <a:schemeClr val="bg1"/>
                </a:solidFill>
                <a:latin typeface="Avenir Book" panose="02000503020000020003" pitchFamily="2" charset="0"/>
              </a:rPr>
              <a:t>“Our reimbursement policies depend on the situation. You see, first we determine if it is a local trip. If it is, we only pay mileage of 18.5 cents a mile. If the trip was a one-day trip, we pay mileage and then check the times of departure and return. To be reimbursed for breakfast, you must leave by 7:00 A.M., lunch by 11:00 A.M., and have dinner by 5:00 P.M. To receive reimbursement for breakfast, you must return later than 10:00 A.M., lunch later than 2:00 P.M., and have dinner by 7:00 P.M. On a trip lasting more than one day, we allow hotel, taxi, and airfare, as well as meal allowances. The same times apply for meal expenses.”</a:t>
            </a:r>
          </a:p>
          <a:p>
            <a:pPr algn="just"/>
            <a:endParaRPr lang="en-US" sz="2200" dirty="0">
              <a:latin typeface="Avenir Book" panose="02000503020000020003" pitchFamily="2" charset="0"/>
            </a:endParaRPr>
          </a:p>
          <a:p>
            <a:pPr algn="just"/>
            <a:r>
              <a:rPr lang="en-US" sz="2200" dirty="0">
                <a:latin typeface="Avenir Book" panose="02000503020000020003" pitchFamily="2" charset="0"/>
              </a:rPr>
              <a:t>Write structured English for Encik Amir’s narrative of the reimbursement policies.</a:t>
            </a:r>
          </a:p>
        </p:txBody>
      </p:sp>
      <p:pic>
        <p:nvPicPr>
          <p:cNvPr id="20" name="Picture 7" descr="Image result for discussion png">
            <a:extLst>
              <a:ext uri="{FF2B5EF4-FFF2-40B4-BE49-F238E27FC236}">
                <a16:creationId xmlns:a16="http://schemas.microsoft.com/office/drawing/2014/main" id="{674D185E-D14D-2F47-9FE6-EE13CF4F69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359" y="174416"/>
            <a:ext cx="3243066" cy="1974560"/>
          </a:xfrm>
          <a:prstGeom prst="rect">
            <a:avLst/>
          </a:prstGeom>
          <a:noFill/>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7A5A237C-96C1-7743-9AF0-E4BCE81A9EA2}"/>
              </a:ext>
            </a:extLst>
          </p:cNvPr>
          <p:cNvSpPr txBox="1">
            <a:spLocks noChangeArrowheads="1"/>
          </p:cNvSpPr>
          <p:nvPr/>
        </p:nvSpPr>
        <p:spPr bwMode="auto">
          <a:xfrm>
            <a:off x="2930701" y="410966"/>
            <a:ext cx="8607177" cy="122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LET’S TRY</a:t>
            </a:r>
          </a:p>
          <a:p>
            <a:pPr>
              <a:lnSpc>
                <a:spcPct val="90000"/>
              </a:lnSpc>
            </a:pPr>
            <a:r>
              <a:rPr lang="en-US" altLang="en-US" sz="3600" dirty="0">
                <a:solidFill>
                  <a:srgbClr val="85103F"/>
                </a:solidFill>
              </a:rPr>
              <a:t>Checkpoint 1: Structured English</a:t>
            </a:r>
          </a:p>
        </p:txBody>
      </p:sp>
    </p:spTree>
    <p:extLst>
      <p:ext uri="{BB962C8B-B14F-4D97-AF65-F5344CB8AC3E}">
        <p14:creationId xmlns:p14="http://schemas.microsoft.com/office/powerpoint/2010/main" val="4260541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DC8AAC1-7DB5-434F-BE64-6CFB52E526BC}"/>
              </a:ext>
            </a:extLst>
          </p:cNvPr>
          <p:cNvGraphicFramePr/>
          <p:nvPr>
            <p:extLst>
              <p:ext uri="{D42A27DB-BD31-4B8C-83A1-F6EECF244321}">
                <p14:modId xmlns:p14="http://schemas.microsoft.com/office/powerpoint/2010/main" val="1261794866"/>
              </p:ext>
            </p:extLst>
          </p:nvPr>
        </p:nvGraphicFramePr>
        <p:xfrm>
          <a:off x="396875" y="1995916"/>
          <a:ext cx="11398250" cy="2874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DDDC9C0A-E626-0641-A8D4-489BDA0CE3A9}"/>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MAJOR TOPICS</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3379774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TABLE</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39DFA088-F944-834E-A3E9-E2A2DFADA962}"/>
              </a:ext>
            </a:extLst>
          </p:cNvPr>
          <p:cNvSpPr txBox="1">
            <a:spLocks noChangeArrowheads="1"/>
          </p:cNvSpPr>
          <p:nvPr/>
        </p:nvSpPr>
        <p:spPr>
          <a:xfrm>
            <a:off x="430463" y="1412509"/>
            <a:ext cx="11528656" cy="492941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table of rows and columns, separated into four quadrants:</a:t>
            </a:r>
          </a:p>
          <a:p>
            <a:pPr lvl="1"/>
            <a:r>
              <a:rPr lang="en-US" dirty="0"/>
              <a:t>Conditions</a:t>
            </a:r>
          </a:p>
          <a:p>
            <a:pPr lvl="1"/>
            <a:r>
              <a:rPr lang="en-US" dirty="0"/>
              <a:t>Condition alternatives</a:t>
            </a:r>
          </a:p>
          <a:p>
            <a:pPr lvl="1"/>
            <a:r>
              <a:rPr lang="en-US" dirty="0"/>
              <a:t>Actions to be taken</a:t>
            </a:r>
          </a:p>
          <a:p>
            <a:pPr lvl="1"/>
            <a:r>
              <a:rPr lang="en-US" dirty="0"/>
              <a:t>Rules for executing the actions</a:t>
            </a:r>
          </a:p>
          <a:p>
            <a:r>
              <a:rPr lang="en-US" dirty="0"/>
              <a:t>Advantages:</a:t>
            </a:r>
          </a:p>
          <a:p>
            <a:pPr lvl="1"/>
            <a:r>
              <a:rPr lang="en-US" dirty="0"/>
              <a:t>Help the analysis ensure completeness</a:t>
            </a:r>
          </a:p>
          <a:p>
            <a:pPr lvl="1"/>
            <a:r>
              <a:rPr lang="en-US" dirty="0"/>
              <a:t>Easy to check for possible errors</a:t>
            </a:r>
          </a:p>
          <a:p>
            <a:pPr lvl="2"/>
            <a:r>
              <a:rPr lang="en-US" dirty="0"/>
              <a:t>Impossible situations</a:t>
            </a:r>
          </a:p>
          <a:p>
            <a:pPr lvl="2"/>
            <a:r>
              <a:rPr lang="en-US" dirty="0"/>
              <a:t>Contradictions</a:t>
            </a:r>
          </a:p>
          <a:p>
            <a:pPr lvl="2"/>
            <a:r>
              <a:rPr lang="en-US" dirty="0"/>
              <a:t>Redundancy</a:t>
            </a:r>
          </a:p>
          <a:p>
            <a:pPr lvl="1">
              <a:buFont typeface="Arial" panose="020B0604020202020204" pitchFamily="34" charset="0"/>
              <a:buNone/>
            </a:pPr>
            <a:endParaRPr lang="en-US" dirty="0"/>
          </a:p>
        </p:txBody>
      </p:sp>
      <p:pic>
        <p:nvPicPr>
          <p:cNvPr id="4" name="Picture 9">
            <a:extLst>
              <a:ext uri="{FF2B5EF4-FFF2-40B4-BE49-F238E27FC236}">
                <a16:creationId xmlns:a16="http://schemas.microsoft.com/office/drawing/2014/main" id="{A583B7E0-943E-CA4B-8A5A-B13077E928A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2384059"/>
            <a:ext cx="5767093" cy="269870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8D92B8E8-5015-7944-B314-493CF1E52FD9}"/>
              </a:ext>
            </a:extLst>
          </p:cNvPr>
          <p:cNvSpPr txBox="1">
            <a:spLocks noChangeArrowheads="1"/>
          </p:cNvSpPr>
          <p:nvPr/>
        </p:nvSpPr>
        <p:spPr>
          <a:xfrm>
            <a:off x="6096001" y="5069544"/>
            <a:ext cx="5767092" cy="469329"/>
          </a:xfrm>
          <a:prstGeom prst="rect">
            <a:avLst/>
          </a:prstGeom>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1800" dirty="0"/>
              <a:t>Standard Format Used for Presenting a Decision Table</a:t>
            </a:r>
          </a:p>
        </p:txBody>
      </p:sp>
    </p:spTree>
    <p:extLst>
      <p:ext uri="{BB962C8B-B14F-4D97-AF65-F5344CB8AC3E}">
        <p14:creationId xmlns:p14="http://schemas.microsoft.com/office/powerpoint/2010/main" val="23100576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DEVELOPING DECISION TABLE</a:t>
            </a:r>
            <a:endParaRPr lang="en-US" altLang="en-US" sz="5400" dirty="0">
              <a:solidFill>
                <a:srgbClr val="85103F"/>
              </a:solidFill>
              <a:latin typeface="Calibri Light" panose="020F0302020204030204" pitchFamily="34" charset="0"/>
            </a:endParaRPr>
          </a:p>
        </p:txBody>
      </p:sp>
      <p:sp>
        <p:nvSpPr>
          <p:cNvPr id="7" name="Rectangle 3">
            <a:extLst>
              <a:ext uri="{FF2B5EF4-FFF2-40B4-BE49-F238E27FC236}">
                <a16:creationId xmlns:a16="http://schemas.microsoft.com/office/drawing/2014/main" id="{416F5053-27C4-EE42-A9F5-07310D69D0A4}"/>
              </a:ext>
            </a:extLst>
          </p:cNvPr>
          <p:cNvSpPr txBox="1">
            <a:spLocks noChangeArrowheads="1"/>
          </p:cNvSpPr>
          <p:nvPr/>
        </p:nvSpPr>
        <p:spPr>
          <a:xfrm>
            <a:off x="518844" y="1433057"/>
            <a:ext cx="11347807" cy="492941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mj-lt"/>
              <a:buAutoNum type="arabicPeriod"/>
            </a:pPr>
            <a:r>
              <a:rPr lang="en-US"/>
              <a:t>Determine conditions that affect the decision</a:t>
            </a:r>
          </a:p>
          <a:p>
            <a:pPr marL="457200" indent="-457200">
              <a:buFont typeface="+mj-lt"/>
              <a:buAutoNum type="arabicPeriod"/>
            </a:pPr>
            <a:r>
              <a:rPr lang="en-US"/>
              <a:t>Determine possible actions that can be taken</a:t>
            </a:r>
          </a:p>
          <a:p>
            <a:pPr marL="457200" indent="-457200">
              <a:buFont typeface="+mj-lt"/>
              <a:buAutoNum type="arabicPeriod"/>
            </a:pPr>
            <a:r>
              <a:rPr lang="en-US"/>
              <a:t>Determine condition alternatives for each condition</a:t>
            </a:r>
          </a:p>
          <a:p>
            <a:pPr marL="457200" indent="-457200">
              <a:buFont typeface="+mj-lt"/>
              <a:buAutoNum type="arabicPeriod"/>
            </a:pPr>
            <a:r>
              <a:rPr lang="en-US"/>
              <a:t>Calculate the maximum number of columns in the decision table</a:t>
            </a:r>
          </a:p>
          <a:p>
            <a:pPr marL="457200" indent="-457200">
              <a:buFont typeface="+mj-lt"/>
              <a:buAutoNum type="arabicPeriod"/>
            </a:pPr>
            <a:r>
              <a:rPr lang="en-US"/>
              <a:t>Fill in the condition alternatives</a:t>
            </a:r>
          </a:p>
          <a:p>
            <a:pPr marL="457200" indent="-457200">
              <a:buFont typeface="+mj-lt"/>
              <a:buAutoNum type="arabicPeriod"/>
            </a:pPr>
            <a:r>
              <a:rPr lang="en-US"/>
              <a:t>Complete table by inserting an X where rules suggest actions</a:t>
            </a:r>
          </a:p>
          <a:p>
            <a:pPr marL="457200" indent="-457200">
              <a:buFont typeface="+mj-lt"/>
              <a:buAutoNum type="arabicPeriod"/>
            </a:pPr>
            <a:r>
              <a:rPr lang="en-US"/>
              <a:t>Combine rules where it is apparent </a:t>
            </a:r>
          </a:p>
          <a:p>
            <a:pPr marL="457200" indent="-457200">
              <a:buFont typeface="+mj-lt"/>
              <a:buAutoNum type="arabicPeriod"/>
            </a:pPr>
            <a:r>
              <a:rPr lang="en-US"/>
              <a:t>Check for impossible situations</a:t>
            </a:r>
          </a:p>
          <a:p>
            <a:pPr marL="457200" indent="-457200">
              <a:buFont typeface="+mj-lt"/>
              <a:buAutoNum type="arabicPeriod"/>
            </a:pPr>
            <a:r>
              <a:rPr lang="en-US"/>
              <a:t>Rearrange to make more understandable</a:t>
            </a:r>
            <a:endParaRPr lang="en-US" dirty="0"/>
          </a:p>
        </p:txBody>
      </p:sp>
    </p:spTree>
    <p:extLst>
      <p:ext uri="{BB962C8B-B14F-4D97-AF65-F5344CB8AC3E}">
        <p14:creationId xmlns:p14="http://schemas.microsoft.com/office/powerpoint/2010/main" val="2634075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TABLE EXAMPLE 1</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13F37DAA-1FD3-774A-8A13-58FBBC3A20EF}"/>
              </a:ext>
            </a:extLst>
          </p:cNvPr>
          <p:cNvSpPr txBox="1">
            <a:spLocks noChangeArrowheads="1"/>
          </p:cNvSpPr>
          <p:nvPr/>
        </p:nvSpPr>
        <p:spPr bwMode="auto">
          <a:xfrm>
            <a:off x="776479" y="1568450"/>
            <a:ext cx="10001111" cy="4599548"/>
          </a:xfrm>
          <a:prstGeom prst="rect">
            <a:avLst/>
          </a:prstGeom>
          <a:solidFill>
            <a:srgbClr val="840F3E"/>
          </a:solid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Tx/>
              <a:buSzTx/>
              <a:buFont typeface="Arial" pitchFamily="34" charset="0"/>
              <a:buNone/>
              <a:tabLst/>
              <a:defRPr/>
            </a:pPr>
            <a:endParaRPr kumimoji="0" lang="en-US" sz="2400" b="0" i="0" u="none" strike="noStrike" kern="1200" cap="none" spc="0" normalizeH="0" baseline="0" noProof="0" dirty="0">
              <a:ln>
                <a:noFill/>
              </a:ln>
              <a:solidFill>
                <a:schemeClr val="bg1"/>
              </a:solidFill>
              <a:effectLst/>
              <a:uLnTx/>
              <a:uFillTx/>
              <a:latin typeface="Avenir Book" panose="02000503020000020003" pitchFamily="2" charset="0"/>
            </a:endParaRPr>
          </a:p>
          <a:p>
            <a:pPr marL="342900" marR="0" lvl="0" indent="-342900" algn="l" defTabSz="914400" rtl="0" eaLnBrk="1" fontAlgn="base" latinLnBrk="0" hangingPunct="1">
              <a:lnSpc>
                <a:spcPct val="100000"/>
              </a:lnSpc>
              <a:spcBef>
                <a:spcPct val="20000"/>
              </a:spcBef>
              <a:spcAft>
                <a:spcPct val="0"/>
              </a:spcAft>
              <a:buClrTx/>
              <a:buSzTx/>
              <a:buFont typeface="Arial" pitchFamily="34" charset="0"/>
              <a:buNone/>
              <a:tabLst/>
              <a:defRPr/>
            </a:pPr>
            <a:r>
              <a:rPr kumimoji="0" lang="en-US" sz="2400" b="0" i="0" u="none" strike="noStrike" kern="1200" cap="none" spc="0" normalizeH="0" baseline="0" noProof="0" dirty="0">
                <a:ln>
                  <a:noFill/>
                </a:ln>
                <a:solidFill>
                  <a:schemeClr val="bg1"/>
                </a:solidFill>
                <a:effectLst/>
                <a:uLnTx/>
                <a:uFillTx/>
                <a:latin typeface="Avenir Book" panose="02000503020000020003" pitchFamily="2" charset="0"/>
              </a:rPr>
              <a:t>   Banner’s restaurant has two categories of employees . First, an employee who will be paid based on </a:t>
            </a:r>
            <a:r>
              <a:rPr kumimoji="0" lang="en-US" sz="2400" b="0" i="0" u="sng" strike="noStrike" kern="1200" cap="none" spc="0" normalizeH="0" baseline="0" noProof="0" dirty="0">
                <a:ln>
                  <a:noFill/>
                </a:ln>
                <a:solidFill>
                  <a:schemeClr val="bg1"/>
                </a:solidFill>
                <a:effectLst/>
                <a:uLnTx/>
                <a:uFillTx/>
                <a:latin typeface="Avenir Book" panose="02000503020000020003" pitchFamily="2" charset="0"/>
              </a:rPr>
              <a:t>monthly salary (S).</a:t>
            </a:r>
            <a:r>
              <a:rPr kumimoji="0" lang="en-US" sz="2400" b="0" i="0" u="none" strike="noStrike" kern="1200" cap="none" spc="0" normalizeH="0" baseline="0" noProof="0" dirty="0">
                <a:ln>
                  <a:noFill/>
                </a:ln>
                <a:solidFill>
                  <a:schemeClr val="bg1"/>
                </a:solidFill>
                <a:effectLst/>
                <a:uLnTx/>
                <a:uFillTx/>
                <a:latin typeface="Avenir Book" panose="02000503020000020003" pitchFamily="2" charset="0"/>
              </a:rPr>
              <a:t> Second, who based on </a:t>
            </a:r>
            <a:r>
              <a:rPr kumimoji="0" lang="en-US" sz="2400" b="0" i="0" u="sng" strike="noStrike" kern="1200" cap="none" spc="0" normalizeH="0" baseline="0" noProof="0" dirty="0">
                <a:ln>
                  <a:noFill/>
                </a:ln>
                <a:solidFill>
                  <a:schemeClr val="bg1"/>
                </a:solidFill>
                <a:effectLst/>
                <a:uLnTx/>
                <a:uFillTx/>
                <a:latin typeface="Avenir Book" panose="02000503020000020003" pitchFamily="2" charset="0"/>
              </a:rPr>
              <a:t>hours worked (H).</a:t>
            </a:r>
            <a:r>
              <a:rPr kumimoji="0" lang="en-US" sz="2400" b="0" i="0" u="none" strike="noStrike" kern="1200" cap="none" spc="0" normalizeH="0" baseline="0" noProof="0" dirty="0">
                <a:ln>
                  <a:noFill/>
                </a:ln>
                <a:solidFill>
                  <a:schemeClr val="bg1"/>
                </a:solidFill>
                <a:effectLst/>
                <a:uLnTx/>
                <a:uFillTx/>
                <a:latin typeface="Avenir Book" panose="02000503020000020003" pitchFamily="2" charset="0"/>
              </a:rPr>
              <a:t>  There are three types of hours worked, </a:t>
            </a:r>
            <a:r>
              <a:rPr kumimoji="0" lang="en-US" sz="2400" b="0" i="0" u="sng" strike="noStrike" kern="1200" cap="none" spc="0" normalizeH="0" baseline="0" noProof="0" dirty="0">
                <a:ln>
                  <a:noFill/>
                </a:ln>
                <a:solidFill>
                  <a:schemeClr val="bg1"/>
                </a:solidFill>
                <a:effectLst/>
                <a:uLnTx/>
                <a:uFillTx/>
                <a:latin typeface="Avenir Book" panose="02000503020000020003" pitchFamily="2" charset="0"/>
              </a:rPr>
              <a:t>less than 40,</a:t>
            </a:r>
            <a:r>
              <a:rPr kumimoji="0" lang="en-US" sz="2400" b="0" i="0" u="none" strike="noStrike" kern="1200" cap="none" spc="0" normalizeH="0" baseline="0" noProof="0" dirty="0">
                <a:ln>
                  <a:noFill/>
                </a:ln>
                <a:solidFill>
                  <a:schemeClr val="bg1"/>
                </a:solidFill>
                <a:effectLst/>
                <a:uLnTx/>
                <a:uFillTx/>
                <a:latin typeface="Avenir Book" panose="02000503020000020003" pitchFamily="2" charset="0"/>
              </a:rPr>
              <a:t> </a:t>
            </a:r>
            <a:r>
              <a:rPr kumimoji="0" lang="en-US" sz="2400" b="0" i="0" u="sng" strike="noStrike" kern="1200" cap="none" spc="0" normalizeH="0" baseline="0" noProof="0" dirty="0">
                <a:ln>
                  <a:noFill/>
                </a:ln>
                <a:solidFill>
                  <a:schemeClr val="bg1"/>
                </a:solidFill>
                <a:effectLst/>
                <a:uLnTx/>
                <a:uFillTx/>
                <a:latin typeface="Avenir Book" panose="02000503020000020003" pitchFamily="2" charset="0"/>
              </a:rPr>
              <a:t>exactly 40</a:t>
            </a:r>
            <a:r>
              <a:rPr kumimoji="0" lang="en-US" sz="2400" b="1" i="0" u="none" strike="noStrike" kern="1200" cap="none" spc="0" normalizeH="0" baseline="0" noProof="0" dirty="0">
                <a:ln>
                  <a:noFill/>
                </a:ln>
                <a:solidFill>
                  <a:schemeClr val="bg1"/>
                </a:solidFill>
                <a:effectLst/>
                <a:uLnTx/>
                <a:uFillTx/>
                <a:latin typeface="Avenir Book" panose="02000503020000020003" pitchFamily="2" charset="0"/>
              </a:rPr>
              <a:t> </a:t>
            </a:r>
            <a:r>
              <a:rPr kumimoji="0" lang="en-US" sz="2400" b="0" i="0" u="none" strike="noStrike" kern="1200" cap="none" spc="0" normalizeH="0" baseline="0" noProof="0" dirty="0">
                <a:ln>
                  <a:noFill/>
                </a:ln>
                <a:solidFill>
                  <a:schemeClr val="bg1"/>
                </a:solidFill>
                <a:effectLst/>
                <a:uLnTx/>
                <a:uFillTx/>
                <a:latin typeface="Avenir Book" panose="02000503020000020003" pitchFamily="2" charset="0"/>
              </a:rPr>
              <a:t>and</a:t>
            </a:r>
            <a:r>
              <a:rPr kumimoji="0" lang="en-US" sz="2400" b="1" i="0" u="none" strike="noStrike" kern="1200" cap="none" spc="0" normalizeH="0" baseline="0" noProof="0" dirty="0">
                <a:ln>
                  <a:noFill/>
                </a:ln>
                <a:solidFill>
                  <a:schemeClr val="bg1"/>
                </a:solidFill>
                <a:effectLst/>
                <a:uLnTx/>
                <a:uFillTx/>
                <a:latin typeface="Avenir Book" panose="02000503020000020003" pitchFamily="2" charset="0"/>
              </a:rPr>
              <a:t> </a:t>
            </a:r>
            <a:r>
              <a:rPr kumimoji="0" lang="en-US" sz="2400" b="0" i="0" u="sng" strike="noStrike" kern="1200" cap="none" spc="0" normalizeH="0" baseline="0" noProof="0" dirty="0">
                <a:ln>
                  <a:noFill/>
                </a:ln>
                <a:solidFill>
                  <a:schemeClr val="bg1"/>
                </a:solidFill>
                <a:effectLst/>
                <a:uLnTx/>
                <a:uFillTx/>
                <a:latin typeface="Avenir Book" panose="02000503020000020003" pitchFamily="2" charset="0"/>
              </a:rPr>
              <a:t>more than 40.</a:t>
            </a:r>
            <a:r>
              <a:rPr kumimoji="0" lang="en-US" sz="2400" b="0" i="0" u="none" strike="noStrike" kern="1200" cap="none" spc="0" normalizeH="0" baseline="0" noProof="0" dirty="0">
                <a:ln>
                  <a:noFill/>
                </a:ln>
                <a:solidFill>
                  <a:schemeClr val="bg1"/>
                </a:solidFill>
                <a:effectLst/>
                <a:uLnTx/>
                <a:uFillTx/>
                <a:latin typeface="Avenir Book" panose="02000503020000020003" pitchFamily="2" charset="0"/>
              </a:rPr>
              <a:t> If (S) employees who work for 40 hours or less than 40 hours or more than 40 hours, they will be paid on monthly-based. If (H) employees and work less than 40 hours, the system will </a:t>
            </a:r>
            <a:r>
              <a:rPr kumimoji="0" lang="en-US" sz="2400" b="0" i="0" u="sng" strike="noStrike" kern="1200" cap="none" spc="0" normalizeH="0" baseline="0" noProof="0" dirty="0">
                <a:ln>
                  <a:noFill/>
                </a:ln>
                <a:solidFill>
                  <a:schemeClr val="bg1"/>
                </a:solidFill>
                <a:effectLst/>
                <a:uLnTx/>
                <a:uFillTx/>
                <a:latin typeface="Avenir Book" panose="02000503020000020003" pitchFamily="2" charset="0"/>
              </a:rPr>
              <a:t>calculate hourly wage</a:t>
            </a:r>
            <a:r>
              <a:rPr kumimoji="0" lang="en-US" sz="2400" b="0" i="0" u="none" strike="noStrike" kern="1200" cap="none" spc="0" normalizeH="0" baseline="0" noProof="0" dirty="0">
                <a:ln>
                  <a:noFill/>
                </a:ln>
                <a:solidFill>
                  <a:schemeClr val="bg1"/>
                </a:solidFill>
                <a:effectLst/>
                <a:uLnTx/>
                <a:uFillTx/>
                <a:latin typeface="Avenir Book" panose="02000503020000020003" pitchFamily="2" charset="0"/>
              </a:rPr>
              <a:t> and an </a:t>
            </a:r>
            <a:r>
              <a:rPr kumimoji="0" lang="en-US" sz="2400" b="0" i="0" u="sng" strike="noStrike" kern="1200" cap="none" spc="0" normalizeH="0" baseline="0" noProof="0" dirty="0">
                <a:ln>
                  <a:noFill/>
                </a:ln>
                <a:solidFill>
                  <a:schemeClr val="bg1"/>
                </a:solidFill>
                <a:effectLst/>
                <a:uLnTx/>
                <a:uFillTx/>
                <a:latin typeface="Avenir Book" panose="02000503020000020003" pitchFamily="2" charset="0"/>
              </a:rPr>
              <a:t>absence report must be produced.</a:t>
            </a:r>
            <a:r>
              <a:rPr kumimoji="0" lang="en-US" sz="2400" b="0" i="0" u="none" strike="noStrike" kern="1200" cap="none" spc="0" normalizeH="0" baseline="0" noProof="0" dirty="0">
                <a:ln>
                  <a:noFill/>
                </a:ln>
                <a:solidFill>
                  <a:schemeClr val="bg1"/>
                </a:solidFill>
                <a:effectLst/>
                <a:uLnTx/>
                <a:uFillTx/>
                <a:latin typeface="Avenir Book" panose="02000503020000020003" pitchFamily="2" charset="0"/>
              </a:rPr>
              <a:t> If (H) employees who has worked exactly 40 hours, the system will pay hourly wage. If (H) employees and work more than 40 hours, the system will hourly calculate wage and also </a:t>
            </a:r>
            <a:r>
              <a:rPr kumimoji="0" lang="en-US" sz="2400" b="0" i="0" u="sng" strike="noStrike" kern="1200" cap="none" spc="0" normalizeH="0" baseline="0" noProof="0" dirty="0">
                <a:ln>
                  <a:noFill/>
                </a:ln>
                <a:solidFill>
                  <a:schemeClr val="bg1"/>
                </a:solidFill>
                <a:effectLst/>
                <a:uLnTx/>
                <a:uFillTx/>
                <a:latin typeface="Avenir Book" panose="02000503020000020003" pitchFamily="2" charset="0"/>
              </a:rPr>
              <a:t>calculate for overtime</a:t>
            </a:r>
            <a:r>
              <a:rPr kumimoji="0" lang="en-US" sz="2400" b="0" i="0" u="none" strike="noStrike" kern="1200" cap="none" spc="0" normalizeH="0" baseline="0" noProof="0" dirty="0">
                <a:ln>
                  <a:noFill/>
                </a:ln>
                <a:solidFill>
                  <a:schemeClr val="bg1"/>
                </a:solidFill>
                <a:effectLst/>
                <a:uLnTx/>
                <a:uFillTx/>
                <a:latin typeface="Avenir Book" panose="02000503020000020003" pitchFamily="2" charset="0"/>
              </a:rPr>
              <a:t>.</a:t>
            </a:r>
          </a:p>
        </p:txBody>
      </p:sp>
    </p:spTree>
    <p:extLst>
      <p:ext uri="{BB962C8B-B14F-4D97-AF65-F5344CB8AC3E}">
        <p14:creationId xmlns:p14="http://schemas.microsoft.com/office/powerpoint/2010/main" val="28579789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F788D14-F08A-0A44-9B14-C59D2DE37E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2014" y="1775168"/>
            <a:ext cx="7687972" cy="4702688"/>
          </a:xfrm>
          <a:prstGeom prst="rect">
            <a:avLst/>
          </a:prstGeom>
        </p:spPr>
      </p:pic>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TABLE EXAMPLE 1</a:t>
            </a:r>
          </a:p>
          <a:p>
            <a:pPr>
              <a:lnSpc>
                <a:spcPct val="90000"/>
              </a:lnSpc>
            </a:pPr>
            <a:r>
              <a:rPr lang="en-US" altLang="en-US" sz="4400" b="1" dirty="0">
                <a:solidFill>
                  <a:srgbClr val="85103F"/>
                </a:solidFill>
                <a:latin typeface="Calibri Light" panose="020F0302020204030204" pitchFamily="34" charset="0"/>
              </a:rPr>
              <a:t>Initial Table</a:t>
            </a:r>
            <a:endParaRPr lang="en-US" altLang="en-US" sz="4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705868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ell phone&#10;&#10;Description automatically generated">
            <a:extLst>
              <a:ext uri="{FF2B5EF4-FFF2-40B4-BE49-F238E27FC236}">
                <a16:creationId xmlns:a16="http://schemas.microsoft.com/office/drawing/2014/main" id="{9BB9C422-473B-194E-95A2-534E1CF470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8265" y="1847622"/>
            <a:ext cx="8384373" cy="4794619"/>
          </a:xfrm>
          <a:prstGeom prst="rect">
            <a:avLst/>
          </a:prstGeom>
        </p:spPr>
      </p:pic>
      <p:sp>
        <p:nvSpPr>
          <p:cNvPr id="3" name="Title 1">
            <a:extLst>
              <a:ext uri="{FF2B5EF4-FFF2-40B4-BE49-F238E27FC236}">
                <a16:creationId xmlns:a16="http://schemas.microsoft.com/office/drawing/2014/main" id="{D2FB1A99-7FF2-3046-BF55-D81BF2C8F46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TABLE EXAMPLE 1</a:t>
            </a:r>
          </a:p>
          <a:p>
            <a:pPr>
              <a:lnSpc>
                <a:spcPct val="90000"/>
              </a:lnSpc>
            </a:pPr>
            <a:r>
              <a:rPr lang="en-US" altLang="en-US" sz="4400" b="1" dirty="0">
                <a:solidFill>
                  <a:srgbClr val="85103F"/>
                </a:solidFill>
                <a:latin typeface="Calibri Light" panose="020F0302020204030204" pitchFamily="34" charset="0"/>
              </a:rPr>
              <a:t>Simplified Table</a:t>
            </a:r>
            <a:endParaRPr lang="en-US" altLang="en-US" sz="4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3510841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8968ED0-DB8F-5A48-8707-FCB06FF06AEC}"/>
              </a:ext>
            </a:extLst>
          </p:cNvPr>
          <p:cNvSpPr txBox="1">
            <a:spLocks noChangeArrowheads="1"/>
          </p:cNvSpPr>
          <p:nvPr/>
        </p:nvSpPr>
        <p:spPr bwMode="auto">
          <a:xfrm>
            <a:off x="427037" y="596900"/>
            <a:ext cx="1163482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TABLE EXAMPLE 2</a:t>
            </a:r>
          </a:p>
          <a:p>
            <a:pPr>
              <a:lnSpc>
                <a:spcPct val="90000"/>
              </a:lnSpc>
            </a:pPr>
            <a:r>
              <a:rPr lang="en-US" sz="2400" dirty="0"/>
              <a:t>Constructing a Decision Table for Deciding Which Catalog to Send to Customers Who Order Only from Selected Catalogs</a:t>
            </a:r>
            <a:endParaRPr lang="en-US" altLang="en-US" sz="2400" dirty="0">
              <a:solidFill>
                <a:srgbClr val="85103F"/>
              </a:solidFill>
              <a:latin typeface="Calibri Light" panose="020F0302020204030204" pitchFamily="34" charset="0"/>
            </a:endParaRPr>
          </a:p>
        </p:txBody>
      </p:sp>
      <p:pic>
        <p:nvPicPr>
          <p:cNvPr id="5" name="Picture 11">
            <a:extLst>
              <a:ext uri="{FF2B5EF4-FFF2-40B4-BE49-F238E27FC236}">
                <a16:creationId xmlns:a16="http://schemas.microsoft.com/office/drawing/2014/main" id="{30BAB47D-A3C0-F54B-8987-B838C6CDE8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3214" y="2281952"/>
            <a:ext cx="9663005" cy="30873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00944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3A4686B-9DDB-8742-BAC5-A20EA3AC00F4}"/>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TABLE EXAMPLE 2</a:t>
            </a:r>
          </a:p>
          <a:p>
            <a:pPr>
              <a:lnSpc>
                <a:spcPct val="90000"/>
              </a:lnSpc>
            </a:pPr>
            <a:r>
              <a:rPr lang="en-US" sz="2400" dirty="0"/>
              <a:t>Constructing a Decision Table for Deciding Which Catalog to Send to Customers Who Order Only from Selected Catalogs</a:t>
            </a:r>
            <a:endParaRPr lang="en-US" altLang="en-US" sz="2400" dirty="0">
              <a:solidFill>
                <a:srgbClr val="85103F"/>
              </a:solidFill>
              <a:latin typeface="Calibri Light" panose="020F0302020204030204" pitchFamily="34" charset="0"/>
            </a:endParaRPr>
          </a:p>
        </p:txBody>
      </p:sp>
      <p:pic>
        <p:nvPicPr>
          <p:cNvPr id="4" name="Picture 7">
            <a:extLst>
              <a:ext uri="{FF2B5EF4-FFF2-40B4-BE49-F238E27FC236}">
                <a16:creationId xmlns:a16="http://schemas.microsoft.com/office/drawing/2014/main" id="{3502B1FA-4EA3-B24D-A02B-DCA8C3F3CB0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1634" y="2024781"/>
            <a:ext cx="7494572" cy="456880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11468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B4055B-F079-DC4C-A112-589EAF7F2449}"/>
              </a:ext>
            </a:extLst>
          </p:cNvPr>
          <p:cNvSpPr txBox="1">
            <a:spLocks noChangeArrowheads="1"/>
          </p:cNvSpPr>
          <p:nvPr/>
        </p:nvSpPr>
        <p:spPr bwMode="auto">
          <a:xfrm>
            <a:off x="427038" y="596900"/>
            <a:ext cx="11764962"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TABLE EXAMPLE 2</a:t>
            </a:r>
          </a:p>
        </p:txBody>
      </p:sp>
      <p:grpSp>
        <p:nvGrpSpPr>
          <p:cNvPr id="4" name="Group 1026">
            <a:extLst>
              <a:ext uri="{FF2B5EF4-FFF2-40B4-BE49-F238E27FC236}">
                <a16:creationId xmlns:a16="http://schemas.microsoft.com/office/drawing/2014/main" id="{23244194-8D88-6346-B8BD-4518BC684CC6}"/>
              </a:ext>
            </a:extLst>
          </p:cNvPr>
          <p:cNvGrpSpPr>
            <a:grpSpLocks/>
          </p:cNvGrpSpPr>
          <p:nvPr/>
        </p:nvGrpSpPr>
        <p:grpSpPr bwMode="auto">
          <a:xfrm>
            <a:off x="631451" y="1534131"/>
            <a:ext cx="6067300" cy="5082426"/>
            <a:chOff x="113" y="663"/>
            <a:chExt cx="3992" cy="3467"/>
          </a:xfrm>
        </p:grpSpPr>
        <p:pic>
          <p:nvPicPr>
            <p:cNvPr id="5" name="Picture 1027">
              <a:extLst>
                <a:ext uri="{FF2B5EF4-FFF2-40B4-BE49-F238E27FC236}">
                  <a16:creationId xmlns:a16="http://schemas.microsoft.com/office/drawing/2014/main" id="{F00B052E-C59D-A94C-8039-4BB9F6DD4053}"/>
                </a:ext>
              </a:extLst>
            </p:cNvPr>
            <p:cNvPicPr>
              <a:picLocks noChangeAspect="1" noChangeArrowheads="1"/>
            </p:cNvPicPr>
            <p:nvPr/>
          </p:nvPicPr>
          <p:blipFill>
            <a:blip r:embed="rId2" cstate="print"/>
            <a:srcRect/>
            <a:stretch>
              <a:fillRect/>
            </a:stretch>
          </p:blipFill>
          <p:spPr bwMode="auto">
            <a:xfrm>
              <a:off x="113" y="663"/>
              <a:ext cx="3992" cy="1296"/>
            </a:xfrm>
            <a:prstGeom prst="rect">
              <a:avLst/>
            </a:prstGeom>
            <a:noFill/>
            <a:ln w="9525">
              <a:solidFill>
                <a:schemeClr val="tx1"/>
              </a:solidFill>
              <a:miter lim="800000"/>
              <a:headEnd/>
              <a:tailEnd/>
            </a:ln>
            <a:effectLst>
              <a:outerShdw dist="35921" dir="2700000" algn="ctr" rotWithShape="0">
                <a:srgbClr val="808080"/>
              </a:outerShdw>
            </a:effectLst>
          </p:spPr>
        </p:pic>
        <p:pic>
          <p:nvPicPr>
            <p:cNvPr id="6" name="Picture 1028">
              <a:extLst>
                <a:ext uri="{FF2B5EF4-FFF2-40B4-BE49-F238E27FC236}">
                  <a16:creationId xmlns:a16="http://schemas.microsoft.com/office/drawing/2014/main" id="{78155A64-BAED-474E-8111-8B85AF2C56DF}"/>
                </a:ext>
              </a:extLst>
            </p:cNvPr>
            <p:cNvPicPr>
              <a:picLocks noChangeAspect="1" noChangeArrowheads="1"/>
            </p:cNvPicPr>
            <p:nvPr/>
          </p:nvPicPr>
          <p:blipFill>
            <a:blip r:embed="rId3" cstate="print"/>
            <a:srcRect/>
            <a:stretch>
              <a:fillRect/>
            </a:stretch>
          </p:blipFill>
          <p:spPr bwMode="auto">
            <a:xfrm>
              <a:off x="158" y="1979"/>
              <a:ext cx="3584" cy="2151"/>
            </a:xfrm>
            <a:prstGeom prst="rect">
              <a:avLst/>
            </a:prstGeom>
            <a:noFill/>
            <a:ln w="9525">
              <a:solidFill>
                <a:schemeClr val="tx1"/>
              </a:solidFill>
              <a:miter lim="800000"/>
              <a:headEnd/>
              <a:tailEnd/>
            </a:ln>
            <a:effectLst>
              <a:outerShdw dist="35921" dir="2700000" algn="ctr" rotWithShape="0">
                <a:srgbClr val="808080"/>
              </a:outerShdw>
            </a:effectLst>
          </p:spPr>
        </p:pic>
      </p:grpSp>
      <p:sp>
        <p:nvSpPr>
          <p:cNvPr id="7" name="Text Box 1029">
            <a:extLst>
              <a:ext uri="{FF2B5EF4-FFF2-40B4-BE49-F238E27FC236}">
                <a16:creationId xmlns:a16="http://schemas.microsoft.com/office/drawing/2014/main" id="{543A82B7-06FA-E04E-90F6-376E6BE5E53A}"/>
              </a:ext>
            </a:extLst>
          </p:cNvPr>
          <p:cNvSpPr txBox="1">
            <a:spLocks noChangeArrowheads="1"/>
          </p:cNvSpPr>
          <p:nvPr/>
        </p:nvSpPr>
        <p:spPr bwMode="auto">
          <a:xfrm>
            <a:off x="8970195" y="4486599"/>
            <a:ext cx="1981200" cy="1200329"/>
          </a:xfrm>
          <a:prstGeom prst="rect">
            <a:avLst/>
          </a:prstGeom>
          <a:solidFill>
            <a:srgbClr val="840F3E"/>
          </a:solidFill>
          <a:ln w="9525">
            <a:solidFill>
              <a:schemeClr val="tx1"/>
            </a:solidFill>
            <a:miter lim="800000"/>
            <a:headEnd/>
            <a:tailEnd/>
          </a:ln>
          <a:effectLst>
            <a:outerShdw dist="35921" dir="2700000" algn="ctr" rotWithShape="0">
              <a:schemeClr val="bg2"/>
            </a:outerShdw>
          </a:effectLst>
        </p:spPr>
        <p:txBody>
          <a:bodyPr>
            <a:spAutoFit/>
          </a:bodyPr>
          <a:lstStyle/>
          <a:p>
            <a:pPr>
              <a:spcBef>
                <a:spcPct val="50000"/>
              </a:spcBef>
              <a:defRPr/>
            </a:pPr>
            <a:r>
              <a:rPr lang="en-US">
                <a:solidFill>
                  <a:schemeClr val="bg1"/>
                </a:solidFill>
                <a:latin typeface="Avenir Book" panose="02000503020000020003" pitchFamily="2" charset="0"/>
              </a:rPr>
              <a:t>Combining rules to simplify the customer-catalog decision table</a:t>
            </a:r>
          </a:p>
        </p:txBody>
      </p:sp>
      <p:sp>
        <p:nvSpPr>
          <p:cNvPr id="8" name="Text Box 1030">
            <a:extLst>
              <a:ext uri="{FF2B5EF4-FFF2-40B4-BE49-F238E27FC236}">
                <a16:creationId xmlns:a16="http://schemas.microsoft.com/office/drawing/2014/main" id="{91BC6992-D8D9-DB48-907B-FE824B488E78}"/>
              </a:ext>
            </a:extLst>
          </p:cNvPr>
          <p:cNvSpPr txBox="1">
            <a:spLocks noChangeArrowheads="1"/>
          </p:cNvSpPr>
          <p:nvPr/>
        </p:nvSpPr>
        <p:spPr bwMode="auto">
          <a:xfrm>
            <a:off x="8970195" y="1424312"/>
            <a:ext cx="2020888" cy="2031325"/>
          </a:xfrm>
          <a:prstGeom prst="rect">
            <a:avLst/>
          </a:prstGeom>
          <a:solidFill>
            <a:srgbClr val="840F3E"/>
          </a:solidFill>
          <a:ln w="9525">
            <a:solidFill>
              <a:schemeClr val="tx1"/>
            </a:solidFill>
            <a:miter lim="800000"/>
            <a:headEnd/>
            <a:tailEnd/>
          </a:ln>
          <a:effectLst>
            <a:outerShdw dist="35921" dir="2700000" algn="ctr" rotWithShape="0">
              <a:schemeClr val="bg2"/>
            </a:outerShdw>
          </a:effectLst>
        </p:spPr>
        <p:txBody>
          <a:bodyPr>
            <a:spAutoFit/>
          </a:bodyPr>
          <a:lstStyle/>
          <a:p>
            <a:pPr>
              <a:spcBef>
                <a:spcPct val="50000"/>
              </a:spcBef>
              <a:defRPr/>
            </a:pPr>
            <a:r>
              <a:rPr lang="en-US" dirty="0">
                <a:solidFill>
                  <a:schemeClr val="bg1"/>
                </a:solidFill>
                <a:latin typeface="Avenir Book" panose="02000503020000020003" pitchFamily="2" charset="0"/>
              </a:rPr>
              <a:t>Constructing a decision table for deciding which catalog to send to customers who order only from selected catalogs</a:t>
            </a:r>
          </a:p>
        </p:txBody>
      </p:sp>
      <p:sp>
        <p:nvSpPr>
          <p:cNvPr id="2" name="Right Arrow 1">
            <a:extLst>
              <a:ext uri="{FF2B5EF4-FFF2-40B4-BE49-F238E27FC236}">
                <a16:creationId xmlns:a16="http://schemas.microsoft.com/office/drawing/2014/main" id="{0B360DC2-63F6-0E41-AA12-FCE6EE93864C}"/>
              </a:ext>
            </a:extLst>
          </p:cNvPr>
          <p:cNvSpPr/>
          <p:nvPr/>
        </p:nvSpPr>
        <p:spPr>
          <a:xfrm>
            <a:off x="6842589" y="2301411"/>
            <a:ext cx="2013735" cy="400692"/>
          </a:xfrm>
          <a:prstGeom prst="rightArrow">
            <a:avLst/>
          </a:prstGeom>
          <a:solidFill>
            <a:srgbClr val="840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a:extLst>
              <a:ext uri="{FF2B5EF4-FFF2-40B4-BE49-F238E27FC236}">
                <a16:creationId xmlns:a16="http://schemas.microsoft.com/office/drawing/2014/main" id="{F2C0BB23-2B6F-1049-BE60-9DEA4FDF70CA}"/>
              </a:ext>
            </a:extLst>
          </p:cNvPr>
          <p:cNvSpPr/>
          <p:nvPr/>
        </p:nvSpPr>
        <p:spPr>
          <a:xfrm rot="10800000">
            <a:off x="6309519" y="4923177"/>
            <a:ext cx="2546805" cy="400692"/>
          </a:xfrm>
          <a:prstGeom prst="rightArrow">
            <a:avLst/>
          </a:prstGeom>
          <a:solidFill>
            <a:srgbClr val="840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59366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7" y="596900"/>
            <a:ext cx="11655371"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CHECKING FOR COMPLETENESS &amp; ACCURACY</a:t>
            </a:r>
            <a:endParaRPr lang="en-US" altLang="en-US" sz="4800" dirty="0">
              <a:solidFill>
                <a:srgbClr val="85103F"/>
              </a:solidFill>
              <a:latin typeface="Calibri Light" panose="020F0302020204030204" pitchFamily="34" charset="0"/>
            </a:endParaRPr>
          </a:p>
        </p:txBody>
      </p:sp>
      <p:pic>
        <p:nvPicPr>
          <p:cNvPr id="3" name="Picture 4">
            <a:extLst>
              <a:ext uri="{FF2B5EF4-FFF2-40B4-BE49-F238E27FC236}">
                <a16:creationId xmlns:a16="http://schemas.microsoft.com/office/drawing/2014/main" id="{69E9C5D9-2B4A-554E-8E9F-DCA659A9C6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3497" y="2011362"/>
            <a:ext cx="6677025" cy="42497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4C7EE418-1C1B-094A-B428-1B0DB941489C}"/>
              </a:ext>
            </a:extLst>
          </p:cNvPr>
          <p:cNvSpPr txBox="1">
            <a:spLocks noChangeArrowheads="1"/>
          </p:cNvSpPr>
          <p:nvPr/>
        </p:nvSpPr>
        <p:spPr>
          <a:xfrm>
            <a:off x="427037" y="1568450"/>
            <a:ext cx="6779096" cy="706090"/>
          </a:xfrm>
          <a:prstGeom prst="rect">
            <a:avLst/>
          </a:prstGeom>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2800" dirty="0"/>
              <a:t>1. Impossible Situations</a:t>
            </a:r>
          </a:p>
        </p:txBody>
      </p:sp>
      <p:sp>
        <p:nvSpPr>
          <p:cNvPr id="2" name="TextBox 1">
            <a:extLst>
              <a:ext uri="{FF2B5EF4-FFF2-40B4-BE49-F238E27FC236}">
                <a16:creationId xmlns:a16="http://schemas.microsoft.com/office/drawing/2014/main" id="{FBD96503-1EF5-014A-AE1C-6D13B4DA942C}"/>
              </a:ext>
            </a:extLst>
          </p:cNvPr>
          <p:cNvSpPr txBox="1"/>
          <p:nvPr/>
        </p:nvSpPr>
        <p:spPr>
          <a:xfrm>
            <a:off x="7094841" y="4972692"/>
            <a:ext cx="3656678" cy="830997"/>
          </a:xfrm>
          <a:prstGeom prst="rect">
            <a:avLst/>
          </a:prstGeom>
          <a:solidFill>
            <a:srgbClr val="840F3E"/>
          </a:solidFill>
        </p:spPr>
        <p:txBody>
          <a:bodyPr wrap="square" rtlCol="0">
            <a:spAutoFit/>
          </a:bodyPr>
          <a:lstStyle/>
          <a:p>
            <a:r>
              <a:rPr lang="en-US" sz="1600" dirty="0">
                <a:solidFill>
                  <a:schemeClr val="bg1"/>
                </a:solidFill>
                <a:latin typeface="Avenir Book" panose="02000503020000020003" pitchFamily="2" charset="0"/>
                <a:ea typeface="BandsMakeHerDance Medium" panose="02000603000000000000" pitchFamily="2" charset="0"/>
              </a:rPr>
              <a:t>A person cannot earn greater than $50,000 per year and less than $2000 per month</a:t>
            </a:r>
          </a:p>
        </p:txBody>
      </p:sp>
    </p:spTree>
    <p:extLst>
      <p:ext uri="{BB962C8B-B14F-4D97-AF65-F5344CB8AC3E}">
        <p14:creationId xmlns:p14="http://schemas.microsoft.com/office/powerpoint/2010/main" val="2298148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A988DE0-E60E-E64B-8474-396BD294EDEC}"/>
              </a:ext>
            </a:extLst>
          </p:cNvPr>
          <p:cNvSpPr txBox="1">
            <a:spLocks noChangeArrowheads="1"/>
          </p:cNvSpPr>
          <p:nvPr/>
        </p:nvSpPr>
        <p:spPr bwMode="auto">
          <a:xfrm>
            <a:off x="427037" y="596900"/>
            <a:ext cx="11655371"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CHECKING FOR COMPLETENESS &amp; ACCURACY</a:t>
            </a:r>
            <a:endParaRPr lang="en-US" altLang="en-US" sz="4800" dirty="0">
              <a:solidFill>
                <a:srgbClr val="85103F"/>
              </a:solidFill>
              <a:latin typeface="Calibri Light" panose="020F0302020204030204" pitchFamily="34" charset="0"/>
            </a:endParaRPr>
          </a:p>
        </p:txBody>
      </p:sp>
      <p:sp>
        <p:nvSpPr>
          <p:cNvPr id="4" name="Rectangle 2">
            <a:extLst>
              <a:ext uri="{FF2B5EF4-FFF2-40B4-BE49-F238E27FC236}">
                <a16:creationId xmlns:a16="http://schemas.microsoft.com/office/drawing/2014/main" id="{44EF430B-4BFD-B246-A2E8-B23D3EDA681B}"/>
              </a:ext>
            </a:extLst>
          </p:cNvPr>
          <p:cNvSpPr txBox="1">
            <a:spLocks noChangeArrowheads="1"/>
          </p:cNvSpPr>
          <p:nvPr/>
        </p:nvSpPr>
        <p:spPr>
          <a:xfrm>
            <a:off x="427037" y="1568450"/>
            <a:ext cx="6779096" cy="706090"/>
          </a:xfrm>
          <a:prstGeom prst="rect">
            <a:avLst/>
          </a:prstGeom>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2800" dirty="0"/>
              <a:t>2. Contradiction and redundancy</a:t>
            </a:r>
          </a:p>
        </p:txBody>
      </p:sp>
      <p:pic>
        <p:nvPicPr>
          <p:cNvPr id="5" name="Picture 4">
            <a:extLst>
              <a:ext uri="{FF2B5EF4-FFF2-40B4-BE49-F238E27FC236}">
                <a16:creationId xmlns:a16="http://schemas.microsoft.com/office/drawing/2014/main" id="{95960B0C-2BC0-1C43-B48A-BF807C4588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1981200"/>
            <a:ext cx="6700838" cy="3986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0CB398D-8CCA-894B-BBAE-89DD54C5B0FD}"/>
              </a:ext>
            </a:extLst>
          </p:cNvPr>
          <p:cNvSpPr txBox="1"/>
          <p:nvPr/>
        </p:nvSpPr>
        <p:spPr>
          <a:xfrm>
            <a:off x="6848262" y="5967413"/>
            <a:ext cx="3819738" cy="338554"/>
          </a:xfrm>
          <a:prstGeom prst="rect">
            <a:avLst/>
          </a:prstGeom>
          <a:solidFill>
            <a:srgbClr val="840F3E"/>
          </a:solidFill>
        </p:spPr>
        <p:txBody>
          <a:bodyPr wrap="square" rtlCol="0">
            <a:spAutoFit/>
          </a:bodyPr>
          <a:lstStyle/>
          <a:p>
            <a:pPr algn="ctr"/>
            <a:r>
              <a:rPr lang="en-US" sz="1600" dirty="0">
                <a:solidFill>
                  <a:schemeClr val="bg1"/>
                </a:solidFill>
                <a:latin typeface="Avenir Book" panose="02000503020000020003" pitchFamily="2" charset="0"/>
                <a:ea typeface="BandsMakeHerDance Medium" panose="02000603000000000000" pitchFamily="2" charset="0"/>
              </a:rPr>
              <a:t>Have the same conditions and results</a:t>
            </a:r>
          </a:p>
        </p:txBody>
      </p:sp>
      <p:sp>
        <p:nvSpPr>
          <p:cNvPr id="7" name="TextBox 6">
            <a:extLst>
              <a:ext uri="{FF2B5EF4-FFF2-40B4-BE49-F238E27FC236}">
                <a16:creationId xmlns:a16="http://schemas.microsoft.com/office/drawing/2014/main" id="{11679A62-4EC2-9143-A363-B6677A271CC5}"/>
              </a:ext>
            </a:extLst>
          </p:cNvPr>
          <p:cNvSpPr txBox="1"/>
          <p:nvPr/>
        </p:nvSpPr>
        <p:spPr>
          <a:xfrm>
            <a:off x="141138" y="5922546"/>
            <a:ext cx="4733281" cy="338554"/>
          </a:xfrm>
          <a:prstGeom prst="rect">
            <a:avLst/>
          </a:prstGeom>
          <a:solidFill>
            <a:srgbClr val="840F3E"/>
          </a:solidFill>
        </p:spPr>
        <p:txBody>
          <a:bodyPr wrap="square" rtlCol="0">
            <a:spAutoFit/>
          </a:bodyPr>
          <a:lstStyle/>
          <a:p>
            <a:pPr algn="ctr"/>
            <a:r>
              <a:rPr lang="en-US" sz="1600" dirty="0">
                <a:solidFill>
                  <a:schemeClr val="bg1"/>
                </a:solidFill>
                <a:latin typeface="Avenir Book" panose="02000503020000020003" pitchFamily="2" charset="0"/>
                <a:ea typeface="BandsMakeHerDance Medium" panose="02000603000000000000" pitchFamily="2" charset="0"/>
              </a:rPr>
              <a:t>Have the same conditions but different results</a:t>
            </a:r>
          </a:p>
        </p:txBody>
      </p:sp>
    </p:spTree>
    <p:extLst>
      <p:ext uri="{BB962C8B-B14F-4D97-AF65-F5344CB8AC3E}">
        <p14:creationId xmlns:p14="http://schemas.microsoft.com/office/powerpoint/2010/main" val="3899112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F9C3898B-21C2-9F4F-B316-3CDEBC7FC352}"/>
              </a:ext>
            </a:extLst>
          </p:cNvPr>
          <p:cNvSpPr>
            <a:spLocks noGrp="1"/>
          </p:cNvSpPr>
          <p:nvPr>
            <p:ph type="sldNum" sz="quarter" idx="12"/>
          </p:nvPr>
        </p:nvSpPr>
        <p:spPr/>
        <p:txBody>
          <a:bodyPr/>
          <a:lstStyle/>
          <a:p>
            <a:pPr>
              <a:defRPr/>
            </a:pPr>
            <a:fld id="{D1A9425D-9892-784D-B3BB-790F829805F1}" type="slidenum">
              <a:rPr lang="en-US" smtClean="0"/>
              <a:pPr>
                <a:defRPr/>
              </a:pPr>
              <a:t>32</a:t>
            </a:fld>
            <a:endParaRPr lang="en-US"/>
          </a:p>
        </p:txBody>
      </p:sp>
      <p:sp>
        <p:nvSpPr>
          <p:cNvPr id="11" name="Rectangle 10">
            <a:extLst>
              <a:ext uri="{FF2B5EF4-FFF2-40B4-BE49-F238E27FC236}">
                <a16:creationId xmlns:a16="http://schemas.microsoft.com/office/drawing/2014/main" id="{EBA8851E-4BAB-2041-B88B-08F78FFA0556}"/>
              </a:ext>
            </a:extLst>
          </p:cNvPr>
          <p:cNvSpPr/>
          <p:nvPr/>
        </p:nvSpPr>
        <p:spPr>
          <a:xfrm>
            <a:off x="369868" y="3507733"/>
            <a:ext cx="11691991" cy="1972639"/>
          </a:xfrm>
          <a:prstGeom prst="rect">
            <a:avLst/>
          </a:prstGeom>
          <a:solidFill>
            <a:srgbClr val="840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21AFD0D-B431-B84A-BA7E-1F4A4969AEF3}"/>
              </a:ext>
            </a:extLst>
          </p:cNvPr>
          <p:cNvSpPr txBox="1"/>
          <p:nvPr/>
        </p:nvSpPr>
        <p:spPr>
          <a:xfrm>
            <a:off x="462337" y="2148976"/>
            <a:ext cx="11507055" cy="3323987"/>
          </a:xfrm>
          <a:prstGeom prst="rect">
            <a:avLst/>
          </a:prstGeom>
          <a:noFill/>
        </p:spPr>
        <p:txBody>
          <a:bodyPr wrap="square" rtlCol="0">
            <a:spAutoFit/>
          </a:bodyPr>
          <a:lstStyle/>
          <a:p>
            <a:pPr algn="just"/>
            <a:r>
              <a:rPr lang="en-US" sz="2200" dirty="0">
                <a:latin typeface="Avenir Book" panose="02000503020000020003" pitchFamily="2" charset="0"/>
              </a:rPr>
              <a:t>Using the same problem in the Checkpoint 1, create a decision table depicting the reimbursement for Encik Amir’s office policies. </a:t>
            </a:r>
          </a:p>
          <a:p>
            <a:pPr algn="just"/>
            <a:endParaRPr lang="en-US" sz="2200" dirty="0">
              <a:latin typeface="Avenir Book" panose="02000503020000020003" pitchFamily="2" charset="0"/>
            </a:endParaRPr>
          </a:p>
          <a:p>
            <a:pPr algn="just"/>
            <a:r>
              <a:rPr lang="en-US" i="1" dirty="0">
                <a:latin typeface="Avenir Book" panose="02000503020000020003" pitchFamily="2" charset="0"/>
              </a:rPr>
              <a:t>(from Checkpoint 1)</a:t>
            </a:r>
          </a:p>
          <a:p>
            <a:pPr algn="just"/>
            <a:endParaRPr lang="en-US" i="1" dirty="0">
              <a:solidFill>
                <a:schemeClr val="bg1"/>
              </a:solidFill>
              <a:latin typeface="Avenir Book" panose="02000503020000020003" pitchFamily="2" charset="0"/>
            </a:endParaRPr>
          </a:p>
          <a:p>
            <a:pPr algn="just"/>
            <a:r>
              <a:rPr lang="en-US" i="1" dirty="0">
                <a:solidFill>
                  <a:schemeClr val="bg1"/>
                </a:solidFill>
                <a:latin typeface="Avenir Book" panose="02000503020000020003" pitchFamily="2" charset="0"/>
              </a:rPr>
              <a:t>“Our reimbursement policies depend on the situation. You see, first we determine if it is a local trip. If it is, we only pay mileage of 18.5 cents a mile. If the trip was a one-day trip, we pay mileage and then check the times of departure and return. To be reimbursed for breakfast, you must leave by 7:00 A.M., lunch by 11:00 A.M., and have dinner by 5:00 P.M. To receive reimbursement for breakfast, you must return later than 10:00 A.M., lunch later than 2:00 P.M., and have dinner by 7:00 P.M. On a trip lasting more than one day, we allow hotel, taxi, and airfare, as well as meal allowances. The same times apply for meal expenses.”</a:t>
            </a:r>
          </a:p>
        </p:txBody>
      </p:sp>
      <p:sp>
        <p:nvSpPr>
          <p:cNvPr id="14" name="Title 1">
            <a:extLst>
              <a:ext uri="{FF2B5EF4-FFF2-40B4-BE49-F238E27FC236}">
                <a16:creationId xmlns:a16="http://schemas.microsoft.com/office/drawing/2014/main" id="{4406ADA7-BEE8-9047-9C2C-832AF79DA1CC}"/>
              </a:ext>
            </a:extLst>
          </p:cNvPr>
          <p:cNvSpPr txBox="1">
            <a:spLocks noChangeArrowheads="1"/>
          </p:cNvSpPr>
          <p:nvPr/>
        </p:nvSpPr>
        <p:spPr bwMode="auto">
          <a:xfrm>
            <a:off x="2930701" y="410966"/>
            <a:ext cx="8607177" cy="122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LET’S TRY</a:t>
            </a:r>
          </a:p>
          <a:p>
            <a:pPr>
              <a:lnSpc>
                <a:spcPct val="90000"/>
              </a:lnSpc>
            </a:pPr>
            <a:r>
              <a:rPr lang="en-US" altLang="en-US" sz="3600" dirty="0">
                <a:solidFill>
                  <a:srgbClr val="85103F"/>
                </a:solidFill>
              </a:rPr>
              <a:t>Checkpoint 2: Decision Table</a:t>
            </a:r>
          </a:p>
        </p:txBody>
      </p:sp>
      <p:pic>
        <p:nvPicPr>
          <p:cNvPr id="2055" name="Picture 7" descr="Image result for discussion png">
            <a:extLst>
              <a:ext uri="{FF2B5EF4-FFF2-40B4-BE49-F238E27FC236}">
                <a16:creationId xmlns:a16="http://schemas.microsoft.com/office/drawing/2014/main" id="{E1A9CE48-37B4-0843-8146-D56C10FC9A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359" y="174416"/>
            <a:ext cx="3243066" cy="1974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9722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DC8AAC1-7DB5-434F-BE64-6CFB52E526BC}"/>
              </a:ext>
            </a:extLst>
          </p:cNvPr>
          <p:cNvGraphicFramePr/>
          <p:nvPr>
            <p:extLst>
              <p:ext uri="{D42A27DB-BD31-4B8C-83A1-F6EECF244321}">
                <p14:modId xmlns:p14="http://schemas.microsoft.com/office/powerpoint/2010/main" val="1706670477"/>
              </p:ext>
            </p:extLst>
          </p:nvPr>
        </p:nvGraphicFramePr>
        <p:xfrm>
          <a:off x="396875" y="1995916"/>
          <a:ext cx="11398250" cy="2874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DDDC9C0A-E626-0641-A8D4-489BDA0CE3A9}"/>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MAJOR TOPICS</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501910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TREE</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86AE613E-F26E-6A48-B743-6B76EB9F22BB}"/>
              </a:ext>
            </a:extLst>
          </p:cNvPr>
          <p:cNvSpPr txBox="1">
            <a:spLocks noChangeArrowheads="1"/>
          </p:cNvSpPr>
          <p:nvPr/>
        </p:nvSpPr>
        <p:spPr>
          <a:xfrm>
            <a:off x="292813" y="1387011"/>
            <a:ext cx="11666305" cy="487408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Decision trees are used when complex branching occurs in a structured decision process</a:t>
            </a:r>
          </a:p>
          <a:p>
            <a:r>
              <a:rPr lang="en-US" dirty="0"/>
              <a:t>Trees are also useful when it is essential to keep a string of decisions in a particular sequence</a:t>
            </a:r>
          </a:p>
          <a:p>
            <a:r>
              <a:rPr lang="en-US" dirty="0"/>
              <a:t>Advantages:</a:t>
            </a:r>
          </a:p>
          <a:p>
            <a:pPr lvl="1"/>
            <a:r>
              <a:rPr lang="en-US" dirty="0"/>
              <a:t>The order of checking conditions and executing actions is immediately noticeable</a:t>
            </a:r>
          </a:p>
          <a:p>
            <a:pPr lvl="1"/>
            <a:r>
              <a:rPr lang="en-US" dirty="0"/>
              <a:t>Conditions and actions of decision trees are found on some branches but not on others</a:t>
            </a:r>
          </a:p>
          <a:p>
            <a:pPr lvl="1"/>
            <a:r>
              <a:rPr lang="en-US" dirty="0"/>
              <a:t>Compared to decision tables, decision trees are more readily understood by others in the organization</a:t>
            </a:r>
          </a:p>
          <a:p>
            <a:endParaRPr lang="en-US" dirty="0"/>
          </a:p>
        </p:txBody>
      </p:sp>
    </p:spTree>
    <p:extLst>
      <p:ext uri="{BB962C8B-B14F-4D97-AF65-F5344CB8AC3E}">
        <p14:creationId xmlns:p14="http://schemas.microsoft.com/office/powerpoint/2010/main" val="300586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DRAWING DECISION TREE</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FB2A4295-8E2E-6845-AEAC-335F4AC83AF3}"/>
              </a:ext>
            </a:extLst>
          </p:cNvPr>
          <p:cNvSpPr txBox="1">
            <a:spLocks noChangeArrowheads="1"/>
          </p:cNvSpPr>
          <p:nvPr/>
        </p:nvSpPr>
        <p:spPr>
          <a:xfrm>
            <a:off x="277402" y="1387011"/>
            <a:ext cx="11650895" cy="2311686"/>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Identify all conditions and actions and their order and timing (if they are critical)</a:t>
            </a:r>
          </a:p>
          <a:p>
            <a:r>
              <a:rPr lang="en-US"/>
              <a:t>Begin building the tree from left to right, making sure you list all possible alternatives before moving to the right</a:t>
            </a:r>
            <a:endParaRPr lang="en-US" dirty="0"/>
          </a:p>
        </p:txBody>
      </p:sp>
      <p:pic>
        <p:nvPicPr>
          <p:cNvPr id="4" name="Picture 3" descr="A close up of a map&#10;&#10;Description automatically generated">
            <a:extLst>
              <a:ext uri="{FF2B5EF4-FFF2-40B4-BE49-F238E27FC236}">
                <a16:creationId xmlns:a16="http://schemas.microsoft.com/office/drawing/2014/main" id="{57B66359-681C-EA47-91F9-9E3AC85A14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5119" y="3090597"/>
            <a:ext cx="7181636" cy="3393988"/>
          </a:xfrm>
          <a:prstGeom prst="rect">
            <a:avLst/>
          </a:prstGeom>
        </p:spPr>
      </p:pic>
    </p:spTree>
    <p:extLst>
      <p:ext uri="{BB962C8B-B14F-4D97-AF65-F5344CB8AC3E}">
        <p14:creationId xmlns:p14="http://schemas.microsoft.com/office/powerpoint/2010/main" val="4023069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TREE EXAMPLE</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26042C78-2CC4-334E-B505-CE530C79E981}"/>
              </a:ext>
            </a:extLst>
          </p:cNvPr>
          <p:cNvSpPr>
            <a:spLocks noChangeArrowheads="1"/>
          </p:cNvSpPr>
          <p:nvPr/>
        </p:nvSpPr>
        <p:spPr bwMode="auto">
          <a:xfrm>
            <a:off x="427038" y="1835186"/>
            <a:ext cx="11370924" cy="4425914"/>
          </a:xfrm>
          <a:prstGeom prst="rect">
            <a:avLst/>
          </a:prstGeom>
          <a:solidFill>
            <a:srgbClr val="840F3E"/>
          </a:solidFill>
          <a:ln w="9525">
            <a:solidFill>
              <a:schemeClr val="tx1"/>
            </a:solidFill>
            <a:miter lim="800000"/>
            <a:headEnd/>
            <a:tailEnd/>
          </a:ln>
        </p:spPr>
        <p:txBody>
          <a:bodyPr/>
          <a:lstStyle/>
          <a:p>
            <a:pPr marL="342900" indent="-342900" algn="ctr">
              <a:spcBef>
                <a:spcPct val="20000"/>
              </a:spcBef>
            </a:pPr>
            <a:r>
              <a:rPr lang="en-US" sz="2200" b="1" dirty="0">
                <a:solidFill>
                  <a:schemeClr val="bg1"/>
                </a:solidFill>
                <a:latin typeface="Avenir Book" panose="02000503020000020003" pitchFamily="2" charset="0"/>
              </a:rPr>
              <a:t>A policy for Premium Airlines : Accumulating Miles For Awards, as explained by Glen Curtis (marketing manager)</a:t>
            </a:r>
          </a:p>
          <a:p>
            <a:pPr marL="342900" indent="-342900" algn="ctr">
              <a:spcBef>
                <a:spcPct val="20000"/>
              </a:spcBef>
            </a:pPr>
            <a:endParaRPr lang="en-US" sz="2200" b="1" dirty="0">
              <a:solidFill>
                <a:schemeClr val="bg1"/>
              </a:solidFill>
              <a:latin typeface="Avenir Book" panose="02000503020000020003" pitchFamily="2" charset="0"/>
            </a:endParaRPr>
          </a:p>
          <a:p>
            <a:pPr marL="342900" indent="-342900" algn="just">
              <a:spcBef>
                <a:spcPct val="20000"/>
              </a:spcBef>
            </a:pPr>
            <a:r>
              <a:rPr lang="ja-JP" altLang="en-US" sz="2200" dirty="0">
                <a:solidFill>
                  <a:schemeClr val="bg1"/>
                </a:solidFill>
                <a:latin typeface="Avenir Book" panose="02000503020000020003" pitchFamily="2" charset="0"/>
              </a:rPr>
              <a:t>“</a:t>
            </a:r>
            <a:r>
              <a:rPr lang="en-US" sz="2200" dirty="0">
                <a:solidFill>
                  <a:schemeClr val="bg1"/>
                </a:solidFill>
                <a:latin typeface="Avenir Book" panose="02000503020000020003" pitchFamily="2" charset="0"/>
              </a:rPr>
              <a:t>The traveler will be awarded the miles actually flown.  If the actual mileage for the leg was less than 500 miles, the traveler will get 500 miles credit. If the leg was exactly or more than 500 miles and the trip was made on Saturday, the actual mileage will be multiplied by 2.  If the trip was made on Tuesday, the multiplication factor is 1.5.  If this is the ninth leg traveled during the calendar month, the mileage is doubled no matter what day, and if it is the seventeenth leg traveled, the mileage is tripled.</a:t>
            </a:r>
            <a:r>
              <a:rPr lang="ja-JP" altLang="en-US" sz="2200" dirty="0">
                <a:solidFill>
                  <a:schemeClr val="bg1"/>
                </a:solidFill>
                <a:latin typeface="Avenir Book" panose="02000503020000020003" pitchFamily="2" charset="0"/>
              </a:rPr>
              <a:t>”</a:t>
            </a:r>
            <a:endParaRPr lang="en-US" sz="2200" dirty="0">
              <a:solidFill>
                <a:schemeClr val="bg1"/>
              </a:solidFill>
              <a:latin typeface="Avenir Book" panose="02000503020000020003" pitchFamily="2" charset="0"/>
            </a:endParaRPr>
          </a:p>
        </p:txBody>
      </p:sp>
    </p:spTree>
    <p:extLst>
      <p:ext uri="{BB962C8B-B14F-4D97-AF65-F5344CB8AC3E}">
        <p14:creationId xmlns:p14="http://schemas.microsoft.com/office/powerpoint/2010/main" val="40002158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map&#10;&#10;Description automatically generated">
            <a:extLst>
              <a:ext uri="{FF2B5EF4-FFF2-40B4-BE49-F238E27FC236}">
                <a16:creationId xmlns:a16="http://schemas.microsoft.com/office/drawing/2014/main" id="{AA1D177B-2B94-0042-9EC4-74B4694E84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3317" y="1759041"/>
            <a:ext cx="8722760" cy="4760774"/>
          </a:xfrm>
          <a:prstGeom prst="rect">
            <a:avLst/>
          </a:prstGeom>
        </p:spPr>
      </p:pic>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TREE EXAMPLE</a:t>
            </a:r>
          </a:p>
          <a:p>
            <a:pPr>
              <a:lnSpc>
                <a:spcPct val="90000"/>
              </a:lnSpc>
            </a:pPr>
            <a:r>
              <a:rPr lang="en-US" altLang="en-US" sz="5400" b="1" dirty="0">
                <a:solidFill>
                  <a:srgbClr val="85103F"/>
                </a:solidFill>
                <a:latin typeface="Calibri Light" panose="020F0302020204030204" pitchFamily="34" charset="0"/>
              </a:rPr>
              <a:t>Solution 1</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4447111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map&#10;&#10;Description automatically generated">
            <a:extLst>
              <a:ext uri="{FF2B5EF4-FFF2-40B4-BE49-F238E27FC236}">
                <a16:creationId xmlns:a16="http://schemas.microsoft.com/office/drawing/2014/main" id="{BCA147A1-2BCE-894A-AA42-01D127C5E3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1676" y="1774365"/>
            <a:ext cx="8568647" cy="4772621"/>
          </a:xfrm>
          <a:prstGeom prst="rect">
            <a:avLst/>
          </a:prstGeom>
        </p:spPr>
      </p:pic>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DECISION TREE EXAMPLE</a:t>
            </a:r>
          </a:p>
          <a:p>
            <a:pPr>
              <a:lnSpc>
                <a:spcPct val="90000"/>
              </a:lnSpc>
            </a:pPr>
            <a:r>
              <a:rPr lang="en-US" altLang="en-US" sz="5400" b="1" dirty="0">
                <a:solidFill>
                  <a:srgbClr val="85103F"/>
                </a:solidFill>
                <a:latin typeface="Calibri Light" panose="020F0302020204030204" pitchFamily="34" charset="0"/>
              </a:rPr>
              <a:t>Solution 2</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5133283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F9C3898B-21C2-9F4F-B316-3CDEBC7FC352}"/>
              </a:ext>
            </a:extLst>
          </p:cNvPr>
          <p:cNvSpPr>
            <a:spLocks noGrp="1"/>
          </p:cNvSpPr>
          <p:nvPr>
            <p:ph type="sldNum" sz="quarter" idx="12"/>
          </p:nvPr>
        </p:nvSpPr>
        <p:spPr/>
        <p:txBody>
          <a:bodyPr/>
          <a:lstStyle/>
          <a:p>
            <a:pPr>
              <a:defRPr/>
            </a:pPr>
            <a:fld id="{D1A9425D-9892-784D-B3BB-790F829805F1}" type="slidenum">
              <a:rPr lang="en-US" smtClean="0"/>
              <a:pPr>
                <a:defRPr/>
              </a:pPr>
              <a:t>39</a:t>
            </a:fld>
            <a:endParaRPr lang="en-US"/>
          </a:p>
        </p:txBody>
      </p:sp>
      <p:sp>
        <p:nvSpPr>
          <p:cNvPr id="11" name="Rectangle 10">
            <a:extLst>
              <a:ext uri="{FF2B5EF4-FFF2-40B4-BE49-F238E27FC236}">
                <a16:creationId xmlns:a16="http://schemas.microsoft.com/office/drawing/2014/main" id="{EBA8851E-4BAB-2041-B88B-08F78FFA0556}"/>
              </a:ext>
            </a:extLst>
          </p:cNvPr>
          <p:cNvSpPr/>
          <p:nvPr/>
        </p:nvSpPr>
        <p:spPr>
          <a:xfrm>
            <a:off x="342472" y="3262476"/>
            <a:ext cx="11691991" cy="1972639"/>
          </a:xfrm>
          <a:prstGeom prst="rect">
            <a:avLst/>
          </a:prstGeom>
          <a:solidFill>
            <a:srgbClr val="840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21AFD0D-B431-B84A-BA7E-1F4A4969AEF3}"/>
              </a:ext>
            </a:extLst>
          </p:cNvPr>
          <p:cNvSpPr txBox="1"/>
          <p:nvPr/>
        </p:nvSpPr>
        <p:spPr>
          <a:xfrm>
            <a:off x="342472" y="1945463"/>
            <a:ext cx="11507055" cy="3170099"/>
          </a:xfrm>
          <a:prstGeom prst="rect">
            <a:avLst/>
          </a:prstGeom>
          <a:noFill/>
        </p:spPr>
        <p:txBody>
          <a:bodyPr wrap="square" rtlCol="0">
            <a:spAutoFit/>
          </a:bodyPr>
          <a:lstStyle/>
          <a:p>
            <a:pPr algn="just"/>
            <a:r>
              <a:rPr lang="en-US" sz="2200" dirty="0">
                <a:latin typeface="Avenir Book" panose="02000503020000020003" pitchFamily="2" charset="0"/>
              </a:rPr>
              <a:t>Based on your answer for the </a:t>
            </a:r>
            <a:r>
              <a:rPr lang="en-US" sz="2200" i="1" dirty="0">
                <a:latin typeface="Avenir Book" panose="02000503020000020003" pitchFamily="2" charset="0"/>
              </a:rPr>
              <a:t>Decision Table in Checkpoint 2</a:t>
            </a:r>
            <a:r>
              <a:rPr lang="en-US" sz="2200" dirty="0">
                <a:latin typeface="Avenir Book" panose="02000503020000020003" pitchFamily="2" charset="0"/>
              </a:rPr>
              <a:t>, draw a decision tree for Encik Amir’s office reimbursement policies.</a:t>
            </a:r>
          </a:p>
          <a:p>
            <a:pPr algn="just"/>
            <a:endParaRPr lang="en-US" sz="2200" dirty="0">
              <a:latin typeface="Avenir Book" panose="02000503020000020003" pitchFamily="2" charset="0"/>
            </a:endParaRPr>
          </a:p>
          <a:p>
            <a:pPr algn="just"/>
            <a:r>
              <a:rPr lang="en-US" i="1" dirty="0">
                <a:latin typeface="Avenir Book" panose="02000503020000020003" pitchFamily="2" charset="0"/>
              </a:rPr>
              <a:t>(from Checkpoint 1)</a:t>
            </a:r>
          </a:p>
          <a:p>
            <a:pPr algn="just"/>
            <a:endParaRPr lang="en-US" sz="800" dirty="0">
              <a:latin typeface="Avenir Book" panose="02000503020000020003" pitchFamily="2" charset="0"/>
            </a:endParaRPr>
          </a:p>
          <a:p>
            <a:pPr algn="just"/>
            <a:r>
              <a:rPr lang="en-US" i="1" dirty="0">
                <a:solidFill>
                  <a:schemeClr val="bg1"/>
                </a:solidFill>
                <a:latin typeface="Avenir Book" panose="02000503020000020003" pitchFamily="2" charset="0"/>
              </a:rPr>
              <a:t>“Our reimbursement policies depend on the situation. You see, first we determine if it is a local trip. If it is, we only pay mileage of 18.5 cents a mile. If the trip was a one-day trip, we pay mileage and then check the times of departure and return. To be reimbursed for breakfast, you must leave by 7:00 A.M., lunch by 11:00 A.M., and have dinner by 5:00 P.M. To receive reimbursement for breakfast, you must return later than 10:00 A.M., lunch later than 2:00 P.M., and have dinner by 7:00 P.M. On a trip lasting more than one day, we allow hotel, taxi, and airfare, as well as meal allowances. The same times apply for meal expenses.”</a:t>
            </a:r>
          </a:p>
        </p:txBody>
      </p:sp>
      <p:pic>
        <p:nvPicPr>
          <p:cNvPr id="8" name="Picture 7" descr="Image result for discussion png">
            <a:extLst>
              <a:ext uri="{FF2B5EF4-FFF2-40B4-BE49-F238E27FC236}">
                <a16:creationId xmlns:a16="http://schemas.microsoft.com/office/drawing/2014/main" id="{B3C868EA-0A4C-B04C-9D26-FA819C868A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359" y="174416"/>
            <a:ext cx="3243066" cy="1974560"/>
          </a:xfrm>
          <a:prstGeom prst="rect">
            <a:avLst/>
          </a:prstGeom>
          <a:noFill/>
          <a:extLst>
            <a:ext uri="{909E8E84-426E-40DD-AFC4-6F175D3DCCD1}">
              <a14:hiddenFill xmlns:a14="http://schemas.microsoft.com/office/drawing/2010/main">
                <a:solidFill>
                  <a:srgbClr val="FFFFFF"/>
                </a:solidFill>
              </a14:hiddenFill>
            </a:ext>
          </a:extLst>
        </p:spPr>
      </p:pic>
      <p:sp>
        <p:nvSpPr>
          <p:cNvPr id="9" name="Title 1">
            <a:extLst>
              <a:ext uri="{FF2B5EF4-FFF2-40B4-BE49-F238E27FC236}">
                <a16:creationId xmlns:a16="http://schemas.microsoft.com/office/drawing/2014/main" id="{2F16F190-E920-4044-A99D-F2FD705DC8A7}"/>
              </a:ext>
            </a:extLst>
          </p:cNvPr>
          <p:cNvSpPr txBox="1">
            <a:spLocks noChangeArrowheads="1"/>
          </p:cNvSpPr>
          <p:nvPr/>
        </p:nvSpPr>
        <p:spPr bwMode="auto">
          <a:xfrm>
            <a:off x="2930701" y="410966"/>
            <a:ext cx="8607177" cy="1224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LET’S TRY</a:t>
            </a:r>
          </a:p>
          <a:p>
            <a:pPr>
              <a:lnSpc>
                <a:spcPct val="90000"/>
              </a:lnSpc>
            </a:pPr>
            <a:r>
              <a:rPr lang="en-US" altLang="en-US" sz="3600" b="1" dirty="0">
                <a:solidFill>
                  <a:srgbClr val="85103F"/>
                </a:solidFill>
                <a:latin typeface="Calibri Light" panose="020F0302020204030204" pitchFamily="34" charset="0"/>
              </a:rPr>
              <a:t>Checkpoint 3: Decision Tree</a:t>
            </a:r>
            <a:endParaRPr lang="en-US" altLang="en-US" sz="36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29508098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WHEN SHOULD BE USED?</a:t>
            </a:r>
            <a:endParaRPr lang="en-US" altLang="en-US" sz="5400" dirty="0">
              <a:solidFill>
                <a:srgbClr val="85103F"/>
              </a:solidFill>
              <a:latin typeface="Calibri Light" panose="020F0302020204030204" pitchFamily="34" charset="0"/>
            </a:endParaRPr>
          </a:p>
        </p:txBody>
      </p:sp>
      <p:sp>
        <p:nvSpPr>
          <p:cNvPr id="7" name="Freeform 6">
            <a:extLst>
              <a:ext uri="{FF2B5EF4-FFF2-40B4-BE49-F238E27FC236}">
                <a16:creationId xmlns:a16="http://schemas.microsoft.com/office/drawing/2014/main" id="{EBD35EAF-38FE-1942-8232-899B4005D427}"/>
              </a:ext>
            </a:extLst>
          </p:cNvPr>
          <p:cNvSpPr/>
          <p:nvPr/>
        </p:nvSpPr>
        <p:spPr>
          <a:xfrm>
            <a:off x="427038" y="1643866"/>
            <a:ext cx="11291299" cy="2034764"/>
          </a:xfrm>
          <a:custGeom>
            <a:avLst/>
            <a:gdLst>
              <a:gd name="connsiteX0" fmla="*/ 0 w 11291299"/>
              <a:gd name="connsiteY0" fmla="*/ 203476 h 2034764"/>
              <a:gd name="connsiteX1" fmla="*/ 203476 w 11291299"/>
              <a:gd name="connsiteY1" fmla="*/ 0 h 2034764"/>
              <a:gd name="connsiteX2" fmla="*/ 11087823 w 11291299"/>
              <a:gd name="connsiteY2" fmla="*/ 0 h 2034764"/>
              <a:gd name="connsiteX3" fmla="*/ 11291299 w 11291299"/>
              <a:gd name="connsiteY3" fmla="*/ 203476 h 2034764"/>
              <a:gd name="connsiteX4" fmla="*/ 11291299 w 11291299"/>
              <a:gd name="connsiteY4" fmla="*/ 1831288 h 2034764"/>
              <a:gd name="connsiteX5" fmla="*/ 11087823 w 11291299"/>
              <a:gd name="connsiteY5" fmla="*/ 2034764 h 2034764"/>
              <a:gd name="connsiteX6" fmla="*/ 203476 w 11291299"/>
              <a:gd name="connsiteY6" fmla="*/ 2034764 h 2034764"/>
              <a:gd name="connsiteX7" fmla="*/ 0 w 11291299"/>
              <a:gd name="connsiteY7" fmla="*/ 1831288 h 2034764"/>
              <a:gd name="connsiteX8" fmla="*/ 0 w 11291299"/>
              <a:gd name="connsiteY8" fmla="*/ 203476 h 203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91299" h="2034764">
                <a:moveTo>
                  <a:pt x="0" y="203476"/>
                </a:moveTo>
                <a:cubicBezTo>
                  <a:pt x="0" y="91099"/>
                  <a:pt x="91099" y="0"/>
                  <a:pt x="203476" y="0"/>
                </a:cubicBezTo>
                <a:lnTo>
                  <a:pt x="11087823" y="0"/>
                </a:lnTo>
                <a:cubicBezTo>
                  <a:pt x="11200200" y="0"/>
                  <a:pt x="11291299" y="91099"/>
                  <a:pt x="11291299" y="203476"/>
                </a:cubicBezTo>
                <a:lnTo>
                  <a:pt x="11291299" y="1831288"/>
                </a:lnTo>
                <a:cubicBezTo>
                  <a:pt x="11291299" y="1943665"/>
                  <a:pt x="11200200" y="2034764"/>
                  <a:pt x="11087823" y="2034764"/>
                </a:cubicBezTo>
                <a:lnTo>
                  <a:pt x="203476" y="2034764"/>
                </a:lnTo>
                <a:cubicBezTo>
                  <a:pt x="91099" y="2034764"/>
                  <a:pt x="0" y="1943665"/>
                  <a:pt x="0" y="1831288"/>
                </a:cubicBezTo>
                <a:lnTo>
                  <a:pt x="0" y="203476"/>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556986" tIns="95250" rIns="95251" bIns="95250" numCol="1" spcCol="1270" anchor="t" anchorCtr="0">
            <a:noAutofit/>
          </a:bodyPr>
          <a:lstStyle/>
          <a:p>
            <a:pPr marL="0" lvl="0" indent="0" algn="l" defTabSz="1111250">
              <a:lnSpc>
                <a:spcPct val="90000"/>
              </a:lnSpc>
              <a:spcBef>
                <a:spcPct val="0"/>
              </a:spcBef>
              <a:spcAft>
                <a:spcPct val="35000"/>
              </a:spcAft>
              <a:buNone/>
            </a:pPr>
            <a:r>
              <a:rPr lang="en-US" sz="2500" b="1" kern="1200" dirty="0"/>
              <a:t>STRUCTURED ENGLISH</a:t>
            </a:r>
            <a:endParaRPr lang="en-MY" sz="2500" b="1" kern="1200" dirty="0"/>
          </a:p>
          <a:p>
            <a:pPr marL="228600" lvl="1" indent="-228600" algn="l" defTabSz="889000">
              <a:lnSpc>
                <a:spcPct val="90000"/>
              </a:lnSpc>
              <a:spcBef>
                <a:spcPct val="0"/>
              </a:spcBef>
              <a:spcAft>
                <a:spcPct val="15000"/>
              </a:spcAft>
              <a:buChar char="•"/>
            </a:pPr>
            <a:r>
              <a:rPr lang="en-US" sz="2000" kern="1200" dirty="0"/>
              <a:t>It is well suited to modeling processes with many sequential steps and relatively simple control logic. It is not suitable for describing complex decision logic or few or no sequential processing steps. This technique is </a:t>
            </a:r>
            <a:r>
              <a:rPr lang="en-US" sz="2000" b="1" kern="1200" dirty="0"/>
              <a:t>complimentary with DFD </a:t>
            </a:r>
            <a:r>
              <a:rPr lang="en-US" sz="2000" kern="1200" dirty="0"/>
              <a:t>to designing a mini-spec for the certain process element of DFD.</a:t>
            </a:r>
            <a:endParaRPr lang="en-MY" sz="2000" kern="1200" dirty="0"/>
          </a:p>
        </p:txBody>
      </p:sp>
      <p:sp>
        <p:nvSpPr>
          <p:cNvPr id="9" name="Freeform 8">
            <a:extLst>
              <a:ext uri="{FF2B5EF4-FFF2-40B4-BE49-F238E27FC236}">
                <a16:creationId xmlns:a16="http://schemas.microsoft.com/office/drawing/2014/main" id="{AD969683-C2BB-A043-A557-CF7DFFF9CB14}"/>
              </a:ext>
            </a:extLst>
          </p:cNvPr>
          <p:cNvSpPr/>
          <p:nvPr/>
        </p:nvSpPr>
        <p:spPr>
          <a:xfrm>
            <a:off x="427038" y="3882106"/>
            <a:ext cx="11291299" cy="2034764"/>
          </a:xfrm>
          <a:custGeom>
            <a:avLst/>
            <a:gdLst>
              <a:gd name="connsiteX0" fmla="*/ 0 w 11291299"/>
              <a:gd name="connsiteY0" fmla="*/ 203476 h 2034764"/>
              <a:gd name="connsiteX1" fmla="*/ 203476 w 11291299"/>
              <a:gd name="connsiteY1" fmla="*/ 0 h 2034764"/>
              <a:gd name="connsiteX2" fmla="*/ 11087823 w 11291299"/>
              <a:gd name="connsiteY2" fmla="*/ 0 h 2034764"/>
              <a:gd name="connsiteX3" fmla="*/ 11291299 w 11291299"/>
              <a:gd name="connsiteY3" fmla="*/ 203476 h 2034764"/>
              <a:gd name="connsiteX4" fmla="*/ 11291299 w 11291299"/>
              <a:gd name="connsiteY4" fmla="*/ 1831288 h 2034764"/>
              <a:gd name="connsiteX5" fmla="*/ 11087823 w 11291299"/>
              <a:gd name="connsiteY5" fmla="*/ 2034764 h 2034764"/>
              <a:gd name="connsiteX6" fmla="*/ 203476 w 11291299"/>
              <a:gd name="connsiteY6" fmla="*/ 2034764 h 2034764"/>
              <a:gd name="connsiteX7" fmla="*/ 0 w 11291299"/>
              <a:gd name="connsiteY7" fmla="*/ 1831288 h 2034764"/>
              <a:gd name="connsiteX8" fmla="*/ 0 w 11291299"/>
              <a:gd name="connsiteY8" fmla="*/ 203476 h 203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291299" h="2034764">
                <a:moveTo>
                  <a:pt x="0" y="203476"/>
                </a:moveTo>
                <a:cubicBezTo>
                  <a:pt x="0" y="91099"/>
                  <a:pt x="91099" y="0"/>
                  <a:pt x="203476" y="0"/>
                </a:cubicBezTo>
                <a:lnTo>
                  <a:pt x="11087823" y="0"/>
                </a:lnTo>
                <a:cubicBezTo>
                  <a:pt x="11200200" y="0"/>
                  <a:pt x="11291299" y="91099"/>
                  <a:pt x="11291299" y="203476"/>
                </a:cubicBezTo>
                <a:lnTo>
                  <a:pt x="11291299" y="1831288"/>
                </a:lnTo>
                <a:cubicBezTo>
                  <a:pt x="11291299" y="1943665"/>
                  <a:pt x="11200200" y="2034764"/>
                  <a:pt x="11087823" y="2034764"/>
                </a:cubicBezTo>
                <a:lnTo>
                  <a:pt x="203476" y="2034764"/>
                </a:lnTo>
                <a:cubicBezTo>
                  <a:pt x="91099" y="2034764"/>
                  <a:pt x="0" y="1943665"/>
                  <a:pt x="0" y="1831288"/>
                </a:cubicBezTo>
                <a:lnTo>
                  <a:pt x="0" y="203476"/>
                </a:lnTo>
                <a:close/>
              </a:path>
            </a:pathLst>
          </a:custGeom>
        </p:spPr>
        <p:style>
          <a:lnRef idx="2">
            <a:schemeClr val="lt1">
              <a:hueOff val="0"/>
              <a:satOff val="0"/>
              <a:lumOff val="0"/>
              <a:alphaOff val="0"/>
            </a:schemeClr>
          </a:lnRef>
          <a:fillRef idx="1">
            <a:schemeClr val="accent2">
              <a:hueOff val="-1455363"/>
              <a:satOff val="-83928"/>
              <a:lumOff val="8628"/>
              <a:alphaOff val="0"/>
            </a:schemeClr>
          </a:fillRef>
          <a:effectRef idx="0">
            <a:schemeClr val="accent2">
              <a:hueOff val="-1455363"/>
              <a:satOff val="-83928"/>
              <a:lumOff val="8628"/>
              <a:alphaOff val="0"/>
            </a:schemeClr>
          </a:effectRef>
          <a:fontRef idx="minor">
            <a:schemeClr val="lt1"/>
          </a:fontRef>
        </p:style>
        <p:txBody>
          <a:bodyPr spcFirstLastPara="0" vert="horz" wrap="square" lIns="2556986" tIns="95250" rIns="95251" bIns="95250" numCol="1" spcCol="1270" anchor="t" anchorCtr="0">
            <a:noAutofit/>
          </a:bodyPr>
          <a:lstStyle/>
          <a:p>
            <a:pPr marL="0" lvl="0" indent="0" algn="l" defTabSz="1111250">
              <a:lnSpc>
                <a:spcPct val="90000"/>
              </a:lnSpc>
              <a:spcBef>
                <a:spcPct val="0"/>
              </a:spcBef>
              <a:spcAft>
                <a:spcPct val="35000"/>
              </a:spcAft>
              <a:buNone/>
            </a:pPr>
            <a:r>
              <a:rPr lang="en-US" sz="2500" b="1" kern="1200" dirty="0"/>
              <a:t>DECISION TREE &amp; TABLE</a:t>
            </a:r>
            <a:endParaRPr lang="en-MY" sz="2500" b="1" kern="1200" dirty="0"/>
          </a:p>
          <a:p>
            <a:pPr marL="228600" lvl="1" indent="-228600" algn="l" defTabSz="889000">
              <a:lnSpc>
                <a:spcPct val="90000"/>
              </a:lnSpc>
              <a:spcBef>
                <a:spcPct val="0"/>
              </a:spcBef>
              <a:spcAft>
                <a:spcPct val="15000"/>
              </a:spcAft>
              <a:buChar char="•"/>
            </a:pPr>
            <a:r>
              <a:rPr lang="en-US" sz="2000" kern="1200" dirty="0"/>
              <a:t>It is used to summarizing complex decision logic more concisely than structured English. It is easier to describing the </a:t>
            </a:r>
            <a:r>
              <a:rPr lang="ja-JP" sz="2000" kern="1200"/>
              <a:t>“</a:t>
            </a:r>
            <a:r>
              <a:rPr lang="en-US" sz="2000" kern="1200" dirty="0"/>
              <a:t>branch</a:t>
            </a:r>
            <a:r>
              <a:rPr lang="ja-JP" sz="2000" kern="1200"/>
              <a:t>”</a:t>
            </a:r>
            <a:r>
              <a:rPr lang="en-US" sz="2000" kern="1200" dirty="0"/>
              <a:t> logic by using decision tree rather than decision table. These techniques are </a:t>
            </a:r>
            <a:r>
              <a:rPr lang="en-US" sz="2000" b="1" kern="1200" dirty="0"/>
              <a:t>complimentary with DFD</a:t>
            </a:r>
            <a:r>
              <a:rPr lang="en-US" sz="2000" kern="1200" dirty="0"/>
              <a:t> when importantly used to designing a mini-spec for the certain process element of DFD.</a:t>
            </a:r>
            <a:endParaRPr lang="en-MY" sz="2000" kern="1200" dirty="0"/>
          </a:p>
        </p:txBody>
      </p:sp>
      <p:pic>
        <p:nvPicPr>
          <p:cNvPr id="15" name="Picture 14" descr="A close up of a map&#10;&#10;Description automatically generated">
            <a:extLst>
              <a:ext uri="{FF2B5EF4-FFF2-40B4-BE49-F238E27FC236}">
                <a16:creationId xmlns:a16="http://schemas.microsoft.com/office/drawing/2014/main" id="{4DC6ED04-F553-D948-B6B9-21C14765FA71}"/>
              </a:ext>
            </a:extLst>
          </p:cNvPr>
          <p:cNvPicPr>
            <a:picLocks noChangeAspect="1"/>
          </p:cNvPicPr>
          <p:nvPr/>
        </p:nvPicPr>
        <p:blipFill rotWithShape="1">
          <a:blip r:embed="rId2">
            <a:extLst>
              <a:ext uri="{28A0092B-C50C-407E-A947-70E740481C1C}">
                <a14:useLocalDpi xmlns:a14="http://schemas.microsoft.com/office/drawing/2010/main" val="0"/>
              </a:ext>
            </a:extLst>
          </a:blip>
          <a:srcRect t="1313" r="36081"/>
          <a:stretch/>
        </p:blipFill>
        <p:spPr>
          <a:xfrm>
            <a:off x="550056" y="4037743"/>
            <a:ext cx="2338717" cy="1706472"/>
          </a:xfrm>
          <a:prstGeom prst="rect">
            <a:avLst/>
          </a:prstGeom>
        </p:spPr>
      </p:pic>
      <p:pic>
        <p:nvPicPr>
          <p:cNvPr id="16" name="Picture 15" descr="A screenshot of a cell phone&#10;&#10;Description automatically generated">
            <a:extLst>
              <a:ext uri="{FF2B5EF4-FFF2-40B4-BE49-F238E27FC236}">
                <a16:creationId xmlns:a16="http://schemas.microsoft.com/office/drawing/2014/main" id="{4667CD7F-A7B8-8943-8BFC-2B7A17F6B817}"/>
              </a:ext>
            </a:extLst>
          </p:cNvPr>
          <p:cNvPicPr>
            <a:picLocks noChangeAspect="1"/>
          </p:cNvPicPr>
          <p:nvPr/>
        </p:nvPicPr>
        <p:blipFill rotWithShape="1">
          <a:blip r:embed="rId3">
            <a:extLst>
              <a:ext uri="{28A0092B-C50C-407E-A947-70E740481C1C}">
                <a14:useLocalDpi xmlns:a14="http://schemas.microsoft.com/office/drawing/2010/main" val="0"/>
              </a:ext>
            </a:extLst>
          </a:blip>
          <a:srcRect l="3073" t="2666" r="39493" b="40367"/>
          <a:stretch/>
        </p:blipFill>
        <p:spPr>
          <a:xfrm>
            <a:off x="644897" y="1834178"/>
            <a:ext cx="2243876" cy="1654140"/>
          </a:xfrm>
          <a:prstGeom prst="rect">
            <a:avLst/>
          </a:prstGeom>
        </p:spPr>
      </p:pic>
    </p:spTree>
    <p:extLst>
      <p:ext uri="{BB962C8B-B14F-4D97-AF65-F5344CB8AC3E}">
        <p14:creationId xmlns:p14="http://schemas.microsoft.com/office/powerpoint/2010/main" val="18094841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1764962"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SUMMARY – DECISION ANALYSIS</a:t>
            </a:r>
            <a:endParaRPr lang="en-US" altLang="en-US" sz="5400" dirty="0">
              <a:solidFill>
                <a:srgbClr val="85103F"/>
              </a:solidFill>
              <a:latin typeface="Calibri Light" panose="020F0302020204030204" pitchFamily="34" charset="0"/>
            </a:endParaRPr>
          </a:p>
        </p:txBody>
      </p:sp>
      <p:sp>
        <p:nvSpPr>
          <p:cNvPr id="2" name="Rectangle 1">
            <a:extLst>
              <a:ext uri="{FF2B5EF4-FFF2-40B4-BE49-F238E27FC236}">
                <a16:creationId xmlns:a16="http://schemas.microsoft.com/office/drawing/2014/main" id="{89A4723B-AE46-1A4E-8DC2-B6238E38E53E}"/>
              </a:ext>
            </a:extLst>
          </p:cNvPr>
          <p:cNvSpPr/>
          <p:nvPr/>
        </p:nvSpPr>
        <p:spPr>
          <a:xfrm>
            <a:off x="365919" y="1611742"/>
            <a:ext cx="9296391" cy="461665"/>
          </a:xfrm>
          <a:prstGeom prst="rect">
            <a:avLst/>
          </a:prstGeom>
        </p:spPr>
        <p:txBody>
          <a:bodyPr wrap="none">
            <a:spAutoFit/>
          </a:bodyPr>
          <a:lstStyle/>
          <a:p>
            <a:pPr marL="342900" indent="-342900">
              <a:buFont typeface="Arial" panose="020B0604020202020204" pitchFamily="34" charset="0"/>
              <a:buChar char="•"/>
            </a:pPr>
            <a:r>
              <a:rPr lang="en-US" sz="2400" dirty="0"/>
              <a:t>Selecting a structured decision analysis technique – What to consider?</a:t>
            </a:r>
          </a:p>
        </p:txBody>
      </p:sp>
      <p:graphicFrame>
        <p:nvGraphicFramePr>
          <p:cNvPr id="4" name="Table 3">
            <a:extLst>
              <a:ext uri="{FF2B5EF4-FFF2-40B4-BE49-F238E27FC236}">
                <a16:creationId xmlns:a16="http://schemas.microsoft.com/office/drawing/2014/main" id="{5114EA2C-0B7B-BC4B-8ED3-1483AEE33CFA}"/>
              </a:ext>
            </a:extLst>
          </p:cNvPr>
          <p:cNvGraphicFramePr>
            <a:graphicFrameLocks noGrp="1"/>
          </p:cNvGraphicFramePr>
          <p:nvPr>
            <p:extLst>
              <p:ext uri="{D42A27DB-BD31-4B8C-83A1-F6EECF244321}">
                <p14:modId xmlns:p14="http://schemas.microsoft.com/office/powerpoint/2010/main" val="2920536416"/>
              </p:ext>
            </p:extLst>
          </p:nvPr>
        </p:nvGraphicFramePr>
        <p:xfrm>
          <a:off x="365919" y="2073407"/>
          <a:ext cx="11460162" cy="4328160"/>
        </p:xfrm>
        <a:graphic>
          <a:graphicData uri="http://schemas.openxmlformats.org/drawingml/2006/table">
            <a:tbl>
              <a:tblPr firstRow="1" bandRow="1">
                <a:tableStyleId>{21E4AEA4-8DFA-4A89-87EB-49C32662AFE0}</a:tableStyleId>
              </a:tblPr>
              <a:tblGrid>
                <a:gridCol w="1925218">
                  <a:extLst>
                    <a:ext uri="{9D8B030D-6E8A-4147-A177-3AD203B41FA5}">
                      <a16:colId xmlns:a16="http://schemas.microsoft.com/office/drawing/2014/main" val="4079745258"/>
                    </a:ext>
                  </a:extLst>
                </a:gridCol>
                <a:gridCol w="5332288">
                  <a:extLst>
                    <a:ext uri="{9D8B030D-6E8A-4147-A177-3AD203B41FA5}">
                      <a16:colId xmlns:a16="http://schemas.microsoft.com/office/drawing/2014/main" val="2962393259"/>
                    </a:ext>
                  </a:extLst>
                </a:gridCol>
                <a:gridCol w="4202656">
                  <a:extLst>
                    <a:ext uri="{9D8B030D-6E8A-4147-A177-3AD203B41FA5}">
                      <a16:colId xmlns:a16="http://schemas.microsoft.com/office/drawing/2014/main" val="260288548"/>
                    </a:ext>
                  </a:extLst>
                </a:gridCol>
              </a:tblGrid>
              <a:tr h="370840">
                <a:tc>
                  <a:txBody>
                    <a:bodyPr/>
                    <a:lstStyle/>
                    <a:p>
                      <a:endParaRPr lang="en-US" sz="2000" dirty="0">
                        <a:solidFill>
                          <a:schemeClr val="tx1"/>
                        </a:solidFill>
                      </a:endParaRPr>
                    </a:p>
                  </a:txBody>
                  <a:tcPr/>
                </a:tc>
                <a:tc>
                  <a:txBody>
                    <a:bodyPr/>
                    <a:lstStyle/>
                    <a:p>
                      <a:pPr algn="ctr"/>
                      <a:r>
                        <a:rPr lang="en-US" sz="2000" dirty="0"/>
                        <a:t>WHEN TO USE?</a:t>
                      </a:r>
                      <a:endParaRPr lang="en-US" sz="2000" dirty="0">
                        <a:solidFill>
                          <a:schemeClr val="bg1"/>
                        </a:solidFill>
                      </a:endParaRPr>
                    </a:p>
                  </a:txBody>
                  <a:tcPr/>
                </a:tc>
                <a:tc>
                  <a:txBody>
                    <a:bodyPr/>
                    <a:lstStyle/>
                    <a:p>
                      <a:pPr algn="ctr"/>
                      <a:r>
                        <a:rPr lang="en-US" sz="2000" dirty="0"/>
                        <a:t>ADVANTAGES</a:t>
                      </a:r>
                      <a:endParaRPr lang="en-US" sz="2000" dirty="0">
                        <a:solidFill>
                          <a:schemeClr val="bg1"/>
                        </a:solidFill>
                      </a:endParaRPr>
                    </a:p>
                  </a:txBody>
                  <a:tcPr/>
                </a:tc>
                <a:extLst>
                  <a:ext uri="{0D108BD9-81ED-4DB2-BD59-A6C34878D82A}">
                    <a16:rowId xmlns:a16="http://schemas.microsoft.com/office/drawing/2014/main" val="1750031737"/>
                  </a:ext>
                </a:extLst>
              </a:tr>
              <a:tr h="370840">
                <a:tc>
                  <a:txBody>
                    <a:bodyPr/>
                    <a:lstStyle/>
                    <a:p>
                      <a:r>
                        <a:rPr lang="en-US" sz="2000" dirty="0"/>
                        <a:t>STRUCTURED ENGLISH </a:t>
                      </a:r>
                      <a:endParaRPr lang="en-US" sz="2000" dirty="0">
                        <a:solidFill>
                          <a:schemeClr val="tx1"/>
                        </a:solidFill>
                      </a:endParaRPr>
                    </a:p>
                  </a:txBody>
                  <a:tcPr/>
                </a:tc>
                <a:tc>
                  <a:txBody>
                    <a:bodyPr/>
                    <a:lstStyle/>
                    <a:p>
                      <a:r>
                        <a:rPr lang="en-US" sz="2000" dirty="0"/>
                        <a:t>When there are many repetitious actions or when communication to end users is important</a:t>
                      </a:r>
                      <a:endParaRPr lang="en-US" sz="2000" dirty="0">
                        <a:solidFill>
                          <a:schemeClr val="tx1"/>
                        </a:solidFill>
                      </a:endParaRPr>
                    </a:p>
                  </a:txBody>
                  <a:tcPr/>
                </a:tc>
                <a:tc>
                  <a:txBody>
                    <a:bodyPr/>
                    <a:lstStyle/>
                    <a:p>
                      <a:r>
                        <a:rPr lang="en-US" sz="2000" dirty="0"/>
                        <a:t>Useful when many actions are repeated and when communicating with others is important</a:t>
                      </a:r>
                      <a:endParaRPr lang="en-US" sz="2000" dirty="0">
                        <a:solidFill>
                          <a:schemeClr val="tx1"/>
                        </a:solidFill>
                      </a:endParaRPr>
                    </a:p>
                  </a:txBody>
                  <a:tcPr/>
                </a:tc>
                <a:extLst>
                  <a:ext uri="{0D108BD9-81ED-4DB2-BD59-A6C34878D82A}">
                    <a16:rowId xmlns:a16="http://schemas.microsoft.com/office/drawing/2014/main" val="1069386257"/>
                  </a:ext>
                </a:extLst>
              </a:tr>
              <a:tr h="370840">
                <a:tc>
                  <a:txBody>
                    <a:bodyPr/>
                    <a:lstStyle/>
                    <a:p>
                      <a:r>
                        <a:rPr lang="en-US" sz="2000" dirty="0"/>
                        <a:t>DECISION TABLES </a:t>
                      </a:r>
                      <a:endParaRPr lang="en-US" sz="2000" dirty="0">
                        <a:solidFill>
                          <a:schemeClr val="tx1"/>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When a complex combination of conditions, actions, and rules are found or you require a method that effectively avoids impossible situations, redundancies, and contradictions</a:t>
                      </a:r>
                    </a:p>
                    <a:p>
                      <a:endParaRPr lang="en-US" sz="2000" dirty="0">
                        <a:solidFill>
                          <a:schemeClr val="tx1"/>
                        </a:solidFill>
                      </a:endParaRPr>
                    </a:p>
                  </a:txBody>
                  <a:tcPr/>
                </a:tc>
                <a:tc>
                  <a:txBody>
                    <a:bodyPr/>
                    <a:lstStyle/>
                    <a:p>
                      <a:r>
                        <a:rPr lang="en-US" sz="2000" dirty="0"/>
                        <a:t>Provide complete analysis of complex situations while limiting the need for change attributable to impossible situations, redundancies, or contradictions</a:t>
                      </a:r>
                      <a:endParaRPr lang="en-US" sz="2000" dirty="0">
                        <a:solidFill>
                          <a:schemeClr val="tx1"/>
                        </a:solidFill>
                      </a:endParaRPr>
                    </a:p>
                  </a:txBody>
                  <a:tcPr/>
                </a:tc>
                <a:extLst>
                  <a:ext uri="{0D108BD9-81ED-4DB2-BD59-A6C34878D82A}">
                    <a16:rowId xmlns:a16="http://schemas.microsoft.com/office/drawing/2014/main" val="3370149624"/>
                  </a:ext>
                </a:extLst>
              </a:tr>
              <a:tr h="370840">
                <a:tc>
                  <a:txBody>
                    <a:bodyPr/>
                    <a:lstStyle/>
                    <a:p>
                      <a:r>
                        <a:rPr lang="en-US" sz="2000" dirty="0"/>
                        <a:t>DECISION TREES </a:t>
                      </a:r>
                      <a:endParaRPr lang="en-US" sz="2000" dirty="0">
                        <a:solidFill>
                          <a:schemeClr val="tx1"/>
                        </a:solidFill>
                      </a:endParaRPr>
                    </a:p>
                  </a:txBody>
                  <a:tcPr/>
                </a:tc>
                <a:tc>
                  <a:txBody>
                    <a:bodyPr/>
                    <a:lstStyle/>
                    <a:p>
                      <a:r>
                        <a:rPr lang="en-US" sz="2000" dirty="0"/>
                        <a:t>When the sequence of conditions and actions is critical or when not every condition is relevant to every action (the branches are different)</a:t>
                      </a:r>
                      <a:endParaRPr lang="en-US" sz="2000" dirty="0">
                        <a:solidFill>
                          <a:schemeClr val="tx1"/>
                        </a:solidFill>
                      </a:endParaRPr>
                    </a:p>
                  </a:txBody>
                  <a:tcPr/>
                </a:tc>
                <a:tc>
                  <a:txBody>
                    <a:bodyPr/>
                    <a:lstStyle/>
                    <a:p>
                      <a:r>
                        <a:rPr lang="en-US" sz="2000" dirty="0"/>
                        <a:t>Important when proper sequencing of conditions and actions is critical and when each condition is not relevant to each action</a:t>
                      </a:r>
                      <a:endParaRPr lang="en-US" sz="2000" dirty="0">
                        <a:solidFill>
                          <a:schemeClr val="tx1"/>
                        </a:solidFill>
                      </a:endParaRPr>
                    </a:p>
                  </a:txBody>
                  <a:tcPr/>
                </a:tc>
                <a:extLst>
                  <a:ext uri="{0D108BD9-81ED-4DB2-BD59-A6C34878D82A}">
                    <a16:rowId xmlns:a16="http://schemas.microsoft.com/office/drawing/2014/main" val="2054784722"/>
                  </a:ext>
                </a:extLst>
              </a:tr>
            </a:tbl>
          </a:graphicData>
        </a:graphic>
      </p:graphicFrame>
    </p:spTree>
    <p:extLst>
      <p:ext uri="{BB962C8B-B14F-4D97-AF65-F5344CB8AC3E}">
        <p14:creationId xmlns:p14="http://schemas.microsoft.com/office/powerpoint/2010/main" val="39511594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descr="A screenshot of a cell phone&#10;&#10;Description automatically generated">
            <a:extLst>
              <a:ext uri="{FF2B5EF4-FFF2-40B4-BE49-F238E27FC236}">
                <a16:creationId xmlns:a16="http://schemas.microsoft.com/office/drawing/2014/main" id="{DCD9EBEA-4CDA-B047-AAAA-51E6BB69E1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7195" y="2769050"/>
            <a:ext cx="5978917" cy="2244645"/>
          </a:xfrm>
          <a:prstGeom prst="rect">
            <a:avLst/>
          </a:prstGeom>
        </p:spPr>
      </p:pic>
      <p:sp>
        <p:nvSpPr>
          <p:cNvPr id="13" name="Slide Number Placeholder 12">
            <a:extLst>
              <a:ext uri="{FF2B5EF4-FFF2-40B4-BE49-F238E27FC236}">
                <a16:creationId xmlns:a16="http://schemas.microsoft.com/office/drawing/2014/main" id="{F9C3898B-21C2-9F4F-B316-3CDEBC7FC352}"/>
              </a:ext>
            </a:extLst>
          </p:cNvPr>
          <p:cNvSpPr>
            <a:spLocks noGrp="1"/>
          </p:cNvSpPr>
          <p:nvPr>
            <p:ph type="sldNum" sz="quarter" idx="12"/>
          </p:nvPr>
        </p:nvSpPr>
        <p:spPr/>
        <p:txBody>
          <a:bodyPr/>
          <a:lstStyle/>
          <a:p>
            <a:pPr>
              <a:defRPr/>
            </a:pPr>
            <a:fld id="{D1A9425D-9892-784D-B3BB-790F829805F1}" type="slidenum">
              <a:rPr lang="en-US" smtClean="0"/>
              <a:pPr>
                <a:defRPr/>
              </a:pPr>
              <a:t>42</a:t>
            </a:fld>
            <a:endParaRPr lang="en-US"/>
          </a:p>
        </p:txBody>
      </p:sp>
      <p:sp>
        <p:nvSpPr>
          <p:cNvPr id="9" name="Title 1">
            <a:extLst>
              <a:ext uri="{FF2B5EF4-FFF2-40B4-BE49-F238E27FC236}">
                <a16:creationId xmlns:a16="http://schemas.microsoft.com/office/drawing/2014/main" id="{2F16F190-E920-4044-A99D-F2FD705DC8A7}"/>
              </a:ext>
            </a:extLst>
          </p:cNvPr>
          <p:cNvSpPr txBox="1">
            <a:spLocks noChangeArrowheads="1"/>
          </p:cNvSpPr>
          <p:nvPr/>
        </p:nvSpPr>
        <p:spPr bwMode="auto">
          <a:xfrm>
            <a:off x="3033443" y="842458"/>
            <a:ext cx="8607177" cy="647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3600" b="1" dirty="0">
                <a:solidFill>
                  <a:srgbClr val="85103F"/>
                </a:solidFill>
                <a:latin typeface="Calibri Light" panose="020F0302020204030204" pitchFamily="34" charset="0"/>
              </a:rPr>
              <a:t>Checkpoint 4: Final Exam 2016/2017</a:t>
            </a:r>
            <a:endParaRPr lang="en-US" altLang="en-US" sz="3600" dirty="0">
              <a:solidFill>
                <a:srgbClr val="85103F"/>
              </a:solidFill>
              <a:latin typeface="Calibri Light" panose="020F0302020204030204" pitchFamily="34" charset="0"/>
            </a:endParaRPr>
          </a:p>
        </p:txBody>
      </p:sp>
      <p:sp>
        <p:nvSpPr>
          <p:cNvPr id="17" name="Rectangle 5">
            <a:extLst>
              <a:ext uri="{FF2B5EF4-FFF2-40B4-BE49-F238E27FC236}">
                <a16:creationId xmlns:a16="http://schemas.microsoft.com/office/drawing/2014/main" id="{3AA83B10-54AF-614D-8050-0E54BC95FA3F}"/>
              </a:ext>
            </a:extLst>
          </p:cNvPr>
          <p:cNvSpPr>
            <a:spLocks noChangeArrowheads="1"/>
          </p:cNvSpPr>
          <p:nvPr/>
        </p:nvSpPr>
        <p:spPr bwMode="auto">
          <a:xfrm>
            <a:off x="195210" y="1491376"/>
            <a:ext cx="6278152"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tabLst>
                <a:tab pos="1096963" algn="l"/>
              </a:tabLst>
              <a:defRPr>
                <a:solidFill>
                  <a:schemeClr val="tx1"/>
                </a:solidFill>
                <a:latin typeface="Arial" panose="020B0604020202020204" pitchFamily="34" charset="0"/>
              </a:defRPr>
            </a:lvl1pPr>
            <a:lvl2pPr>
              <a:tabLst>
                <a:tab pos="1096963" algn="l"/>
              </a:tabLst>
              <a:defRPr>
                <a:solidFill>
                  <a:schemeClr val="tx1"/>
                </a:solidFill>
                <a:latin typeface="Arial" panose="020B0604020202020204" pitchFamily="34" charset="0"/>
              </a:defRPr>
            </a:lvl2pPr>
            <a:lvl3pPr>
              <a:tabLst>
                <a:tab pos="1096963" algn="l"/>
              </a:tabLst>
              <a:defRPr>
                <a:solidFill>
                  <a:schemeClr val="tx1"/>
                </a:solidFill>
                <a:latin typeface="Arial" panose="020B0604020202020204" pitchFamily="34" charset="0"/>
              </a:defRPr>
            </a:lvl3pPr>
            <a:lvl4pPr>
              <a:tabLst>
                <a:tab pos="1096963" algn="l"/>
              </a:tabLst>
              <a:defRPr>
                <a:solidFill>
                  <a:schemeClr val="tx1"/>
                </a:solidFill>
                <a:latin typeface="Arial" panose="020B0604020202020204" pitchFamily="34" charset="0"/>
              </a:defRPr>
            </a:lvl4pPr>
            <a:lvl5pPr>
              <a:tabLst>
                <a:tab pos="1096963" algn="l"/>
              </a:tabLst>
              <a:defRPr>
                <a:solidFill>
                  <a:schemeClr val="tx1"/>
                </a:solidFill>
                <a:latin typeface="Arial" panose="020B0604020202020204" pitchFamily="34" charset="0"/>
              </a:defRPr>
            </a:lvl5pPr>
            <a:lvl6pPr eaLnBrk="0" fontAlgn="base" hangingPunct="0">
              <a:spcBef>
                <a:spcPct val="0"/>
              </a:spcBef>
              <a:spcAft>
                <a:spcPct val="0"/>
              </a:spcAft>
              <a:tabLst>
                <a:tab pos="1096963" algn="l"/>
              </a:tabLst>
              <a:defRPr>
                <a:solidFill>
                  <a:schemeClr val="tx1"/>
                </a:solidFill>
                <a:latin typeface="Arial" panose="020B0604020202020204" pitchFamily="34" charset="0"/>
              </a:defRPr>
            </a:lvl6pPr>
            <a:lvl7pPr eaLnBrk="0" fontAlgn="base" hangingPunct="0">
              <a:spcBef>
                <a:spcPct val="0"/>
              </a:spcBef>
              <a:spcAft>
                <a:spcPct val="0"/>
              </a:spcAft>
              <a:tabLst>
                <a:tab pos="1096963" algn="l"/>
              </a:tabLst>
              <a:defRPr>
                <a:solidFill>
                  <a:schemeClr val="tx1"/>
                </a:solidFill>
                <a:latin typeface="Arial" panose="020B0604020202020204" pitchFamily="34" charset="0"/>
              </a:defRPr>
            </a:lvl7pPr>
            <a:lvl8pPr eaLnBrk="0" fontAlgn="base" hangingPunct="0">
              <a:spcBef>
                <a:spcPct val="0"/>
              </a:spcBef>
              <a:spcAft>
                <a:spcPct val="0"/>
              </a:spcAft>
              <a:tabLst>
                <a:tab pos="1096963" algn="l"/>
              </a:tabLst>
              <a:defRPr>
                <a:solidFill>
                  <a:schemeClr val="tx1"/>
                </a:solidFill>
                <a:latin typeface="Arial" panose="020B0604020202020204" pitchFamily="34" charset="0"/>
              </a:defRPr>
            </a:lvl8pPr>
            <a:lvl9pPr eaLnBrk="0" fontAlgn="base" hangingPunct="0">
              <a:spcBef>
                <a:spcPct val="0"/>
              </a:spcBef>
              <a:spcAft>
                <a:spcPct val="0"/>
              </a:spcAft>
              <a:tabLst>
                <a:tab pos="1096963"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1096963" algn="l"/>
              </a:tabLst>
            </a:pPr>
            <a:r>
              <a:rPr kumimoji="0" lang="en-US" altLang="en-US" sz="1400" b="0" i="0" u="none" strike="noStrike" cap="none" normalizeH="0" baseline="0" dirty="0">
                <a:ln>
                  <a:noFill/>
                </a:ln>
                <a:solidFill>
                  <a:schemeClr val="tx1"/>
                </a:solidFill>
                <a:effectLst/>
                <a:latin typeface="+mn-lt"/>
                <a:ea typeface="Times New Roman" panose="02020603050405020304" pitchFamily="18" charset="0"/>
              </a:rPr>
              <a:t>Your company has been hired as IT consultant to assist ‘Exotic Treat’ company in developing a newly system that allows their customer to purchase homemade sweets and cakes through online booking application. One of your job as the in-charge Business Analyst is to assist the development team in analyzing the detail process and logic flows for the determination of total payment invoice. The criteria in calculating the total payment invoice are as follows:</a:t>
            </a:r>
            <a:endParaRPr kumimoji="0" lang="en-US" altLang="en-US" sz="1400" b="0" i="0" u="none" strike="noStrike" cap="none" normalizeH="0" baseline="0" dirty="0">
              <a:ln>
                <a:noFill/>
              </a:ln>
              <a:solidFill>
                <a:schemeClr val="tx1"/>
              </a:solidFill>
              <a:effectLst/>
              <a:latin typeface="+mn-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tab pos="1096963" algn="l"/>
              </a:tabLst>
            </a:pPr>
            <a:r>
              <a:rPr kumimoji="0" lang="en-US" altLang="en-US" sz="1400" b="0" i="0" u="none" strike="noStrike" cap="none" normalizeH="0" baseline="0" dirty="0">
                <a:ln>
                  <a:noFill/>
                </a:ln>
                <a:solidFill>
                  <a:schemeClr val="tx1"/>
                </a:solidFill>
                <a:effectLst/>
                <a:latin typeface="+mn-lt"/>
                <a:ea typeface="Times New Roman" panose="02020603050405020304" pitchFamily="18" charset="0"/>
              </a:rPr>
              <a:t>Customers with e-coupon will be granted for $10 discounts less for each total payment invoice</a:t>
            </a:r>
            <a:endParaRPr kumimoji="0" lang="en-US" altLang="en-US" sz="1400" b="0" i="0" u="none" strike="noStrike" cap="none" normalizeH="0" baseline="0" dirty="0">
              <a:ln>
                <a:noFill/>
              </a:ln>
              <a:solidFill>
                <a:schemeClr val="tx1"/>
              </a:solidFill>
              <a:effectLst/>
              <a:latin typeface="+mn-lt"/>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tab pos="1096963" algn="l"/>
              </a:tabLst>
            </a:pPr>
            <a:r>
              <a:rPr kumimoji="0" lang="en-US" altLang="en-US" sz="1400" b="0" i="0" u="none" strike="noStrike" cap="none" normalizeH="0" baseline="0" dirty="0">
                <a:ln>
                  <a:noFill/>
                </a:ln>
                <a:solidFill>
                  <a:schemeClr val="tx1"/>
                </a:solidFill>
                <a:effectLst/>
                <a:latin typeface="+mn-lt"/>
                <a:ea typeface="Times New Roman" panose="02020603050405020304" pitchFamily="18" charset="0"/>
              </a:rPr>
              <a:t>Customers who spent more than $250 purchase items with:</a:t>
            </a:r>
            <a:endParaRPr kumimoji="0" lang="en-US" altLang="en-US" sz="1400" b="0" i="0" u="none" strike="noStrike" cap="none" normalizeH="0" baseline="0" dirty="0">
              <a:ln>
                <a:noFill/>
              </a:ln>
              <a:solidFill>
                <a:schemeClr val="tx1"/>
              </a:solidFill>
              <a:effectLst/>
              <a:latin typeface="+mn-lt"/>
            </a:endParaRPr>
          </a:p>
          <a:p>
            <a:pPr marL="457200" marR="0" lvl="1" indent="0" algn="just" defTabSz="914400" rtl="0" eaLnBrk="0" fontAlgn="base" latinLnBrk="0" hangingPunct="0">
              <a:lnSpc>
                <a:spcPct val="100000"/>
              </a:lnSpc>
              <a:spcBef>
                <a:spcPct val="0"/>
              </a:spcBef>
              <a:spcAft>
                <a:spcPct val="0"/>
              </a:spcAft>
              <a:buClrTx/>
              <a:buSzPct val="100000"/>
              <a:buFontTx/>
              <a:buAutoNum type="romanLcPeriod"/>
              <a:tabLst>
                <a:tab pos="1096963" algn="l"/>
              </a:tabLst>
            </a:pPr>
            <a:r>
              <a:rPr kumimoji="0" lang="en-US" altLang="en-US" sz="1400" b="0" i="0" u="none" strike="noStrike" cap="none" normalizeH="0" baseline="0" dirty="0">
                <a:ln>
                  <a:noFill/>
                </a:ln>
                <a:solidFill>
                  <a:schemeClr val="tx1"/>
                </a:solidFill>
                <a:effectLst/>
                <a:latin typeface="+mn-lt"/>
                <a:ea typeface="Times New Roman" panose="02020603050405020304" pitchFamily="18" charset="0"/>
              </a:rPr>
              <a:t>Numbers of order items (more OR less than 4 order items);</a:t>
            </a:r>
            <a:endParaRPr kumimoji="0" lang="en-US" altLang="en-US" sz="1400" b="0" i="0" u="none" strike="noStrike" cap="none" normalizeH="0" baseline="0" dirty="0">
              <a:ln>
                <a:noFill/>
              </a:ln>
              <a:solidFill>
                <a:schemeClr val="tx1"/>
              </a:solidFill>
              <a:effectLst/>
              <a:latin typeface="+mn-lt"/>
            </a:endParaRPr>
          </a:p>
          <a:p>
            <a:pPr marL="457200" marR="0" lvl="1" indent="0" algn="just" defTabSz="914400" rtl="0" eaLnBrk="0" fontAlgn="base" latinLnBrk="0" hangingPunct="0">
              <a:lnSpc>
                <a:spcPct val="100000"/>
              </a:lnSpc>
              <a:spcBef>
                <a:spcPct val="0"/>
              </a:spcBef>
              <a:spcAft>
                <a:spcPct val="0"/>
              </a:spcAft>
              <a:buClrTx/>
              <a:buSzPct val="100000"/>
              <a:buFontTx/>
              <a:buAutoNum type="romanLcPeriod"/>
              <a:tabLst>
                <a:tab pos="1096963" algn="l"/>
              </a:tabLst>
            </a:pPr>
            <a:r>
              <a:rPr kumimoji="0" lang="en-US" altLang="en-US" sz="1400" b="0" i="0" u="none" strike="noStrike" cap="none" normalizeH="0" baseline="0" dirty="0">
                <a:ln>
                  <a:noFill/>
                </a:ln>
                <a:solidFill>
                  <a:schemeClr val="tx1"/>
                </a:solidFill>
                <a:effectLst/>
                <a:latin typeface="+mn-lt"/>
                <a:ea typeface="Times New Roman" panose="02020603050405020304" pitchFamily="18" charset="0"/>
              </a:rPr>
              <a:t>Choices of delivery day once the order is placed (next day, second day, OR seventh day)</a:t>
            </a:r>
          </a:p>
          <a:p>
            <a:pPr algn="just">
              <a:buSzPct val="100000"/>
            </a:pPr>
            <a:endParaRPr lang="en-US" sz="1400" dirty="0">
              <a:latin typeface="+mn-lt"/>
            </a:endParaRPr>
          </a:p>
          <a:p>
            <a:pPr algn="just">
              <a:buSzPct val="100000"/>
            </a:pPr>
            <a:r>
              <a:rPr lang="en-US" sz="1400" dirty="0">
                <a:latin typeface="+mn-lt"/>
              </a:rPr>
              <a:t>The specific conditions to calculate total payment invoice are summarized using the decision table in </a:t>
            </a:r>
            <a:r>
              <a:rPr lang="en-US" sz="1400" b="1" dirty="0">
                <a:latin typeface="+mn-lt"/>
              </a:rPr>
              <a:t>Table 1.</a:t>
            </a:r>
          </a:p>
          <a:p>
            <a:pPr algn="just">
              <a:buSzPct val="100000"/>
            </a:pPr>
            <a:endParaRPr kumimoji="0" lang="en-US" altLang="en-US" sz="1400" b="1" i="0" u="none" strike="noStrike" cap="none" normalizeH="0" baseline="0" dirty="0">
              <a:ln>
                <a:noFill/>
              </a:ln>
              <a:solidFill>
                <a:schemeClr val="tx1"/>
              </a:solidFill>
              <a:effectLst/>
              <a:latin typeface="+mn-lt"/>
            </a:endParaRPr>
          </a:p>
          <a:p>
            <a:pPr marL="342900" lvl="0" indent="-342900" algn="just">
              <a:buFont typeface="+mj-lt"/>
              <a:buAutoNum type="alphaLcParenR"/>
            </a:pPr>
            <a:r>
              <a:rPr lang="en-US" sz="1400" dirty="0">
                <a:latin typeface="+mn-lt"/>
              </a:rPr>
              <a:t>Construct an optimized decision tree to demonstrate the logic conditions and actions sequences of process flows in calculating the total payment invoice	(8 marks)</a:t>
            </a:r>
          </a:p>
          <a:p>
            <a:pPr marL="342900" lvl="0" indent="-342900" algn="just">
              <a:buFont typeface="+mj-lt"/>
              <a:buAutoNum type="alphaLcParenR"/>
            </a:pPr>
            <a:endParaRPr lang="en-MY" sz="1400" dirty="0">
              <a:latin typeface="+mn-lt"/>
            </a:endParaRPr>
          </a:p>
          <a:p>
            <a:pPr marL="342900" lvl="0" indent="-342900" algn="just">
              <a:buFont typeface="+mj-lt"/>
              <a:buAutoNum type="alphaLcParenR"/>
            </a:pPr>
            <a:r>
              <a:rPr lang="en-US" sz="1400" dirty="0">
                <a:latin typeface="+mn-lt"/>
              </a:rPr>
              <a:t>In your opinion, which method (decision table or decision tree) is more helpful to analyze the process flows in calculating total payment invoice? Justify your reason.	(2 marks)</a:t>
            </a:r>
            <a:endParaRPr lang="en-MY" sz="1400" dirty="0">
              <a:latin typeface="+mn-lt"/>
            </a:endParaRPr>
          </a:p>
        </p:txBody>
      </p:sp>
      <p:pic>
        <p:nvPicPr>
          <p:cNvPr id="7" name="Picture 6" descr="A picture containing object&#10;&#10;Description automatically generated">
            <a:extLst>
              <a:ext uri="{FF2B5EF4-FFF2-40B4-BE49-F238E27FC236}">
                <a16:creationId xmlns:a16="http://schemas.microsoft.com/office/drawing/2014/main" id="{ED46CA19-08A9-C54F-9820-208619D783F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214" y="410966"/>
            <a:ext cx="3689564" cy="1383587"/>
          </a:xfrm>
          <a:prstGeom prst="rect">
            <a:avLst/>
          </a:prstGeom>
        </p:spPr>
      </p:pic>
      <p:sp>
        <p:nvSpPr>
          <p:cNvPr id="25" name="Rectangle 24">
            <a:extLst>
              <a:ext uri="{FF2B5EF4-FFF2-40B4-BE49-F238E27FC236}">
                <a16:creationId xmlns:a16="http://schemas.microsoft.com/office/drawing/2014/main" id="{6DC063AC-6FB5-D643-BD72-468F96B127E2}"/>
              </a:ext>
            </a:extLst>
          </p:cNvPr>
          <p:cNvSpPr/>
          <p:nvPr/>
        </p:nvSpPr>
        <p:spPr>
          <a:xfrm>
            <a:off x="6549347" y="4912370"/>
            <a:ext cx="6096000" cy="646331"/>
          </a:xfrm>
          <a:prstGeom prst="rect">
            <a:avLst/>
          </a:prstGeom>
        </p:spPr>
        <p:txBody>
          <a:bodyPr>
            <a:spAutoFit/>
          </a:bodyPr>
          <a:lstStyle/>
          <a:p>
            <a:pPr marL="1997075" marR="1936115" algn="ctr">
              <a:spcAft>
                <a:spcPts val="0"/>
              </a:spcAft>
            </a:pPr>
            <a:r>
              <a:rPr lang="en-US" sz="1200" b="1" dirty="0">
                <a:latin typeface="+mn-lt"/>
                <a:ea typeface="Times New Roman" panose="02020603050405020304" pitchFamily="18" charset="0"/>
              </a:rPr>
              <a:t>Table 1</a:t>
            </a:r>
            <a:r>
              <a:rPr lang="en-US" sz="1200" dirty="0">
                <a:latin typeface="+mn-lt"/>
                <a:ea typeface="Times New Roman" panose="02020603050405020304" pitchFamily="18" charset="0"/>
              </a:rPr>
              <a:t>: Decision table for calculating shipping charges and total invoice</a:t>
            </a:r>
            <a:endParaRPr lang="en-MY" sz="1200" dirty="0">
              <a:effectLst/>
              <a:latin typeface="+mn-lt"/>
              <a:ea typeface="Times New Roman" panose="02020603050405020304" pitchFamily="18" charset="0"/>
            </a:endParaRPr>
          </a:p>
        </p:txBody>
      </p:sp>
    </p:spTree>
    <p:extLst>
      <p:ext uri="{BB962C8B-B14F-4D97-AF65-F5344CB8AC3E}">
        <p14:creationId xmlns:p14="http://schemas.microsoft.com/office/powerpoint/2010/main" val="37802831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8EBDA1-B873-344E-BAD1-E55802A56EBA}"/>
              </a:ext>
            </a:extLst>
          </p:cNvPr>
          <p:cNvSpPr txBox="1"/>
          <p:nvPr/>
        </p:nvSpPr>
        <p:spPr>
          <a:xfrm>
            <a:off x="9952234" y="4485029"/>
            <a:ext cx="2239766" cy="246221"/>
          </a:xfrm>
          <a:prstGeom prst="rect">
            <a:avLst/>
          </a:prstGeom>
          <a:noFill/>
        </p:spPr>
        <p:txBody>
          <a:bodyPr wrap="square" rtlCol="0">
            <a:spAutoFit/>
          </a:bodyPr>
          <a:lstStyle/>
          <a:p>
            <a:pPr algn="r"/>
            <a:r>
              <a:rPr lang="en-US" sz="1000" dirty="0">
                <a:solidFill>
                  <a:schemeClr val="bg1"/>
                </a:solidFill>
              </a:rPr>
              <a:t>update: August 2019 (</a:t>
            </a:r>
            <a:r>
              <a:rPr lang="en-US" sz="1000" dirty="0" err="1">
                <a:solidFill>
                  <a:schemeClr val="bg1"/>
                </a:solidFill>
              </a:rPr>
              <a:t>sharinhh</a:t>
            </a:r>
            <a:r>
              <a:rPr lang="en-US" sz="1000" dirty="0">
                <a:solidFill>
                  <a:schemeClr val="bg1"/>
                </a:solidFil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682</TotalTime>
  <Words>2563</Words>
  <Application>Microsoft Macintosh PowerPoint</Application>
  <PresentationFormat>Widescreen</PresentationFormat>
  <Paragraphs>272</Paragraphs>
  <Slides>43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Avenir Book</vt:lpstr>
      <vt:lpstr>Calibri</vt:lpstr>
      <vt:lpstr>Calibri Light</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acidfed</dc:creator>
  <cp:lastModifiedBy>Azmi Kamis</cp:lastModifiedBy>
  <cp:revision>58</cp:revision>
  <dcterms:created xsi:type="dcterms:W3CDTF">2019-01-15T04:04:43Z</dcterms:created>
  <dcterms:modified xsi:type="dcterms:W3CDTF">2019-08-27T13:45:25Z</dcterms:modified>
</cp:coreProperties>
</file>