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63" r:id="rId2"/>
    <p:sldId id="266" r:id="rId3"/>
    <p:sldId id="267" r:id="rId4"/>
    <p:sldId id="337" r:id="rId5"/>
    <p:sldId id="335" r:id="rId6"/>
    <p:sldId id="338" r:id="rId7"/>
    <p:sldId id="343" r:id="rId8"/>
    <p:sldId id="342" r:id="rId9"/>
    <p:sldId id="344" r:id="rId10"/>
    <p:sldId id="346" r:id="rId11"/>
    <p:sldId id="354" r:id="rId12"/>
    <p:sldId id="355" r:id="rId13"/>
    <p:sldId id="356" r:id="rId14"/>
    <p:sldId id="357" r:id="rId15"/>
    <p:sldId id="349" r:id="rId16"/>
    <p:sldId id="358" r:id="rId17"/>
    <p:sldId id="340" r:id="rId18"/>
    <p:sldId id="341" r:id="rId19"/>
    <p:sldId id="359" r:id="rId20"/>
    <p:sldId id="360" r:id="rId21"/>
    <p:sldId id="361" r:id="rId22"/>
    <p:sldId id="362" r:id="rId23"/>
    <p:sldId id="364" r:id="rId24"/>
    <p:sldId id="336" r:id="rId25"/>
    <p:sldId id="365" r:id="rId26"/>
    <p:sldId id="367" r:id="rId27"/>
    <p:sldId id="366" r:id="rId28"/>
    <p:sldId id="331" r:id="rId29"/>
    <p:sldId id="332" r:id="rId30"/>
    <p:sldId id="333" r:id="rId31"/>
    <p:sldId id="334" r:id="rId32"/>
    <p:sldId id="368" r:id="rId33"/>
    <p:sldId id="262"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0F3E"/>
    <a:srgbClr val="FF9901"/>
    <a:srgbClr val="FFFFB5"/>
    <a:srgbClr val="FFCB63"/>
    <a:srgbClr val="B43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124" d="100"/>
          <a:sy n="124" d="100"/>
        </p:scale>
        <p:origin x="2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dgm:spPr/>
      <dgm:t>
        <a:bodyPr/>
        <a:lstStyle/>
        <a:p>
          <a:r>
            <a:rPr lang="en-US" b="1" dirty="0"/>
            <a:t>STRUCTURE CHART</a:t>
          </a:r>
          <a:endParaRPr lang="en-MY" dirty="0"/>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dgm:t>
        <a:bodyPr/>
        <a:lstStyle/>
        <a:p>
          <a:r>
            <a:rPr lang="en-US" sz="2400" dirty="0"/>
            <a:t>Structure chart symbols</a:t>
          </a:r>
          <a:endParaRPr lang="en-MY" sz="2400" dirty="0"/>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27D4C289-2C43-8348-A08D-F8E751585A4E}">
      <dgm:prSet custT="1"/>
      <dgm:spPr/>
      <dgm:t>
        <a:bodyPr/>
        <a:lstStyle/>
        <a:p>
          <a:r>
            <a:rPr lang="en-US" sz="2400" dirty="0"/>
            <a:t>Guideline for drawing structure chart</a:t>
          </a:r>
          <a:endParaRPr lang="en-MY" sz="2400" dirty="0"/>
        </a:p>
      </dgm:t>
    </dgm:pt>
    <dgm:pt modelId="{576181E8-7F6A-704E-8F55-C02B67673001}" type="parTrans" cxnId="{99222A9F-D73A-0549-8058-621B0EF0276A}">
      <dgm:prSet/>
      <dgm:spPr/>
      <dgm:t>
        <a:bodyPr/>
        <a:lstStyle/>
        <a:p>
          <a:endParaRPr lang="en-GB"/>
        </a:p>
      </dgm:t>
    </dgm:pt>
    <dgm:pt modelId="{F6F03FE2-D1AB-1742-A2CB-80CB25D60B52}" type="sibTrans" cxnId="{99222A9F-D73A-0549-8058-621B0EF0276A}">
      <dgm:prSet/>
      <dgm:spPr/>
      <dgm:t>
        <a:bodyPr/>
        <a:lstStyle/>
        <a:p>
          <a:endParaRPr lang="en-GB"/>
        </a:p>
      </dgm:t>
    </dgm:pt>
    <dgm:pt modelId="{29CA0E37-B777-1B45-8D42-5505C7EF4DD6}">
      <dgm:prSet/>
      <dgm:spPr/>
      <dgm:t>
        <a:bodyPr/>
        <a:lstStyle/>
        <a:p>
          <a:r>
            <a:rPr lang="en-US" b="1" dirty="0"/>
            <a:t>ENTITY RELATIONSHIPS DIAGRAM (ERD)</a:t>
          </a:r>
          <a:endParaRPr lang="en-MY" dirty="0"/>
        </a:p>
      </dgm:t>
    </dgm:pt>
    <dgm:pt modelId="{4050C5FE-8BDA-0C4E-94B9-599367D9D16D}" type="parTrans" cxnId="{5A56B747-AE64-4B4E-96CA-72F403951E9A}">
      <dgm:prSet/>
      <dgm:spPr/>
      <dgm:t>
        <a:bodyPr/>
        <a:lstStyle/>
        <a:p>
          <a:endParaRPr lang="en-GB"/>
        </a:p>
      </dgm:t>
    </dgm:pt>
    <dgm:pt modelId="{A5EB22FF-A85E-764D-B3B3-B399B012CDCD}" type="sibTrans" cxnId="{5A56B747-AE64-4B4E-96CA-72F403951E9A}">
      <dgm:prSet/>
      <dgm:spPr/>
      <dgm:t>
        <a:bodyPr/>
        <a:lstStyle/>
        <a:p>
          <a:endParaRPr lang="en-GB"/>
        </a:p>
      </dgm:t>
    </dgm:pt>
    <dgm:pt modelId="{B6695AE6-BBD2-9441-8278-405325F3463D}">
      <dgm:prSet custT="1"/>
      <dgm:spPr/>
      <dgm:t>
        <a:bodyPr/>
        <a:lstStyle/>
        <a:p>
          <a:r>
            <a:rPr lang="en-MY" sz="2400" dirty="0"/>
            <a:t>ERD basic concepts</a:t>
          </a:r>
        </a:p>
      </dgm:t>
    </dgm:pt>
    <dgm:pt modelId="{F4DE0E6C-6746-464D-978D-6433814E1070}" type="parTrans" cxnId="{600A957D-D0E7-9A4D-A4C3-6061F6EB0A05}">
      <dgm:prSet/>
      <dgm:spPr/>
      <dgm:t>
        <a:bodyPr/>
        <a:lstStyle/>
        <a:p>
          <a:endParaRPr lang="en-GB"/>
        </a:p>
      </dgm:t>
    </dgm:pt>
    <dgm:pt modelId="{B1D92EC7-D55B-3347-BB0C-185AAA5D4CB0}" type="sibTrans" cxnId="{600A957D-D0E7-9A4D-A4C3-6061F6EB0A05}">
      <dgm:prSet/>
      <dgm:spPr/>
      <dgm:t>
        <a:bodyPr/>
        <a:lstStyle/>
        <a:p>
          <a:endParaRPr lang="en-GB"/>
        </a:p>
      </dgm:t>
    </dgm:pt>
    <dgm:pt modelId="{187A065F-7C1B-3A49-9E2D-E2734B9B17BA}">
      <dgm:prSet custT="1"/>
      <dgm:spPr/>
      <dgm:t>
        <a:bodyPr/>
        <a:lstStyle/>
        <a:p>
          <a:r>
            <a:rPr lang="en-MY" sz="2400" dirty="0"/>
            <a:t>Translating DFD to Structure Chart</a:t>
          </a:r>
        </a:p>
      </dgm:t>
    </dgm:pt>
    <dgm:pt modelId="{5E700E12-5F79-434F-A5B3-32A3066A8B52}" type="parTrans" cxnId="{F6FFAA89-6E3A-5647-966E-117DC48F4203}">
      <dgm:prSet/>
      <dgm:spPr/>
      <dgm:t>
        <a:bodyPr/>
        <a:lstStyle/>
        <a:p>
          <a:endParaRPr lang="en-GB"/>
        </a:p>
      </dgm:t>
    </dgm:pt>
    <dgm:pt modelId="{F4DC76C3-1FE8-AD4C-9C95-EC72078782F6}" type="sibTrans" cxnId="{F6FFAA89-6E3A-5647-966E-117DC48F4203}">
      <dgm:prSet/>
      <dgm:spPr/>
      <dgm:t>
        <a:bodyPr/>
        <a:lstStyle/>
        <a:p>
          <a:endParaRPr lang="en-GB"/>
        </a:p>
      </dgm:t>
    </dgm:pt>
    <dgm:pt modelId="{C8AE858E-B16A-3C42-943B-9C636464CD51}">
      <dgm:prSet custT="1"/>
      <dgm:spPr/>
      <dgm:t>
        <a:bodyPr/>
        <a:lstStyle/>
        <a:p>
          <a:r>
            <a:rPr lang="en-MY" sz="2400" dirty="0"/>
            <a:t>DFD and ERD</a:t>
          </a:r>
        </a:p>
      </dgm:t>
    </dgm:pt>
    <dgm:pt modelId="{CE937E4B-1ED9-7A44-A9CC-F61FD2862DC8}" type="parTrans" cxnId="{3ACDA7A6-EA7E-A046-A68F-33AEB05F902F}">
      <dgm:prSet/>
      <dgm:spPr/>
      <dgm:t>
        <a:bodyPr/>
        <a:lstStyle/>
        <a:p>
          <a:endParaRPr lang="en-GB"/>
        </a:p>
      </dgm:t>
    </dgm:pt>
    <dgm:pt modelId="{9A1148D0-DE48-9044-B821-0909C5876B38}" type="sibTrans" cxnId="{3ACDA7A6-EA7E-A046-A68F-33AEB05F902F}">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2">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2">
        <dgm:presLayoutVars>
          <dgm:bulletEnabled val="1"/>
        </dgm:presLayoutVars>
      </dgm:prSet>
      <dgm:spPr/>
    </dgm:pt>
    <dgm:pt modelId="{D29D6126-FEF5-D943-B195-03050CF36A5D}" type="pres">
      <dgm:prSet presAssocID="{FBB7AF22-E434-544A-BCC1-0E1B0B2AC122}" presName="sp" presStyleCnt="0"/>
      <dgm:spPr/>
    </dgm:pt>
    <dgm:pt modelId="{FFECDE15-43EA-BD48-9814-7BB57CB3D4EA}" type="pres">
      <dgm:prSet presAssocID="{29CA0E37-B777-1B45-8D42-5505C7EF4DD6}" presName="linNode" presStyleCnt="0"/>
      <dgm:spPr/>
    </dgm:pt>
    <dgm:pt modelId="{0F5C74DA-8593-D54A-8A8A-E5B629D54B1F}" type="pres">
      <dgm:prSet presAssocID="{29CA0E37-B777-1B45-8D42-5505C7EF4DD6}" presName="parentText" presStyleLbl="node1" presStyleIdx="1" presStyleCnt="2">
        <dgm:presLayoutVars>
          <dgm:chMax val="1"/>
          <dgm:bulletEnabled val="1"/>
        </dgm:presLayoutVars>
      </dgm:prSet>
      <dgm:spPr/>
    </dgm:pt>
    <dgm:pt modelId="{30D41C04-0840-D141-A88D-FA44AB020792}" type="pres">
      <dgm:prSet presAssocID="{29CA0E37-B777-1B45-8D42-5505C7EF4DD6}" presName="descendantText" presStyleLbl="alignAccFollowNode1" presStyleIdx="1" presStyleCnt="2">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35EDA924-17F1-6E4D-9EF3-33CFDEA0B23B}" type="presOf" srcId="{27D4C289-2C43-8348-A08D-F8E751585A4E}" destId="{8C44A406-9567-204D-9E84-60F98F7D9983}" srcOrd="0" destOrd="1" presId="urn:microsoft.com/office/officeart/2005/8/layout/vList5"/>
    <dgm:cxn modelId="{E02A8B33-3DFE-7244-9FF0-0D48E78C6C88}" type="presOf" srcId="{29CA0E37-B777-1B45-8D42-5505C7EF4DD6}" destId="{0F5C74DA-8593-D54A-8A8A-E5B629D54B1F}" srcOrd="0" destOrd="0" presId="urn:microsoft.com/office/officeart/2005/8/layout/vList5"/>
    <dgm:cxn modelId="{5A56B747-AE64-4B4E-96CA-72F403951E9A}" srcId="{66E13D44-AA4E-B140-965B-FB71BC866BAD}" destId="{29CA0E37-B777-1B45-8D42-5505C7EF4DD6}" srcOrd="1" destOrd="0" parTransId="{4050C5FE-8BDA-0C4E-94B9-599367D9D16D}" sibTransId="{A5EB22FF-A85E-764D-B3B3-B399B012CDCD}"/>
    <dgm:cxn modelId="{6A891B55-669D-4243-B528-3201E49C598D}" srcId="{66E13D44-AA4E-B140-965B-FB71BC866BAD}" destId="{525FF7B7-45DF-FA40-BA8F-C3AA0B2AD2CA}" srcOrd="0" destOrd="0" parTransId="{44614C75-33C9-1346-AE33-01AF9E91DA71}" sibTransId="{FBB7AF22-E434-544A-BCC1-0E1B0B2AC122}"/>
    <dgm:cxn modelId="{5F7DCF59-355F-EE45-88D9-481F00CCC8FF}" type="presOf" srcId="{B6695AE6-BBD2-9441-8278-405325F3463D}" destId="{30D41C04-0840-D141-A88D-FA44AB020792}" srcOrd="0" destOrd="0" presId="urn:microsoft.com/office/officeart/2005/8/layout/vList5"/>
    <dgm:cxn modelId="{C7E80073-C806-B148-82E8-9E834E178DFE}" type="presOf" srcId="{525FF7B7-45DF-FA40-BA8F-C3AA0B2AD2CA}" destId="{3E0D387A-B967-1140-8AD6-3ED717D320AA}" srcOrd="0" destOrd="0" presId="urn:microsoft.com/office/officeart/2005/8/layout/vList5"/>
    <dgm:cxn modelId="{600A957D-D0E7-9A4D-A4C3-6061F6EB0A05}" srcId="{29CA0E37-B777-1B45-8D42-5505C7EF4DD6}" destId="{B6695AE6-BBD2-9441-8278-405325F3463D}" srcOrd="0" destOrd="0" parTransId="{F4DE0E6C-6746-464D-978D-6433814E1070}" sibTransId="{B1D92EC7-D55B-3347-BB0C-185AAA5D4CB0}"/>
    <dgm:cxn modelId="{F6FFAA89-6E3A-5647-966E-117DC48F4203}" srcId="{525FF7B7-45DF-FA40-BA8F-C3AA0B2AD2CA}" destId="{187A065F-7C1B-3A49-9E2D-E2734B9B17BA}" srcOrd="2" destOrd="0" parTransId="{5E700E12-5F79-434F-A5B3-32A3066A8B52}" sibTransId="{F4DC76C3-1FE8-AD4C-9C95-EC72078782F6}"/>
    <dgm:cxn modelId="{99222A9F-D73A-0549-8058-621B0EF0276A}" srcId="{525FF7B7-45DF-FA40-BA8F-C3AA0B2AD2CA}" destId="{27D4C289-2C43-8348-A08D-F8E751585A4E}" srcOrd="1" destOrd="0" parTransId="{576181E8-7F6A-704E-8F55-C02B67673001}" sibTransId="{F6F03FE2-D1AB-1742-A2CB-80CB25D60B52}"/>
    <dgm:cxn modelId="{3ACDA7A6-EA7E-A046-A68F-33AEB05F902F}" srcId="{29CA0E37-B777-1B45-8D42-5505C7EF4DD6}" destId="{C8AE858E-B16A-3C42-943B-9C636464CD51}" srcOrd="1" destOrd="0" parTransId="{CE937E4B-1ED9-7A44-A9CC-F61FD2862DC8}" sibTransId="{9A1148D0-DE48-9044-B821-0909C5876B38}"/>
    <dgm:cxn modelId="{418A2EA8-0409-344C-BFF8-AF09026931E9}" type="presOf" srcId="{C8AE858E-B16A-3C42-943B-9C636464CD51}" destId="{30D41C04-0840-D141-A88D-FA44AB020792}" srcOrd="0" destOrd="1" presId="urn:microsoft.com/office/officeart/2005/8/layout/vList5"/>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9D5D1DEA-06FE-C643-9868-ACC970FC5E25}" type="presOf" srcId="{187A065F-7C1B-3A49-9E2D-E2734B9B17BA}" destId="{8C44A406-9567-204D-9E84-60F98F7D9983}" srcOrd="0" destOrd="2"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 modelId="{656ACA59-E023-364F-9E43-81FE8D7CF41B}" type="presParOf" srcId="{9403BA41-611A-FA42-8804-EA979A74D0A5}" destId="{D29D6126-FEF5-D943-B195-03050CF36A5D}" srcOrd="1" destOrd="0" presId="urn:microsoft.com/office/officeart/2005/8/layout/vList5"/>
    <dgm:cxn modelId="{B00F0DBE-D9A6-1343-AEB6-0884DB3FBD6E}" type="presParOf" srcId="{9403BA41-611A-FA42-8804-EA979A74D0A5}" destId="{FFECDE15-43EA-BD48-9814-7BB57CB3D4EA}" srcOrd="2" destOrd="0" presId="urn:microsoft.com/office/officeart/2005/8/layout/vList5"/>
    <dgm:cxn modelId="{BFD2B0FF-E067-544A-985A-CCF976943180}" type="presParOf" srcId="{FFECDE15-43EA-BD48-9814-7BB57CB3D4EA}" destId="{0F5C74DA-8593-D54A-8A8A-E5B629D54B1F}" srcOrd="0" destOrd="0" presId="urn:microsoft.com/office/officeart/2005/8/layout/vList5"/>
    <dgm:cxn modelId="{6721DA2B-F92E-2C40-AB15-A7F4019EB3DB}" type="presParOf" srcId="{FFECDE15-43EA-BD48-9814-7BB57CB3D4EA}" destId="{30D41C04-0840-D141-A88D-FA44AB02079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custT="1"/>
      <dgm:spPr/>
      <dgm:t>
        <a:bodyPr/>
        <a:lstStyle/>
        <a:p>
          <a:r>
            <a:rPr lang="en-US" sz="4800" b="1" dirty="0"/>
            <a:t>STRUCTURE CHART</a:t>
          </a:r>
          <a:endParaRPr lang="en-MY" sz="4800" dirty="0"/>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dgm:t>
        <a:bodyPr/>
        <a:lstStyle/>
        <a:p>
          <a:r>
            <a:rPr lang="en-US" sz="2400" dirty="0"/>
            <a:t>Structure chart symbols</a:t>
          </a:r>
          <a:endParaRPr lang="en-MY" sz="2400" dirty="0"/>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27D4C289-2C43-8348-A08D-F8E751585A4E}">
      <dgm:prSet custT="1"/>
      <dgm:spPr/>
      <dgm:t>
        <a:bodyPr/>
        <a:lstStyle/>
        <a:p>
          <a:r>
            <a:rPr lang="en-US" sz="2400" dirty="0"/>
            <a:t>Guideline for drawing structure chart</a:t>
          </a:r>
          <a:endParaRPr lang="en-MY" sz="2400" dirty="0"/>
        </a:p>
      </dgm:t>
    </dgm:pt>
    <dgm:pt modelId="{576181E8-7F6A-704E-8F55-C02B67673001}" type="parTrans" cxnId="{99222A9F-D73A-0549-8058-621B0EF0276A}">
      <dgm:prSet/>
      <dgm:spPr/>
      <dgm:t>
        <a:bodyPr/>
        <a:lstStyle/>
        <a:p>
          <a:endParaRPr lang="en-GB"/>
        </a:p>
      </dgm:t>
    </dgm:pt>
    <dgm:pt modelId="{F6F03FE2-D1AB-1742-A2CB-80CB25D60B52}" type="sibTrans" cxnId="{99222A9F-D73A-0549-8058-621B0EF0276A}">
      <dgm:prSet/>
      <dgm:spPr/>
      <dgm:t>
        <a:bodyPr/>
        <a:lstStyle/>
        <a:p>
          <a:endParaRPr lang="en-GB"/>
        </a:p>
      </dgm:t>
    </dgm:pt>
    <dgm:pt modelId="{187A065F-7C1B-3A49-9E2D-E2734B9B17BA}">
      <dgm:prSet custT="1"/>
      <dgm:spPr/>
      <dgm:t>
        <a:bodyPr/>
        <a:lstStyle/>
        <a:p>
          <a:r>
            <a:rPr lang="en-MY" sz="2400" dirty="0"/>
            <a:t>Translating DFD to Structure Chart</a:t>
          </a:r>
        </a:p>
      </dgm:t>
    </dgm:pt>
    <dgm:pt modelId="{5E700E12-5F79-434F-A5B3-32A3066A8B52}" type="parTrans" cxnId="{F6FFAA89-6E3A-5647-966E-117DC48F4203}">
      <dgm:prSet/>
      <dgm:spPr/>
      <dgm:t>
        <a:bodyPr/>
        <a:lstStyle/>
        <a:p>
          <a:endParaRPr lang="en-GB"/>
        </a:p>
      </dgm:t>
    </dgm:pt>
    <dgm:pt modelId="{F4DC76C3-1FE8-AD4C-9C95-EC72078782F6}" type="sibTrans" cxnId="{F6FFAA89-6E3A-5647-966E-117DC48F4203}">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1">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1">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35EDA924-17F1-6E4D-9EF3-33CFDEA0B23B}" type="presOf" srcId="{27D4C289-2C43-8348-A08D-F8E751585A4E}" destId="{8C44A406-9567-204D-9E84-60F98F7D9983}" srcOrd="0" destOrd="1" presId="urn:microsoft.com/office/officeart/2005/8/layout/vList5"/>
    <dgm:cxn modelId="{6A891B55-669D-4243-B528-3201E49C598D}" srcId="{66E13D44-AA4E-B140-965B-FB71BC866BAD}" destId="{525FF7B7-45DF-FA40-BA8F-C3AA0B2AD2CA}" srcOrd="0" destOrd="0" parTransId="{44614C75-33C9-1346-AE33-01AF9E91DA71}" sibTransId="{FBB7AF22-E434-544A-BCC1-0E1B0B2AC122}"/>
    <dgm:cxn modelId="{C7E80073-C806-B148-82E8-9E834E178DFE}" type="presOf" srcId="{525FF7B7-45DF-FA40-BA8F-C3AA0B2AD2CA}" destId="{3E0D387A-B967-1140-8AD6-3ED717D320AA}" srcOrd="0" destOrd="0" presId="urn:microsoft.com/office/officeart/2005/8/layout/vList5"/>
    <dgm:cxn modelId="{F6FFAA89-6E3A-5647-966E-117DC48F4203}" srcId="{525FF7B7-45DF-FA40-BA8F-C3AA0B2AD2CA}" destId="{187A065F-7C1B-3A49-9E2D-E2734B9B17BA}" srcOrd="2" destOrd="0" parTransId="{5E700E12-5F79-434F-A5B3-32A3066A8B52}" sibTransId="{F4DC76C3-1FE8-AD4C-9C95-EC72078782F6}"/>
    <dgm:cxn modelId="{99222A9F-D73A-0549-8058-621B0EF0276A}" srcId="{525FF7B7-45DF-FA40-BA8F-C3AA0B2AD2CA}" destId="{27D4C289-2C43-8348-A08D-F8E751585A4E}" srcOrd="1" destOrd="0" parTransId="{576181E8-7F6A-704E-8F55-C02B67673001}" sibTransId="{F6F03FE2-D1AB-1742-A2CB-80CB25D60B52}"/>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9D5D1DEA-06FE-C643-9868-ACC970FC5E25}" type="presOf" srcId="{187A065F-7C1B-3A49-9E2D-E2734B9B17BA}" destId="{8C44A406-9567-204D-9E84-60F98F7D9983}" srcOrd="0" destOrd="2"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26C91F-A71C-224B-9BA4-79A4CAB90314}" type="doc">
      <dgm:prSet loTypeId="urn:microsoft.com/office/officeart/2005/8/layout/bProcess3" loCatId="process" qsTypeId="urn:microsoft.com/office/officeart/2005/8/quickstyle/simple1" qsCatId="simple" csTypeId="urn:microsoft.com/office/officeart/2005/8/colors/colorful2" csCatId="colorful" phldr="1"/>
      <dgm:spPr/>
      <dgm:t>
        <a:bodyPr/>
        <a:lstStyle/>
        <a:p>
          <a:endParaRPr lang="en-GB"/>
        </a:p>
      </dgm:t>
    </dgm:pt>
    <dgm:pt modelId="{97735FC9-6F5C-6C47-85E0-C59A38127D47}">
      <dgm:prSet/>
      <dgm:spPr/>
      <dgm:t>
        <a:bodyPr/>
        <a:lstStyle/>
        <a:p>
          <a:r>
            <a:rPr lang="en-US" b="1" dirty="0"/>
            <a:t>STEP 1</a:t>
          </a:r>
        </a:p>
        <a:p>
          <a:r>
            <a:rPr lang="en-US" b="1" dirty="0"/>
            <a:t>Review the DFDs </a:t>
          </a:r>
          <a:endParaRPr lang="en-MY" b="1" dirty="0"/>
        </a:p>
      </dgm:t>
    </dgm:pt>
    <dgm:pt modelId="{156630D6-E944-774E-AB94-FE309FA8AE0F}" type="parTrans" cxnId="{54A59DB8-753D-BB4C-B829-81450B2E4E3F}">
      <dgm:prSet/>
      <dgm:spPr/>
      <dgm:t>
        <a:bodyPr/>
        <a:lstStyle/>
        <a:p>
          <a:endParaRPr lang="en-GB"/>
        </a:p>
      </dgm:t>
    </dgm:pt>
    <dgm:pt modelId="{F6DA26A6-6310-D64E-9743-47842AF5BFE5}" type="sibTrans" cxnId="{54A59DB8-753D-BB4C-B829-81450B2E4E3F}">
      <dgm:prSet/>
      <dgm:spPr>
        <a:ln w="28575">
          <a:solidFill>
            <a:schemeClr val="accent2">
              <a:lumMod val="75000"/>
            </a:schemeClr>
          </a:solidFill>
        </a:ln>
      </dgm:spPr>
      <dgm:t>
        <a:bodyPr/>
        <a:lstStyle/>
        <a:p>
          <a:endParaRPr lang="en-GB"/>
        </a:p>
      </dgm:t>
    </dgm:pt>
    <dgm:pt modelId="{545122C2-9D0B-FF41-A824-2E21E9B84781}">
      <dgm:prSet/>
      <dgm:spPr/>
      <dgm:t>
        <a:bodyPr/>
        <a:lstStyle/>
        <a:p>
          <a:r>
            <a:rPr lang="en-US" dirty="0"/>
            <a:t>Review all DFDs for accuracy and completeness</a:t>
          </a:r>
          <a:endParaRPr lang="en-MY" dirty="0"/>
        </a:p>
      </dgm:t>
    </dgm:pt>
    <dgm:pt modelId="{0ED9DF1B-7D59-8A43-B4BB-1246773D6812}" type="parTrans" cxnId="{31DC6D3C-E5E7-384D-AD18-985892341280}">
      <dgm:prSet/>
      <dgm:spPr/>
      <dgm:t>
        <a:bodyPr/>
        <a:lstStyle/>
        <a:p>
          <a:endParaRPr lang="en-GB"/>
        </a:p>
      </dgm:t>
    </dgm:pt>
    <dgm:pt modelId="{1C0CB52F-3DE2-2A45-BFC0-43978B993873}" type="sibTrans" cxnId="{31DC6D3C-E5E7-384D-AD18-985892341280}">
      <dgm:prSet/>
      <dgm:spPr/>
      <dgm:t>
        <a:bodyPr/>
        <a:lstStyle/>
        <a:p>
          <a:endParaRPr lang="en-GB"/>
        </a:p>
      </dgm:t>
    </dgm:pt>
    <dgm:pt modelId="{195C7501-2A8B-9945-A14E-562EE9349854}">
      <dgm:prSet/>
      <dgm:spPr/>
      <dgm:t>
        <a:bodyPr/>
        <a:lstStyle/>
        <a:p>
          <a:r>
            <a:rPr lang="en-US" b="1" dirty="0"/>
            <a:t>STEP 2</a:t>
          </a:r>
        </a:p>
        <a:p>
          <a:r>
            <a:rPr lang="en-US" b="1" dirty="0"/>
            <a:t>Identify Modules and Relationships</a:t>
          </a:r>
          <a:endParaRPr lang="en-MY" b="1" dirty="0"/>
        </a:p>
      </dgm:t>
    </dgm:pt>
    <dgm:pt modelId="{FA8C42C6-B377-5547-AC0B-71C651CFDBCA}" type="parTrans" cxnId="{13F20CD0-7115-6346-BADC-91111EC35CA8}">
      <dgm:prSet/>
      <dgm:spPr/>
      <dgm:t>
        <a:bodyPr/>
        <a:lstStyle/>
        <a:p>
          <a:endParaRPr lang="en-GB"/>
        </a:p>
      </dgm:t>
    </dgm:pt>
    <dgm:pt modelId="{1011D8C0-8C13-CE43-B2CD-C01984228343}" type="sibTrans" cxnId="{13F20CD0-7115-6346-BADC-91111EC35CA8}">
      <dgm:prSet/>
      <dgm:spPr>
        <a:ln w="28575">
          <a:solidFill>
            <a:schemeClr val="accent2">
              <a:lumMod val="75000"/>
            </a:schemeClr>
          </a:solidFill>
        </a:ln>
      </dgm:spPr>
      <dgm:t>
        <a:bodyPr/>
        <a:lstStyle/>
        <a:p>
          <a:endParaRPr lang="en-GB"/>
        </a:p>
      </dgm:t>
    </dgm:pt>
    <dgm:pt modelId="{D918E3D3-D33D-2D4C-9494-8A4920A1D5D2}">
      <dgm:prSet/>
      <dgm:spPr/>
      <dgm:t>
        <a:bodyPr/>
        <a:lstStyle/>
        <a:p>
          <a:r>
            <a:rPr lang="en-US" dirty="0"/>
            <a:t>Transform functional primitives or object methods into program modules</a:t>
          </a:r>
          <a:endParaRPr lang="en-MY" dirty="0"/>
        </a:p>
      </dgm:t>
    </dgm:pt>
    <dgm:pt modelId="{85F31349-6AD2-004A-81F1-659FAA5420EE}" type="parTrans" cxnId="{BA75CC54-FED6-9E46-B707-3207AE33DC79}">
      <dgm:prSet/>
      <dgm:spPr/>
      <dgm:t>
        <a:bodyPr/>
        <a:lstStyle/>
        <a:p>
          <a:endParaRPr lang="en-GB"/>
        </a:p>
      </dgm:t>
    </dgm:pt>
    <dgm:pt modelId="{FE5E62FA-7B09-F54A-A273-2A292E0D8250}" type="sibTrans" cxnId="{BA75CC54-FED6-9E46-B707-3207AE33DC79}">
      <dgm:prSet/>
      <dgm:spPr/>
      <dgm:t>
        <a:bodyPr/>
        <a:lstStyle/>
        <a:p>
          <a:endParaRPr lang="en-GB"/>
        </a:p>
      </dgm:t>
    </dgm:pt>
    <dgm:pt modelId="{C07AF179-B41A-2640-A08E-B06761D83E27}">
      <dgm:prSet/>
      <dgm:spPr/>
      <dgm:t>
        <a:bodyPr/>
        <a:lstStyle/>
        <a:p>
          <a:r>
            <a:rPr lang="en-US" b="1" dirty="0"/>
            <a:t>STEP 3</a:t>
          </a:r>
        </a:p>
        <a:p>
          <a:r>
            <a:rPr lang="en-US" b="1" dirty="0"/>
            <a:t>Add Couples, Loops, and Conditions</a:t>
          </a:r>
          <a:endParaRPr lang="en-MY" b="1" dirty="0"/>
        </a:p>
      </dgm:t>
    </dgm:pt>
    <dgm:pt modelId="{BBD98EB2-EBB0-5140-B8C3-D7E7FC60831B}" type="parTrans" cxnId="{A2416E83-D024-174A-8451-55A98D15E8DD}">
      <dgm:prSet/>
      <dgm:spPr/>
      <dgm:t>
        <a:bodyPr/>
        <a:lstStyle/>
        <a:p>
          <a:endParaRPr lang="en-GB"/>
        </a:p>
      </dgm:t>
    </dgm:pt>
    <dgm:pt modelId="{A3345DBB-90EC-234A-8627-EF64A80A6F2B}" type="sibTrans" cxnId="{A2416E83-D024-174A-8451-55A98D15E8DD}">
      <dgm:prSet/>
      <dgm:spPr>
        <a:ln w="28575">
          <a:solidFill>
            <a:schemeClr val="accent2">
              <a:lumMod val="75000"/>
            </a:schemeClr>
          </a:solidFill>
        </a:ln>
      </dgm:spPr>
      <dgm:t>
        <a:bodyPr/>
        <a:lstStyle/>
        <a:p>
          <a:endParaRPr lang="en-GB"/>
        </a:p>
      </dgm:t>
    </dgm:pt>
    <dgm:pt modelId="{BC0068AF-A03A-454C-A95E-0AD982FF9F0C}">
      <dgm:prSet/>
      <dgm:spPr/>
      <dgm:t>
        <a:bodyPr/>
        <a:lstStyle/>
        <a:p>
          <a:r>
            <a:rPr lang="en-US" dirty="0"/>
            <a:t>Identify the data elements that pass from one module to another</a:t>
          </a:r>
          <a:endParaRPr lang="en-MY" dirty="0"/>
        </a:p>
      </dgm:t>
    </dgm:pt>
    <dgm:pt modelId="{1894F432-AFDA-894A-AEAA-7716E4CBCD92}" type="parTrans" cxnId="{C03F3469-A811-7246-B454-2D97AE88C2B2}">
      <dgm:prSet/>
      <dgm:spPr/>
      <dgm:t>
        <a:bodyPr/>
        <a:lstStyle/>
        <a:p>
          <a:endParaRPr lang="en-GB"/>
        </a:p>
      </dgm:t>
    </dgm:pt>
    <dgm:pt modelId="{C301AA55-A949-5D4A-B235-5D1537A933D7}" type="sibTrans" cxnId="{C03F3469-A811-7246-B454-2D97AE88C2B2}">
      <dgm:prSet/>
      <dgm:spPr/>
      <dgm:t>
        <a:bodyPr/>
        <a:lstStyle/>
        <a:p>
          <a:endParaRPr lang="en-GB"/>
        </a:p>
      </dgm:t>
    </dgm:pt>
    <dgm:pt modelId="{F9FB283A-A0B4-4044-8033-4A4843B33C2C}">
      <dgm:prSet/>
      <dgm:spPr/>
      <dgm:t>
        <a:bodyPr/>
        <a:lstStyle/>
        <a:p>
          <a:r>
            <a:rPr lang="en-US" b="1" dirty="0"/>
            <a:t>STEP 4</a:t>
          </a:r>
        </a:p>
        <a:p>
          <a:r>
            <a:rPr lang="en-US" b="1" dirty="0"/>
            <a:t>Analyze the Structure Chart and the Data Dictionary</a:t>
          </a:r>
          <a:endParaRPr lang="en-MY" b="1" dirty="0"/>
        </a:p>
      </dgm:t>
    </dgm:pt>
    <dgm:pt modelId="{0196669D-584C-C040-947A-295D7AF456EA}" type="parTrans" cxnId="{AB314B2C-6DBF-C44A-8BFE-36632898D3CB}">
      <dgm:prSet/>
      <dgm:spPr/>
      <dgm:t>
        <a:bodyPr/>
        <a:lstStyle/>
        <a:p>
          <a:endParaRPr lang="en-GB"/>
        </a:p>
      </dgm:t>
    </dgm:pt>
    <dgm:pt modelId="{9169277B-8535-4447-9AB2-0C6FB7296F33}" type="sibTrans" cxnId="{AB314B2C-6DBF-C44A-8BFE-36632898D3CB}">
      <dgm:prSet/>
      <dgm:spPr/>
      <dgm:t>
        <a:bodyPr/>
        <a:lstStyle/>
        <a:p>
          <a:endParaRPr lang="en-GB"/>
        </a:p>
      </dgm:t>
    </dgm:pt>
    <dgm:pt modelId="{BB3C097A-E5CF-094F-9F06-847FD3097809}">
      <dgm:prSet/>
      <dgm:spPr/>
      <dgm:t>
        <a:bodyPr/>
        <a:lstStyle/>
        <a:p>
          <a:r>
            <a:rPr lang="en-US" dirty="0"/>
            <a:t>Ensure that the chart reflects all previous documentation and that the logic is correct</a:t>
          </a:r>
          <a:endParaRPr lang="en-MY" dirty="0"/>
        </a:p>
      </dgm:t>
    </dgm:pt>
    <dgm:pt modelId="{1FF76D05-C0DC-5049-BCCF-6AD0241011BD}" type="parTrans" cxnId="{4E10D37A-4CDB-B144-8E2D-EC00AC1D67E7}">
      <dgm:prSet/>
      <dgm:spPr/>
      <dgm:t>
        <a:bodyPr/>
        <a:lstStyle/>
        <a:p>
          <a:endParaRPr lang="en-GB"/>
        </a:p>
      </dgm:t>
    </dgm:pt>
    <dgm:pt modelId="{7DD69913-D451-3848-ACB2-B7A751E5360F}" type="sibTrans" cxnId="{4E10D37A-4CDB-B144-8E2D-EC00AC1D67E7}">
      <dgm:prSet/>
      <dgm:spPr/>
      <dgm:t>
        <a:bodyPr/>
        <a:lstStyle/>
        <a:p>
          <a:endParaRPr lang="en-GB"/>
        </a:p>
      </dgm:t>
    </dgm:pt>
    <dgm:pt modelId="{98901D40-6547-B848-A61D-806877166A50}" type="pres">
      <dgm:prSet presAssocID="{CC26C91F-A71C-224B-9BA4-79A4CAB90314}" presName="Name0" presStyleCnt="0">
        <dgm:presLayoutVars>
          <dgm:dir/>
          <dgm:resizeHandles val="exact"/>
        </dgm:presLayoutVars>
      </dgm:prSet>
      <dgm:spPr/>
    </dgm:pt>
    <dgm:pt modelId="{BD99A835-8C2A-D34B-8262-F63C536230B7}" type="pres">
      <dgm:prSet presAssocID="{97735FC9-6F5C-6C47-85E0-C59A38127D47}" presName="node" presStyleLbl="node1" presStyleIdx="0" presStyleCnt="4">
        <dgm:presLayoutVars>
          <dgm:bulletEnabled val="1"/>
        </dgm:presLayoutVars>
      </dgm:prSet>
      <dgm:spPr/>
    </dgm:pt>
    <dgm:pt modelId="{58812654-354A-9440-AF97-CF529AF50D4F}" type="pres">
      <dgm:prSet presAssocID="{F6DA26A6-6310-D64E-9743-47842AF5BFE5}" presName="sibTrans" presStyleLbl="sibTrans1D1" presStyleIdx="0" presStyleCnt="3"/>
      <dgm:spPr/>
    </dgm:pt>
    <dgm:pt modelId="{5D253BE0-F751-4449-8B1D-57E2DF7A58CF}" type="pres">
      <dgm:prSet presAssocID="{F6DA26A6-6310-D64E-9743-47842AF5BFE5}" presName="connectorText" presStyleLbl="sibTrans1D1" presStyleIdx="0" presStyleCnt="3"/>
      <dgm:spPr/>
    </dgm:pt>
    <dgm:pt modelId="{44422F27-8C6A-2742-A13B-6FB017932421}" type="pres">
      <dgm:prSet presAssocID="{195C7501-2A8B-9945-A14E-562EE9349854}" presName="node" presStyleLbl="node1" presStyleIdx="1" presStyleCnt="4">
        <dgm:presLayoutVars>
          <dgm:bulletEnabled val="1"/>
        </dgm:presLayoutVars>
      </dgm:prSet>
      <dgm:spPr/>
    </dgm:pt>
    <dgm:pt modelId="{6B796D50-83AB-5C48-B809-59100CB67FD3}" type="pres">
      <dgm:prSet presAssocID="{1011D8C0-8C13-CE43-B2CD-C01984228343}" presName="sibTrans" presStyleLbl="sibTrans1D1" presStyleIdx="1" presStyleCnt="3"/>
      <dgm:spPr/>
    </dgm:pt>
    <dgm:pt modelId="{A2E45CFF-1251-9A4A-939F-46821567698E}" type="pres">
      <dgm:prSet presAssocID="{1011D8C0-8C13-CE43-B2CD-C01984228343}" presName="connectorText" presStyleLbl="sibTrans1D1" presStyleIdx="1" presStyleCnt="3"/>
      <dgm:spPr/>
    </dgm:pt>
    <dgm:pt modelId="{571BB70F-FB74-7D46-A746-76AF92368C58}" type="pres">
      <dgm:prSet presAssocID="{C07AF179-B41A-2640-A08E-B06761D83E27}" presName="node" presStyleLbl="node1" presStyleIdx="2" presStyleCnt="4">
        <dgm:presLayoutVars>
          <dgm:bulletEnabled val="1"/>
        </dgm:presLayoutVars>
      </dgm:prSet>
      <dgm:spPr/>
    </dgm:pt>
    <dgm:pt modelId="{8EC293AC-6DC7-C548-AF33-F0A995694D4C}" type="pres">
      <dgm:prSet presAssocID="{A3345DBB-90EC-234A-8627-EF64A80A6F2B}" presName="sibTrans" presStyleLbl="sibTrans1D1" presStyleIdx="2" presStyleCnt="3"/>
      <dgm:spPr/>
    </dgm:pt>
    <dgm:pt modelId="{EDFD94DB-BA3B-2244-AB68-4C4BA06CB67E}" type="pres">
      <dgm:prSet presAssocID="{A3345DBB-90EC-234A-8627-EF64A80A6F2B}" presName="connectorText" presStyleLbl="sibTrans1D1" presStyleIdx="2" presStyleCnt="3"/>
      <dgm:spPr/>
    </dgm:pt>
    <dgm:pt modelId="{B7CCB835-7AD2-604C-9C58-FE4DA475BFC3}" type="pres">
      <dgm:prSet presAssocID="{F9FB283A-A0B4-4044-8033-4A4843B33C2C}" presName="node" presStyleLbl="node1" presStyleIdx="3" presStyleCnt="4">
        <dgm:presLayoutVars>
          <dgm:bulletEnabled val="1"/>
        </dgm:presLayoutVars>
      </dgm:prSet>
      <dgm:spPr/>
    </dgm:pt>
  </dgm:ptLst>
  <dgm:cxnLst>
    <dgm:cxn modelId="{53EC7822-F05D-B647-8543-1B979CC32209}" type="presOf" srcId="{97735FC9-6F5C-6C47-85E0-C59A38127D47}" destId="{BD99A835-8C2A-D34B-8262-F63C536230B7}" srcOrd="0" destOrd="0" presId="urn:microsoft.com/office/officeart/2005/8/layout/bProcess3"/>
    <dgm:cxn modelId="{69927829-B615-9E4E-9862-8FAB58F78246}" type="presOf" srcId="{BB3C097A-E5CF-094F-9F06-847FD3097809}" destId="{B7CCB835-7AD2-604C-9C58-FE4DA475BFC3}" srcOrd="0" destOrd="1" presId="urn:microsoft.com/office/officeart/2005/8/layout/bProcess3"/>
    <dgm:cxn modelId="{39F6FD29-C689-414B-A6C8-19F802D97016}" type="presOf" srcId="{A3345DBB-90EC-234A-8627-EF64A80A6F2B}" destId="{EDFD94DB-BA3B-2244-AB68-4C4BA06CB67E}" srcOrd="1" destOrd="0" presId="urn:microsoft.com/office/officeart/2005/8/layout/bProcess3"/>
    <dgm:cxn modelId="{AB314B2C-6DBF-C44A-8BFE-36632898D3CB}" srcId="{CC26C91F-A71C-224B-9BA4-79A4CAB90314}" destId="{F9FB283A-A0B4-4044-8033-4A4843B33C2C}" srcOrd="3" destOrd="0" parTransId="{0196669D-584C-C040-947A-295D7AF456EA}" sibTransId="{9169277B-8535-4447-9AB2-0C6FB7296F33}"/>
    <dgm:cxn modelId="{31DC6D3C-E5E7-384D-AD18-985892341280}" srcId="{97735FC9-6F5C-6C47-85E0-C59A38127D47}" destId="{545122C2-9D0B-FF41-A824-2E21E9B84781}" srcOrd="0" destOrd="0" parTransId="{0ED9DF1B-7D59-8A43-B4BB-1246773D6812}" sibTransId="{1C0CB52F-3DE2-2A45-BFC0-43978B993873}"/>
    <dgm:cxn modelId="{A0B1073F-0DD8-1940-95E2-F261F7575256}" type="presOf" srcId="{D918E3D3-D33D-2D4C-9494-8A4920A1D5D2}" destId="{44422F27-8C6A-2742-A13B-6FB017932421}" srcOrd="0" destOrd="1" presId="urn:microsoft.com/office/officeart/2005/8/layout/bProcess3"/>
    <dgm:cxn modelId="{63543646-0608-F245-AF28-185DE5CE24CE}" type="presOf" srcId="{195C7501-2A8B-9945-A14E-562EE9349854}" destId="{44422F27-8C6A-2742-A13B-6FB017932421}" srcOrd="0" destOrd="0" presId="urn:microsoft.com/office/officeart/2005/8/layout/bProcess3"/>
    <dgm:cxn modelId="{B7D87949-3A86-9B49-A65E-3B6B163D8696}" type="presOf" srcId="{F6DA26A6-6310-D64E-9743-47842AF5BFE5}" destId="{5D253BE0-F751-4449-8B1D-57E2DF7A58CF}" srcOrd="1" destOrd="0" presId="urn:microsoft.com/office/officeart/2005/8/layout/bProcess3"/>
    <dgm:cxn modelId="{BA75CC54-FED6-9E46-B707-3207AE33DC79}" srcId="{195C7501-2A8B-9945-A14E-562EE9349854}" destId="{D918E3D3-D33D-2D4C-9494-8A4920A1D5D2}" srcOrd="0" destOrd="0" parTransId="{85F31349-6AD2-004A-81F1-659FAA5420EE}" sibTransId="{FE5E62FA-7B09-F54A-A273-2A292E0D8250}"/>
    <dgm:cxn modelId="{CA692E5B-CA4E-BF4D-BC52-ACFCCD18DFF3}" type="presOf" srcId="{545122C2-9D0B-FF41-A824-2E21E9B84781}" destId="{BD99A835-8C2A-D34B-8262-F63C536230B7}" srcOrd="0" destOrd="1" presId="urn:microsoft.com/office/officeart/2005/8/layout/bProcess3"/>
    <dgm:cxn modelId="{C03F3469-A811-7246-B454-2D97AE88C2B2}" srcId="{C07AF179-B41A-2640-A08E-B06761D83E27}" destId="{BC0068AF-A03A-454C-A95E-0AD982FF9F0C}" srcOrd="0" destOrd="0" parTransId="{1894F432-AFDA-894A-AEAA-7716E4CBCD92}" sibTransId="{C301AA55-A949-5D4A-B235-5D1537A933D7}"/>
    <dgm:cxn modelId="{0F434475-83EE-7A44-9EEE-33692AC45B0C}" type="presOf" srcId="{CC26C91F-A71C-224B-9BA4-79A4CAB90314}" destId="{98901D40-6547-B848-A61D-806877166A50}" srcOrd="0" destOrd="0" presId="urn:microsoft.com/office/officeart/2005/8/layout/bProcess3"/>
    <dgm:cxn modelId="{4E10D37A-4CDB-B144-8E2D-EC00AC1D67E7}" srcId="{F9FB283A-A0B4-4044-8033-4A4843B33C2C}" destId="{BB3C097A-E5CF-094F-9F06-847FD3097809}" srcOrd="0" destOrd="0" parTransId="{1FF76D05-C0DC-5049-BCCF-6AD0241011BD}" sibTransId="{7DD69913-D451-3848-ACB2-B7A751E5360F}"/>
    <dgm:cxn modelId="{A2416E83-D024-174A-8451-55A98D15E8DD}" srcId="{CC26C91F-A71C-224B-9BA4-79A4CAB90314}" destId="{C07AF179-B41A-2640-A08E-B06761D83E27}" srcOrd="2" destOrd="0" parTransId="{BBD98EB2-EBB0-5140-B8C3-D7E7FC60831B}" sibTransId="{A3345DBB-90EC-234A-8627-EF64A80A6F2B}"/>
    <dgm:cxn modelId="{C2021D86-FBFA-BA41-A495-FAC19D75CCD1}" type="presOf" srcId="{BC0068AF-A03A-454C-A95E-0AD982FF9F0C}" destId="{571BB70F-FB74-7D46-A746-76AF92368C58}" srcOrd="0" destOrd="1" presId="urn:microsoft.com/office/officeart/2005/8/layout/bProcess3"/>
    <dgm:cxn modelId="{8B3FAA91-C6C2-DC4B-8D1F-04598129C95A}" type="presOf" srcId="{1011D8C0-8C13-CE43-B2CD-C01984228343}" destId="{A2E45CFF-1251-9A4A-939F-46821567698E}" srcOrd="1" destOrd="0" presId="urn:microsoft.com/office/officeart/2005/8/layout/bProcess3"/>
    <dgm:cxn modelId="{23564193-D422-C348-B030-91B82CE599E1}" type="presOf" srcId="{C07AF179-B41A-2640-A08E-B06761D83E27}" destId="{571BB70F-FB74-7D46-A746-76AF92368C58}" srcOrd="0" destOrd="0" presId="urn:microsoft.com/office/officeart/2005/8/layout/bProcess3"/>
    <dgm:cxn modelId="{AD354B94-1EA2-4A48-9392-A90650FAC146}" type="presOf" srcId="{F9FB283A-A0B4-4044-8033-4A4843B33C2C}" destId="{B7CCB835-7AD2-604C-9C58-FE4DA475BFC3}" srcOrd="0" destOrd="0" presId="urn:microsoft.com/office/officeart/2005/8/layout/bProcess3"/>
    <dgm:cxn modelId="{EA5BF6AC-79C1-1D4B-A729-82A18CB9812D}" type="presOf" srcId="{A3345DBB-90EC-234A-8627-EF64A80A6F2B}" destId="{8EC293AC-6DC7-C548-AF33-F0A995694D4C}" srcOrd="0" destOrd="0" presId="urn:microsoft.com/office/officeart/2005/8/layout/bProcess3"/>
    <dgm:cxn modelId="{54A59DB8-753D-BB4C-B829-81450B2E4E3F}" srcId="{CC26C91F-A71C-224B-9BA4-79A4CAB90314}" destId="{97735FC9-6F5C-6C47-85E0-C59A38127D47}" srcOrd="0" destOrd="0" parTransId="{156630D6-E944-774E-AB94-FE309FA8AE0F}" sibTransId="{F6DA26A6-6310-D64E-9743-47842AF5BFE5}"/>
    <dgm:cxn modelId="{13F20CD0-7115-6346-BADC-91111EC35CA8}" srcId="{CC26C91F-A71C-224B-9BA4-79A4CAB90314}" destId="{195C7501-2A8B-9945-A14E-562EE9349854}" srcOrd="1" destOrd="0" parTransId="{FA8C42C6-B377-5547-AC0B-71C651CFDBCA}" sibTransId="{1011D8C0-8C13-CE43-B2CD-C01984228343}"/>
    <dgm:cxn modelId="{3A8EA3DD-8AE0-064E-9570-1CE9028EC415}" type="presOf" srcId="{F6DA26A6-6310-D64E-9743-47842AF5BFE5}" destId="{58812654-354A-9440-AF97-CF529AF50D4F}" srcOrd="0" destOrd="0" presId="urn:microsoft.com/office/officeart/2005/8/layout/bProcess3"/>
    <dgm:cxn modelId="{12F923E5-B885-A646-8068-F16BB31D75E8}" type="presOf" srcId="{1011D8C0-8C13-CE43-B2CD-C01984228343}" destId="{6B796D50-83AB-5C48-B809-59100CB67FD3}" srcOrd="0" destOrd="0" presId="urn:microsoft.com/office/officeart/2005/8/layout/bProcess3"/>
    <dgm:cxn modelId="{CBE14AA8-38FE-9F45-AE43-28CA0AAAAB0F}" type="presParOf" srcId="{98901D40-6547-B848-A61D-806877166A50}" destId="{BD99A835-8C2A-D34B-8262-F63C536230B7}" srcOrd="0" destOrd="0" presId="urn:microsoft.com/office/officeart/2005/8/layout/bProcess3"/>
    <dgm:cxn modelId="{C23B95A9-5612-444C-B8FF-8ACE111342F8}" type="presParOf" srcId="{98901D40-6547-B848-A61D-806877166A50}" destId="{58812654-354A-9440-AF97-CF529AF50D4F}" srcOrd="1" destOrd="0" presId="urn:microsoft.com/office/officeart/2005/8/layout/bProcess3"/>
    <dgm:cxn modelId="{8318BBD4-A00E-EB45-B1D0-5CF0E50B3CC9}" type="presParOf" srcId="{58812654-354A-9440-AF97-CF529AF50D4F}" destId="{5D253BE0-F751-4449-8B1D-57E2DF7A58CF}" srcOrd="0" destOrd="0" presId="urn:microsoft.com/office/officeart/2005/8/layout/bProcess3"/>
    <dgm:cxn modelId="{3616F545-6147-8741-964A-FB07960A7FDC}" type="presParOf" srcId="{98901D40-6547-B848-A61D-806877166A50}" destId="{44422F27-8C6A-2742-A13B-6FB017932421}" srcOrd="2" destOrd="0" presId="urn:microsoft.com/office/officeart/2005/8/layout/bProcess3"/>
    <dgm:cxn modelId="{8C94AC06-3F0B-DB40-8439-65DACEA794B7}" type="presParOf" srcId="{98901D40-6547-B848-A61D-806877166A50}" destId="{6B796D50-83AB-5C48-B809-59100CB67FD3}" srcOrd="3" destOrd="0" presId="urn:microsoft.com/office/officeart/2005/8/layout/bProcess3"/>
    <dgm:cxn modelId="{8B1FADEA-0803-2C40-8AAD-BE5AC6970D42}" type="presParOf" srcId="{6B796D50-83AB-5C48-B809-59100CB67FD3}" destId="{A2E45CFF-1251-9A4A-939F-46821567698E}" srcOrd="0" destOrd="0" presId="urn:microsoft.com/office/officeart/2005/8/layout/bProcess3"/>
    <dgm:cxn modelId="{062312C0-F9DB-654A-A402-0143DE4E80AB}" type="presParOf" srcId="{98901D40-6547-B848-A61D-806877166A50}" destId="{571BB70F-FB74-7D46-A746-76AF92368C58}" srcOrd="4" destOrd="0" presId="urn:microsoft.com/office/officeart/2005/8/layout/bProcess3"/>
    <dgm:cxn modelId="{2E06AA04-4EF0-8446-9703-43FC10B023C1}" type="presParOf" srcId="{98901D40-6547-B848-A61D-806877166A50}" destId="{8EC293AC-6DC7-C548-AF33-F0A995694D4C}" srcOrd="5" destOrd="0" presId="urn:microsoft.com/office/officeart/2005/8/layout/bProcess3"/>
    <dgm:cxn modelId="{8359E3A1-249A-244B-B923-52ADDCBCC55D}" type="presParOf" srcId="{8EC293AC-6DC7-C548-AF33-F0A995694D4C}" destId="{EDFD94DB-BA3B-2244-AB68-4C4BA06CB67E}" srcOrd="0" destOrd="0" presId="urn:microsoft.com/office/officeart/2005/8/layout/bProcess3"/>
    <dgm:cxn modelId="{2768432E-1690-3C41-8BA1-7E5BA659EFA1}" type="presParOf" srcId="{98901D40-6547-B848-A61D-806877166A50}" destId="{B7CCB835-7AD2-604C-9C58-FE4DA475BFC3}"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custT="1"/>
      <dgm:spPr>
        <a:solidFill>
          <a:srgbClr val="B43500"/>
        </a:solidFill>
      </dgm:spPr>
      <dgm:t>
        <a:bodyPr/>
        <a:lstStyle/>
        <a:p>
          <a:r>
            <a:rPr lang="en-US" sz="4000" b="1" dirty="0"/>
            <a:t>ENTITY RELATIONSHIPS DIAGRAM</a:t>
          </a:r>
          <a:endParaRPr lang="en-MY" sz="4000" dirty="0"/>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a:solidFill>
          <a:srgbClr val="FFCB63"/>
        </a:solidFill>
      </dgm:spPr>
      <dgm:t>
        <a:bodyPr/>
        <a:lstStyle/>
        <a:p>
          <a:r>
            <a:rPr lang="en-MY" sz="2400" dirty="0"/>
            <a:t>ERD basic concepts</a:t>
          </a:r>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3D0F651B-6D4E-D742-AC31-03D8AA1664E6}">
      <dgm:prSet custT="1"/>
      <dgm:spPr>
        <a:solidFill>
          <a:srgbClr val="FFCB63"/>
        </a:solidFill>
      </dgm:spPr>
      <dgm:t>
        <a:bodyPr/>
        <a:lstStyle/>
        <a:p>
          <a:r>
            <a:rPr lang="en-MY" sz="2400" dirty="0"/>
            <a:t>DFD and ERD</a:t>
          </a:r>
        </a:p>
      </dgm:t>
    </dgm:pt>
    <dgm:pt modelId="{861DF079-C01A-C448-8F2C-D4BF9463DB3A}" type="parTrans" cxnId="{5B940193-C0DD-E94F-9A43-F826BF7946CA}">
      <dgm:prSet/>
      <dgm:spPr/>
      <dgm:t>
        <a:bodyPr/>
        <a:lstStyle/>
        <a:p>
          <a:endParaRPr lang="en-GB"/>
        </a:p>
      </dgm:t>
    </dgm:pt>
    <dgm:pt modelId="{394BCD05-6773-D846-9393-4148F9D983AB}" type="sibTrans" cxnId="{5B940193-C0DD-E94F-9A43-F826BF7946CA}">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1">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1">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6A891B55-669D-4243-B528-3201E49C598D}" srcId="{66E13D44-AA4E-B140-965B-FB71BC866BAD}" destId="{525FF7B7-45DF-FA40-BA8F-C3AA0B2AD2CA}" srcOrd="0" destOrd="0" parTransId="{44614C75-33C9-1346-AE33-01AF9E91DA71}" sibTransId="{FBB7AF22-E434-544A-BCC1-0E1B0B2AC122}"/>
    <dgm:cxn modelId="{E40D3C61-7169-EE4B-A9FC-FE82C11ECDC5}" type="presOf" srcId="{3D0F651B-6D4E-D742-AC31-03D8AA1664E6}" destId="{8C44A406-9567-204D-9E84-60F98F7D9983}" srcOrd="0" destOrd="1" presId="urn:microsoft.com/office/officeart/2005/8/layout/vList5"/>
    <dgm:cxn modelId="{C7E80073-C806-B148-82E8-9E834E178DFE}" type="presOf" srcId="{525FF7B7-45DF-FA40-BA8F-C3AA0B2AD2CA}" destId="{3E0D387A-B967-1140-8AD6-3ED717D320AA}" srcOrd="0" destOrd="0" presId="urn:microsoft.com/office/officeart/2005/8/layout/vList5"/>
    <dgm:cxn modelId="{5B940193-C0DD-E94F-9A43-F826BF7946CA}" srcId="{525FF7B7-45DF-FA40-BA8F-C3AA0B2AD2CA}" destId="{3D0F651B-6D4E-D742-AC31-03D8AA1664E6}" srcOrd="1" destOrd="0" parTransId="{861DF079-C01A-C448-8F2C-D4BF9463DB3A}" sibTransId="{394BCD05-6773-D846-9393-4148F9D983AB}"/>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7002387" y="-2711865"/>
          <a:ext cx="1496844" cy="729488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Structure chart symbols</a:t>
          </a:r>
          <a:endParaRPr lang="en-MY" sz="2400" kern="1200" dirty="0"/>
        </a:p>
        <a:p>
          <a:pPr marL="228600" lvl="1" indent="-228600" algn="l" defTabSz="1066800">
            <a:lnSpc>
              <a:spcPct val="90000"/>
            </a:lnSpc>
            <a:spcBef>
              <a:spcPct val="0"/>
            </a:spcBef>
            <a:spcAft>
              <a:spcPct val="15000"/>
            </a:spcAft>
            <a:buChar char="•"/>
          </a:pPr>
          <a:r>
            <a:rPr lang="en-US" sz="2400" kern="1200" dirty="0"/>
            <a:t>Guideline for drawing structure chart</a:t>
          </a:r>
          <a:endParaRPr lang="en-MY" sz="2400" kern="1200" dirty="0"/>
        </a:p>
        <a:p>
          <a:pPr marL="228600" lvl="1" indent="-228600" algn="l" defTabSz="1066800">
            <a:lnSpc>
              <a:spcPct val="90000"/>
            </a:lnSpc>
            <a:spcBef>
              <a:spcPct val="0"/>
            </a:spcBef>
            <a:spcAft>
              <a:spcPct val="15000"/>
            </a:spcAft>
            <a:buChar char="•"/>
          </a:pPr>
          <a:r>
            <a:rPr lang="en-MY" sz="2400" kern="1200" dirty="0"/>
            <a:t>Translating DFD to Structure Chart</a:t>
          </a:r>
        </a:p>
      </dsp:txBody>
      <dsp:txXfrm rot="-5400000">
        <a:off x="4103369" y="260223"/>
        <a:ext cx="7221810" cy="1350704"/>
      </dsp:txXfrm>
    </dsp:sp>
    <dsp:sp modelId="{3E0D387A-B967-1140-8AD6-3ED717D320AA}">
      <dsp:nvSpPr>
        <dsp:cNvPr id="0" name=""/>
        <dsp:cNvSpPr/>
      </dsp:nvSpPr>
      <dsp:spPr>
        <a:xfrm>
          <a:off x="0" y="46"/>
          <a:ext cx="4103370" cy="187105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b="1" kern="1200" dirty="0"/>
            <a:t>STRUCTURE CHART</a:t>
          </a:r>
          <a:endParaRPr lang="en-MY" sz="3600" kern="1200" dirty="0"/>
        </a:p>
      </dsp:txBody>
      <dsp:txXfrm>
        <a:off x="91337" y="91383"/>
        <a:ext cx="3920696" cy="1688381"/>
      </dsp:txXfrm>
    </dsp:sp>
    <dsp:sp modelId="{30D41C04-0840-D141-A88D-FA44AB020792}">
      <dsp:nvSpPr>
        <dsp:cNvPr id="0" name=""/>
        <dsp:cNvSpPr/>
      </dsp:nvSpPr>
      <dsp:spPr>
        <a:xfrm rot="5400000">
          <a:off x="7002387" y="-747257"/>
          <a:ext cx="1496844" cy="7294880"/>
        </a:xfrm>
        <a:prstGeom prst="round2Same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MY" sz="2400" kern="1200" dirty="0"/>
            <a:t>ERD basic concepts</a:t>
          </a:r>
        </a:p>
        <a:p>
          <a:pPr marL="228600" lvl="1" indent="-228600" algn="l" defTabSz="1066800">
            <a:lnSpc>
              <a:spcPct val="90000"/>
            </a:lnSpc>
            <a:spcBef>
              <a:spcPct val="0"/>
            </a:spcBef>
            <a:spcAft>
              <a:spcPct val="15000"/>
            </a:spcAft>
            <a:buChar char="•"/>
          </a:pPr>
          <a:r>
            <a:rPr lang="en-MY" sz="2400" kern="1200" dirty="0"/>
            <a:t>DFD and ERD</a:t>
          </a:r>
        </a:p>
      </dsp:txBody>
      <dsp:txXfrm rot="-5400000">
        <a:off x="4103369" y="2224831"/>
        <a:ext cx="7221810" cy="1350704"/>
      </dsp:txXfrm>
    </dsp:sp>
    <dsp:sp modelId="{0F5C74DA-8593-D54A-8A8A-E5B629D54B1F}">
      <dsp:nvSpPr>
        <dsp:cNvPr id="0" name=""/>
        <dsp:cNvSpPr/>
      </dsp:nvSpPr>
      <dsp:spPr>
        <a:xfrm>
          <a:off x="0" y="1964654"/>
          <a:ext cx="4103370" cy="1871055"/>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b="1" kern="1200" dirty="0"/>
            <a:t>ENTITY RELATIONSHIPS DIAGRAM (ERD)</a:t>
          </a:r>
          <a:endParaRPr lang="en-MY" sz="3600" kern="1200" dirty="0"/>
        </a:p>
      </dsp:txBody>
      <dsp:txXfrm>
        <a:off x="91337" y="2055991"/>
        <a:ext cx="3920696" cy="16883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6830573" y="-2497145"/>
          <a:ext cx="1840472" cy="729488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Structure chart symbols</a:t>
          </a:r>
          <a:endParaRPr lang="en-MY" sz="2400" kern="1200" dirty="0"/>
        </a:p>
        <a:p>
          <a:pPr marL="228600" lvl="1" indent="-228600" algn="l" defTabSz="1066800">
            <a:lnSpc>
              <a:spcPct val="90000"/>
            </a:lnSpc>
            <a:spcBef>
              <a:spcPct val="0"/>
            </a:spcBef>
            <a:spcAft>
              <a:spcPct val="15000"/>
            </a:spcAft>
            <a:buChar char="•"/>
          </a:pPr>
          <a:r>
            <a:rPr lang="en-US" sz="2400" kern="1200" dirty="0"/>
            <a:t>Guideline for drawing structure chart</a:t>
          </a:r>
          <a:endParaRPr lang="en-MY" sz="2400" kern="1200" dirty="0"/>
        </a:p>
        <a:p>
          <a:pPr marL="228600" lvl="1" indent="-228600" algn="l" defTabSz="1066800">
            <a:lnSpc>
              <a:spcPct val="90000"/>
            </a:lnSpc>
            <a:spcBef>
              <a:spcPct val="0"/>
            </a:spcBef>
            <a:spcAft>
              <a:spcPct val="15000"/>
            </a:spcAft>
            <a:buChar char="•"/>
          </a:pPr>
          <a:r>
            <a:rPr lang="en-MY" sz="2400" kern="1200" dirty="0"/>
            <a:t>Translating DFD to Structure Chart</a:t>
          </a:r>
        </a:p>
      </dsp:txBody>
      <dsp:txXfrm rot="-5400000">
        <a:off x="4103369" y="319903"/>
        <a:ext cx="7205036" cy="1660784"/>
      </dsp:txXfrm>
    </dsp:sp>
    <dsp:sp modelId="{3E0D387A-B967-1140-8AD6-3ED717D320AA}">
      <dsp:nvSpPr>
        <dsp:cNvPr id="0" name=""/>
        <dsp:cNvSpPr/>
      </dsp:nvSpPr>
      <dsp:spPr>
        <a:xfrm>
          <a:off x="0" y="0"/>
          <a:ext cx="4103370" cy="230059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b="1" kern="1200" dirty="0"/>
            <a:t>STRUCTURE CHART</a:t>
          </a:r>
          <a:endParaRPr lang="en-MY" sz="4800" kern="1200" dirty="0"/>
        </a:p>
      </dsp:txBody>
      <dsp:txXfrm>
        <a:off x="112306" y="112306"/>
        <a:ext cx="3878758" cy="20759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812654-354A-9440-AF97-CF529AF50D4F}">
      <dsp:nvSpPr>
        <dsp:cNvPr id="0" name=""/>
        <dsp:cNvSpPr/>
      </dsp:nvSpPr>
      <dsp:spPr>
        <a:xfrm>
          <a:off x="5059903" y="1028954"/>
          <a:ext cx="793106" cy="91440"/>
        </a:xfrm>
        <a:custGeom>
          <a:avLst/>
          <a:gdLst/>
          <a:ahLst/>
          <a:cxnLst/>
          <a:rect l="0" t="0" r="0" b="0"/>
          <a:pathLst>
            <a:path>
              <a:moveTo>
                <a:pt x="0" y="45720"/>
              </a:moveTo>
              <a:lnTo>
                <a:pt x="793106" y="45720"/>
              </a:lnTo>
            </a:path>
          </a:pathLst>
        </a:custGeom>
        <a:noFill/>
        <a:ln w="28575" cap="flat" cmpd="sng" algn="ctr">
          <a:solidFill>
            <a:schemeClr val="accent2">
              <a:lumMod val="7500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435864" y="1070556"/>
        <a:ext cx="41185" cy="8237"/>
      </dsp:txXfrm>
    </dsp:sp>
    <dsp:sp modelId="{BD99A835-8C2A-D34B-8262-F63C536230B7}">
      <dsp:nvSpPr>
        <dsp:cNvPr id="0" name=""/>
        <dsp:cNvSpPr/>
      </dsp:nvSpPr>
      <dsp:spPr>
        <a:xfrm>
          <a:off x="1480372" y="275"/>
          <a:ext cx="3581331" cy="214879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t>STEP 1</a:t>
          </a:r>
        </a:p>
        <a:p>
          <a:pPr marL="0" lvl="0" indent="0" algn="l" defTabSz="933450">
            <a:lnSpc>
              <a:spcPct val="90000"/>
            </a:lnSpc>
            <a:spcBef>
              <a:spcPct val="0"/>
            </a:spcBef>
            <a:spcAft>
              <a:spcPct val="35000"/>
            </a:spcAft>
            <a:buNone/>
          </a:pPr>
          <a:r>
            <a:rPr lang="en-US" sz="2100" b="1" kern="1200" dirty="0"/>
            <a:t>Review the DFDs </a:t>
          </a:r>
          <a:endParaRPr lang="en-MY" sz="2100" b="1" kern="1200" dirty="0"/>
        </a:p>
        <a:p>
          <a:pPr marL="171450" lvl="1" indent="-171450" algn="l" defTabSz="711200">
            <a:lnSpc>
              <a:spcPct val="90000"/>
            </a:lnSpc>
            <a:spcBef>
              <a:spcPct val="0"/>
            </a:spcBef>
            <a:spcAft>
              <a:spcPct val="15000"/>
            </a:spcAft>
            <a:buChar char="•"/>
          </a:pPr>
          <a:r>
            <a:rPr lang="en-US" sz="1600" kern="1200" dirty="0"/>
            <a:t>Review all DFDs for accuracy and completeness</a:t>
          </a:r>
          <a:endParaRPr lang="en-MY" sz="1600" kern="1200" dirty="0"/>
        </a:p>
      </dsp:txBody>
      <dsp:txXfrm>
        <a:off x="1480372" y="275"/>
        <a:ext cx="3581331" cy="2148798"/>
      </dsp:txXfrm>
    </dsp:sp>
    <dsp:sp modelId="{6B796D50-83AB-5C48-B809-59100CB67FD3}">
      <dsp:nvSpPr>
        <dsp:cNvPr id="0" name=""/>
        <dsp:cNvSpPr/>
      </dsp:nvSpPr>
      <dsp:spPr>
        <a:xfrm>
          <a:off x="3271038" y="2147273"/>
          <a:ext cx="4405037" cy="793106"/>
        </a:xfrm>
        <a:custGeom>
          <a:avLst/>
          <a:gdLst/>
          <a:ahLst/>
          <a:cxnLst/>
          <a:rect l="0" t="0" r="0" b="0"/>
          <a:pathLst>
            <a:path>
              <a:moveTo>
                <a:pt x="4405037" y="0"/>
              </a:moveTo>
              <a:lnTo>
                <a:pt x="4405037" y="413653"/>
              </a:lnTo>
              <a:lnTo>
                <a:pt x="0" y="413653"/>
              </a:lnTo>
              <a:lnTo>
                <a:pt x="0" y="793106"/>
              </a:lnTo>
            </a:path>
          </a:pathLst>
        </a:custGeom>
        <a:noFill/>
        <a:ln w="28575" cap="flat" cmpd="sng" algn="ctr">
          <a:solidFill>
            <a:schemeClr val="accent2">
              <a:lumMod val="7500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361522" y="2539708"/>
        <a:ext cx="224069" cy="8237"/>
      </dsp:txXfrm>
    </dsp:sp>
    <dsp:sp modelId="{44422F27-8C6A-2742-A13B-6FB017932421}">
      <dsp:nvSpPr>
        <dsp:cNvPr id="0" name=""/>
        <dsp:cNvSpPr/>
      </dsp:nvSpPr>
      <dsp:spPr>
        <a:xfrm>
          <a:off x="5885410" y="275"/>
          <a:ext cx="3581331" cy="2148798"/>
        </a:xfrm>
        <a:prstGeom prst="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t>STEP 2</a:t>
          </a:r>
        </a:p>
        <a:p>
          <a:pPr marL="0" lvl="0" indent="0" algn="l" defTabSz="933450">
            <a:lnSpc>
              <a:spcPct val="90000"/>
            </a:lnSpc>
            <a:spcBef>
              <a:spcPct val="0"/>
            </a:spcBef>
            <a:spcAft>
              <a:spcPct val="35000"/>
            </a:spcAft>
            <a:buNone/>
          </a:pPr>
          <a:r>
            <a:rPr lang="en-US" sz="2100" b="1" kern="1200" dirty="0"/>
            <a:t>Identify Modules and Relationships</a:t>
          </a:r>
          <a:endParaRPr lang="en-MY" sz="2100" b="1" kern="1200" dirty="0"/>
        </a:p>
        <a:p>
          <a:pPr marL="171450" lvl="1" indent="-171450" algn="l" defTabSz="711200">
            <a:lnSpc>
              <a:spcPct val="90000"/>
            </a:lnSpc>
            <a:spcBef>
              <a:spcPct val="0"/>
            </a:spcBef>
            <a:spcAft>
              <a:spcPct val="15000"/>
            </a:spcAft>
            <a:buChar char="•"/>
          </a:pPr>
          <a:r>
            <a:rPr lang="en-US" sz="1600" kern="1200" dirty="0"/>
            <a:t>Transform functional primitives or object methods into program modules</a:t>
          </a:r>
          <a:endParaRPr lang="en-MY" sz="1600" kern="1200" dirty="0"/>
        </a:p>
      </dsp:txBody>
      <dsp:txXfrm>
        <a:off x="5885410" y="275"/>
        <a:ext cx="3581331" cy="2148798"/>
      </dsp:txXfrm>
    </dsp:sp>
    <dsp:sp modelId="{8EC293AC-6DC7-C548-AF33-F0A995694D4C}">
      <dsp:nvSpPr>
        <dsp:cNvPr id="0" name=""/>
        <dsp:cNvSpPr/>
      </dsp:nvSpPr>
      <dsp:spPr>
        <a:xfrm>
          <a:off x="5059903" y="4001459"/>
          <a:ext cx="793106" cy="91440"/>
        </a:xfrm>
        <a:custGeom>
          <a:avLst/>
          <a:gdLst/>
          <a:ahLst/>
          <a:cxnLst/>
          <a:rect l="0" t="0" r="0" b="0"/>
          <a:pathLst>
            <a:path>
              <a:moveTo>
                <a:pt x="0" y="45720"/>
              </a:moveTo>
              <a:lnTo>
                <a:pt x="793106" y="45720"/>
              </a:lnTo>
            </a:path>
          </a:pathLst>
        </a:custGeom>
        <a:noFill/>
        <a:ln w="28575" cap="flat" cmpd="sng" algn="ctr">
          <a:solidFill>
            <a:schemeClr val="accent2">
              <a:lumMod val="7500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435864" y="4043060"/>
        <a:ext cx="41185" cy="8237"/>
      </dsp:txXfrm>
    </dsp:sp>
    <dsp:sp modelId="{571BB70F-FB74-7D46-A746-76AF92368C58}">
      <dsp:nvSpPr>
        <dsp:cNvPr id="0" name=""/>
        <dsp:cNvSpPr/>
      </dsp:nvSpPr>
      <dsp:spPr>
        <a:xfrm>
          <a:off x="1480372" y="2972780"/>
          <a:ext cx="3581331" cy="2148798"/>
        </a:xfrm>
        <a:prstGeom prst="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t>STEP 3</a:t>
          </a:r>
        </a:p>
        <a:p>
          <a:pPr marL="0" lvl="0" indent="0" algn="l" defTabSz="933450">
            <a:lnSpc>
              <a:spcPct val="90000"/>
            </a:lnSpc>
            <a:spcBef>
              <a:spcPct val="0"/>
            </a:spcBef>
            <a:spcAft>
              <a:spcPct val="35000"/>
            </a:spcAft>
            <a:buNone/>
          </a:pPr>
          <a:r>
            <a:rPr lang="en-US" sz="2100" b="1" kern="1200" dirty="0"/>
            <a:t>Add Couples, Loops, and Conditions</a:t>
          </a:r>
          <a:endParaRPr lang="en-MY" sz="2100" b="1" kern="1200" dirty="0"/>
        </a:p>
        <a:p>
          <a:pPr marL="171450" lvl="1" indent="-171450" algn="l" defTabSz="711200">
            <a:lnSpc>
              <a:spcPct val="90000"/>
            </a:lnSpc>
            <a:spcBef>
              <a:spcPct val="0"/>
            </a:spcBef>
            <a:spcAft>
              <a:spcPct val="15000"/>
            </a:spcAft>
            <a:buChar char="•"/>
          </a:pPr>
          <a:r>
            <a:rPr lang="en-US" sz="1600" kern="1200" dirty="0"/>
            <a:t>Identify the data elements that pass from one module to another</a:t>
          </a:r>
          <a:endParaRPr lang="en-MY" sz="1600" kern="1200" dirty="0"/>
        </a:p>
      </dsp:txBody>
      <dsp:txXfrm>
        <a:off x="1480372" y="2972780"/>
        <a:ext cx="3581331" cy="2148798"/>
      </dsp:txXfrm>
    </dsp:sp>
    <dsp:sp modelId="{B7CCB835-7AD2-604C-9C58-FE4DA475BFC3}">
      <dsp:nvSpPr>
        <dsp:cNvPr id="0" name=""/>
        <dsp:cNvSpPr/>
      </dsp:nvSpPr>
      <dsp:spPr>
        <a:xfrm>
          <a:off x="5885410" y="2972780"/>
          <a:ext cx="3581331" cy="2148798"/>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t>STEP 4</a:t>
          </a:r>
        </a:p>
        <a:p>
          <a:pPr marL="0" lvl="0" indent="0" algn="l" defTabSz="933450">
            <a:lnSpc>
              <a:spcPct val="90000"/>
            </a:lnSpc>
            <a:spcBef>
              <a:spcPct val="0"/>
            </a:spcBef>
            <a:spcAft>
              <a:spcPct val="35000"/>
            </a:spcAft>
            <a:buNone/>
          </a:pPr>
          <a:r>
            <a:rPr lang="en-US" sz="2100" b="1" kern="1200" dirty="0"/>
            <a:t>Analyze the Structure Chart and the Data Dictionary</a:t>
          </a:r>
          <a:endParaRPr lang="en-MY" sz="2100" b="1" kern="1200" dirty="0"/>
        </a:p>
        <a:p>
          <a:pPr marL="171450" lvl="1" indent="-171450" algn="l" defTabSz="711200">
            <a:lnSpc>
              <a:spcPct val="90000"/>
            </a:lnSpc>
            <a:spcBef>
              <a:spcPct val="0"/>
            </a:spcBef>
            <a:spcAft>
              <a:spcPct val="15000"/>
            </a:spcAft>
            <a:buChar char="•"/>
          </a:pPr>
          <a:r>
            <a:rPr lang="en-US" sz="1600" kern="1200" dirty="0"/>
            <a:t>Ensure that the chart reflects all previous documentation and that the logic is correct</a:t>
          </a:r>
          <a:endParaRPr lang="en-MY" sz="1600" kern="1200" dirty="0"/>
        </a:p>
      </dsp:txBody>
      <dsp:txXfrm>
        <a:off x="5885410" y="2972780"/>
        <a:ext cx="3581331" cy="21487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6830573" y="-2497145"/>
          <a:ext cx="1840472" cy="7294880"/>
        </a:xfrm>
        <a:prstGeom prst="round2SameRect">
          <a:avLst/>
        </a:prstGeom>
        <a:solidFill>
          <a:srgbClr val="FFCB63"/>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MY" sz="2400" kern="1200" dirty="0"/>
            <a:t>ERD basic concepts</a:t>
          </a:r>
        </a:p>
        <a:p>
          <a:pPr marL="228600" lvl="1" indent="-228600" algn="l" defTabSz="1066800">
            <a:lnSpc>
              <a:spcPct val="90000"/>
            </a:lnSpc>
            <a:spcBef>
              <a:spcPct val="0"/>
            </a:spcBef>
            <a:spcAft>
              <a:spcPct val="15000"/>
            </a:spcAft>
            <a:buChar char="•"/>
          </a:pPr>
          <a:r>
            <a:rPr lang="en-MY" sz="2400" kern="1200" dirty="0"/>
            <a:t>DFD and ERD</a:t>
          </a:r>
        </a:p>
      </dsp:txBody>
      <dsp:txXfrm rot="-5400000">
        <a:off x="4103369" y="319903"/>
        <a:ext cx="7205036" cy="1660784"/>
      </dsp:txXfrm>
    </dsp:sp>
    <dsp:sp modelId="{3E0D387A-B967-1140-8AD6-3ED717D320AA}">
      <dsp:nvSpPr>
        <dsp:cNvPr id="0" name=""/>
        <dsp:cNvSpPr/>
      </dsp:nvSpPr>
      <dsp:spPr>
        <a:xfrm>
          <a:off x="0" y="0"/>
          <a:ext cx="4103370" cy="2300590"/>
        </a:xfrm>
        <a:prstGeom prst="roundRect">
          <a:avLst/>
        </a:prstGeom>
        <a:solidFill>
          <a:srgbClr val="B435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b="1" kern="1200" dirty="0"/>
            <a:t>ENTITY RELATIONSHIPS DIAGRAM</a:t>
          </a:r>
          <a:endParaRPr lang="en-MY" sz="4000" kern="1200" dirty="0"/>
        </a:p>
      </dsp:txBody>
      <dsp:txXfrm>
        <a:off x="112306" y="112306"/>
        <a:ext cx="3878758" cy="207597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image" Target="../media/image25.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image" Target="../media/image28.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FBB964-91EE-6D44-9245-6E870FE243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658FCBC2-74CA-194C-A913-723B8183E3B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FBC8F580-752C-4144-A7C0-D9E2449D0345}" type="datetimeFigureOut">
              <a:rPr lang="en-US"/>
              <a:pPr>
                <a:defRPr/>
              </a:pPr>
              <a:t>8/27/19</a:t>
            </a:fld>
            <a:endParaRPr lang="en-US"/>
          </a:p>
        </p:txBody>
      </p:sp>
      <p:sp>
        <p:nvSpPr>
          <p:cNvPr id="4" name="Slide Image Placeholder 3">
            <a:extLst>
              <a:ext uri="{FF2B5EF4-FFF2-40B4-BE49-F238E27FC236}">
                <a16:creationId xmlns:a16="http://schemas.microsoft.com/office/drawing/2014/main" id="{A7D2939F-3B94-A446-A0D1-0F801799541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BF076F-1D3C-3E48-89BD-E060B7D92F1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6D919D35-AF4C-5F49-A32D-FABFE352C24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BA505E62-A327-8F4A-96E5-02D47B34D85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FEE6678C-B846-4645-BFC0-6717EC24A31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C5F3A7-A761-411F-ACE6-DB26C83CE66E}" type="slidenum">
              <a:rPr lang="en-US" smtClean="0"/>
              <a:pPr/>
              <a:t>23</a:t>
            </a:fld>
            <a:endParaRPr lang="en-US"/>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19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36082847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A8AD4410-B83D-1946-B9E5-363BA2D342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15F1A503-FBCE-7A47-A9B1-01F8170FBE52}"/>
              </a:ext>
            </a:extLst>
          </p:cNvPr>
          <p:cNvSpPr>
            <a:spLocks noGrp="1"/>
          </p:cNvSpPr>
          <p:nvPr>
            <p:ph type="dt" sz="half" idx="10"/>
          </p:nvPr>
        </p:nvSpPr>
        <p:spPr/>
        <p:txBody>
          <a:bodyPr/>
          <a:lstStyle>
            <a:lvl1pPr>
              <a:defRPr/>
            </a:lvl1pPr>
          </a:lstStyle>
          <a:p>
            <a:pPr>
              <a:defRPr/>
            </a:pPr>
            <a:fld id="{EA151A8F-4AA7-5345-8FFF-7AB164E3D364}" type="datetimeFigureOut">
              <a:rPr lang="en-US"/>
              <a:pPr>
                <a:defRPr/>
              </a:pPr>
              <a:t>8/27/19</a:t>
            </a:fld>
            <a:endParaRPr lang="en-US"/>
          </a:p>
        </p:txBody>
      </p:sp>
      <p:sp>
        <p:nvSpPr>
          <p:cNvPr id="4" name="Footer Placeholder 3">
            <a:extLst>
              <a:ext uri="{FF2B5EF4-FFF2-40B4-BE49-F238E27FC236}">
                <a16:creationId xmlns:a16="http://schemas.microsoft.com/office/drawing/2014/main" id="{25D8B8A3-3FB8-C94F-92FE-07602C555C6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8C7DD2D-7FF1-BC44-A1C5-04D6ED516BC1}"/>
              </a:ext>
            </a:extLst>
          </p:cNvPr>
          <p:cNvSpPr>
            <a:spLocks noGrp="1"/>
          </p:cNvSpPr>
          <p:nvPr>
            <p:ph type="sldNum" sz="quarter" idx="12"/>
          </p:nvPr>
        </p:nvSpPr>
        <p:spPr/>
        <p:txBody>
          <a:bodyPr/>
          <a:lstStyle>
            <a:lvl1pPr>
              <a:defRPr/>
            </a:lvl1pPr>
          </a:lstStyle>
          <a:p>
            <a:pPr>
              <a:defRPr/>
            </a:pPr>
            <a:fld id="{EDE41483-9899-9644-A00D-B7E1DCD7E7ED}" type="slidenum">
              <a:rPr lang="en-US"/>
              <a:pPr>
                <a:defRPr/>
              </a:pPr>
              <a:t>‹#›</a:t>
            </a:fld>
            <a:endParaRPr lang="en-US"/>
          </a:p>
        </p:txBody>
      </p:sp>
    </p:spTree>
    <p:extLst>
      <p:ext uri="{BB962C8B-B14F-4D97-AF65-F5344CB8AC3E}">
        <p14:creationId xmlns:p14="http://schemas.microsoft.com/office/powerpoint/2010/main" val="145503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21BE4D82-B260-554A-B8FB-04A34CD8982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6CD9F48-4EF1-4043-A3C7-DF1323DCB60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349A80-F880-48D2-A8C3-0B02E2589C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Placeholder 3">
            <a:extLst>
              <a:ext uri="{FF2B5EF4-FFF2-40B4-BE49-F238E27FC236}">
                <a16:creationId xmlns:a16="http://schemas.microsoft.com/office/drawing/2014/main" id="{C6B3F531-1B70-2848-B6F9-A3D2C91E93D5}"/>
              </a:ext>
            </a:extLst>
          </p:cNvPr>
          <p:cNvSpPr>
            <a:spLocks noGrp="1"/>
          </p:cNvSpPr>
          <p:nvPr>
            <p:ph type="dt" sz="half" idx="10"/>
          </p:nvPr>
        </p:nvSpPr>
        <p:spPr/>
        <p:txBody>
          <a:bodyPr/>
          <a:lstStyle>
            <a:lvl1pPr>
              <a:defRPr/>
            </a:lvl1pPr>
          </a:lstStyle>
          <a:p>
            <a:pPr>
              <a:defRPr/>
            </a:pPr>
            <a:fld id="{B18986FF-D326-8943-BD97-F4A3A41EB7B0}" type="datetimeFigureOut">
              <a:rPr lang="en-US"/>
              <a:pPr>
                <a:defRPr/>
              </a:pPr>
              <a:t>8/27/19</a:t>
            </a:fld>
            <a:endParaRPr lang="en-US"/>
          </a:p>
        </p:txBody>
      </p:sp>
      <p:sp>
        <p:nvSpPr>
          <p:cNvPr id="6" name="Footer Placeholder 4">
            <a:extLst>
              <a:ext uri="{FF2B5EF4-FFF2-40B4-BE49-F238E27FC236}">
                <a16:creationId xmlns:a16="http://schemas.microsoft.com/office/drawing/2014/main" id="{BF8FAED7-1879-B144-BEF0-404DAD34D41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412B5B8-B124-4B4A-AE75-BF0C2955B488}"/>
              </a:ext>
            </a:extLst>
          </p:cNvPr>
          <p:cNvSpPr>
            <a:spLocks noGrp="1"/>
          </p:cNvSpPr>
          <p:nvPr>
            <p:ph type="sldNum" sz="quarter" idx="12"/>
          </p:nvPr>
        </p:nvSpPr>
        <p:spPr/>
        <p:txBody>
          <a:bodyPr/>
          <a:lstStyle>
            <a:lvl1pPr>
              <a:defRPr/>
            </a:lvl1pPr>
          </a:lstStyle>
          <a:p>
            <a:pPr>
              <a:defRPr/>
            </a:pPr>
            <a:fld id="{1E340632-84E8-FF4F-ADC8-2C98EE771EE7}" type="slidenum">
              <a:rPr lang="en-US"/>
              <a:pPr>
                <a:defRPr/>
              </a:pPr>
              <a:t>‹#›</a:t>
            </a:fld>
            <a:endParaRPr lang="en-US"/>
          </a:p>
        </p:txBody>
      </p:sp>
    </p:spTree>
    <p:extLst>
      <p:ext uri="{BB962C8B-B14F-4D97-AF65-F5344CB8AC3E}">
        <p14:creationId xmlns:p14="http://schemas.microsoft.com/office/powerpoint/2010/main" val="401896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F21EDC8-2FDA-A344-AA7C-26D9EF3AA2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5C2E7718-3023-CF42-81E7-D6E43DB71A2D}"/>
              </a:ext>
            </a:extLst>
          </p:cNvPr>
          <p:cNvSpPr>
            <a:spLocks noGrp="1"/>
          </p:cNvSpPr>
          <p:nvPr>
            <p:ph type="dt" sz="half" idx="10"/>
          </p:nvPr>
        </p:nvSpPr>
        <p:spPr/>
        <p:txBody>
          <a:bodyPr/>
          <a:lstStyle>
            <a:lvl1pPr>
              <a:defRPr/>
            </a:lvl1pPr>
          </a:lstStyle>
          <a:p>
            <a:pPr>
              <a:defRPr/>
            </a:pPr>
            <a:fld id="{95EEA27B-9A49-6349-B138-B4E9F4513E87}" type="datetimeFigureOut">
              <a:rPr lang="en-US"/>
              <a:pPr>
                <a:defRPr/>
              </a:pPr>
              <a:t>8/27/19</a:t>
            </a:fld>
            <a:endParaRPr lang="en-US"/>
          </a:p>
        </p:txBody>
      </p:sp>
      <p:sp>
        <p:nvSpPr>
          <p:cNvPr id="4" name="Footer Placeholder 4">
            <a:extLst>
              <a:ext uri="{FF2B5EF4-FFF2-40B4-BE49-F238E27FC236}">
                <a16:creationId xmlns:a16="http://schemas.microsoft.com/office/drawing/2014/main" id="{5A6F3045-4D16-D04D-A38E-EBCE0EBF048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1E206B9-5622-2449-BC1E-AF9EFAAE3041}"/>
              </a:ext>
            </a:extLst>
          </p:cNvPr>
          <p:cNvSpPr>
            <a:spLocks noGrp="1"/>
          </p:cNvSpPr>
          <p:nvPr>
            <p:ph type="sldNum" sz="quarter" idx="12"/>
          </p:nvPr>
        </p:nvSpPr>
        <p:spPr/>
        <p:txBody>
          <a:bodyPr/>
          <a:lstStyle>
            <a:lvl1pPr>
              <a:defRPr/>
            </a:lvl1pPr>
          </a:lstStyle>
          <a:p>
            <a:pPr>
              <a:defRPr/>
            </a:pPr>
            <a:fld id="{9981CC2A-974A-4B4F-A46C-280931AFA35F}" type="slidenum">
              <a:rPr lang="en-US"/>
              <a:pPr>
                <a:defRPr/>
              </a:pPr>
              <a:t>‹#›</a:t>
            </a:fld>
            <a:endParaRPr lang="en-US"/>
          </a:p>
        </p:txBody>
      </p:sp>
    </p:spTree>
    <p:extLst>
      <p:ext uri="{BB962C8B-B14F-4D97-AF65-F5344CB8AC3E}">
        <p14:creationId xmlns:p14="http://schemas.microsoft.com/office/powerpoint/2010/main" val="383143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5394ECDD-7731-8F49-8565-344EC88D5BE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4EA0B1A2-2AA1-C240-81D2-3A734C31D09C}"/>
              </a:ext>
            </a:extLst>
          </p:cNvPr>
          <p:cNvSpPr>
            <a:spLocks noGrp="1"/>
          </p:cNvSpPr>
          <p:nvPr>
            <p:ph type="dt" sz="half" idx="10"/>
          </p:nvPr>
        </p:nvSpPr>
        <p:spPr/>
        <p:txBody>
          <a:bodyPr/>
          <a:lstStyle>
            <a:lvl1pPr>
              <a:defRPr/>
            </a:lvl1pPr>
          </a:lstStyle>
          <a:p>
            <a:pPr>
              <a:defRPr/>
            </a:pPr>
            <a:fld id="{527D471D-21A3-884D-A710-2572E32C4126}" type="datetimeFigureOut">
              <a:rPr lang="en-US"/>
              <a:pPr>
                <a:defRPr/>
              </a:pPr>
              <a:t>8/27/19</a:t>
            </a:fld>
            <a:endParaRPr lang="en-US"/>
          </a:p>
        </p:txBody>
      </p:sp>
      <p:sp>
        <p:nvSpPr>
          <p:cNvPr id="4" name="Footer Placeholder 4">
            <a:extLst>
              <a:ext uri="{FF2B5EF4-FFF2-40B4-BE49-F238E27FC236}">
                <a16:creationId xmlns:a16="http://schemas.microsoft.com/office/drawing/2014/main" id="{2381B053-B7B0-E148-B8D4-EC2E9B2C02E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43C38C3-2402-AC49-BF29-954DCC26705C}"/>
              </a:ext>
            </a:extLst>
          </p:cNvPr>
          <p:cNvSpPr>
            <a:spLocks noGrp="1"/>
          </p:cNvSpPr>
          <p:nvPr>
            <p:ph type="sldNum" sz="quarter" idx="12"/>
          </p:nvPr>
        </p:nvSpPr>
        <p:spPr/>
        <p:txBody>
          <a:bodyPr/>
          <a:lstStyle>
            <a:lvl1pPr>
              <a:defRPr/>
            </a:lvl1pPr>
          </a:lstStyle>
          <a:p>
            <a:pPr>
              <a:defRPr/>
            </a:pPr>
            <a:fld id="{855850DE-AB95-3C43-8A6F-CB1F17AD880A}" type="slidenum">
              <a:rPr lang="en-US"/>
              <a:pPr>
                <a:defRPr/>
              </a:pPr>
              <a:t>‹#›</a:t>
            </a:fld>
            <a:endParaRPr lang="en-US"/>
          </a:p>
        </p:txBody>
      </p:sp>
    </p:spTree>
    <p:extLst>
      <p:ext uri="{BB962C8B-B14F-4D97-AF65-F5344CB8AC3E}">
        <p14:creationId xmlns:p14="http://schemas.microsoft.com/office/powerpoint/2010/main" val="1052348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40A07E1A-0BEC-5E44-A47D-CC457756808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0DE207D-6691-4CB8-88CE-6CF5B9F399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D805C8B-38F6-4ACA-A38B-3548E945FBA9}"/>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049F08-1805-4624-93F8-916A81B759F7}"/>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A41B5E33-8423-3C46-87BD-D55BA3932A82}"/>
              </a:ext>
            </a:extLst>
          </p:cNvPr>
          <p:cNvSpPr>
            <a:spLocks noGrp="1"/>
          </p:cNvSpPr>
          <p:nvPr>
            <p:ph type="dt" sz="half" idx="10"/>
          </p:nvPr>
        </p:nvSpPr>
        <p:spPr/>
        <p:txBody>
          <a:bodyPr/>
          <a:lstStyle>
            <a:lvl1pPr>
              <a:defRPr/>
            </a:lvl1pPr>
          </a:lstStyle>
          <a:p>
            <a:pPr>
              <a:defRPr/>
            </a:pPr>
            <a:fld id="{2B7A4734-85FF-D94D-87B5-BD7C5CB50D8F}" type="datetimeFigureOut">
              <a:rPr lang="en-US"/>
              <a:pPr>
                <a:defRPr/>
              </a:pPr>
              <a:t>8/27/19</a:t>
            </a:fld>
            <a:endParaRPr lang="en-US"/>
          </a:p>
        </p:txBody>
      </p:sp>
      <p:sp>
        <p:nvSpPr>
          <p:cNvPr id="7" name="Footer Placeholder 5">
            <a:extLst>
              <a:ext uri="{FF2B5EF4-FFF2-40B4-BE49-F238E27FC236}">
                <a16:creationId xmlns:a16="http://schemas.microsoft.com/office/drawing/2014/main" id="{0B36DD45-F67F-DD41-AE3A-F665E90C3C4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915CA16E-443B-A944-AB70-1510A5C31217}"/>
              </a:ext>
            </a:extLst>
          </p:cNvPr>
          <p:cNvSpPr>
            <a:spLocks noGrp="1"/>
          </p:cNvSpPr>
          <p:nvPr>
            <p:ph type="sldNum" sz="quarter" idx="12"/>
          </p:nvPr>
        </p:nvSpPr>
        <p:spPr/>
        <p:txBody>
          <a:bodyPr/>
          <a:lstStyle>
            <a:lvl1pPr>
              <a:defRPr/>
            </a:lvl1pPr>
          </a:lstStyle>
          <a:p>
            <a:pPr>
              <a:defRPr/>
            </a:pPr>
            <a:fld id="{25A5A528-50CF-F84E-A5C5-B777DEF0AFA5}" type="slidenum">
              <a:rPr lang="en-US"/>
              <a:pPr>
                <a:defRPr/>
              </a:pPr>
              <a:t>‹#›</a:t>
            </a:fld>
            <a:endParaRPr lang="en-US"/>
          </a:p>
        </p:txBody>
      </p:sp>
    </p:spTree>
    <p:extLst>
      <p:ext uri="{BB962C8B-B14F-4D97-AF65-F5344CB8AC3E}">
        <p14:creationId xmlns:p14="http://schemas.microsoft.com/office/powerpoint/2010/main" val="2295051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8112DE8-F1F1-7947-AC36-62051F4A32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6">
            <a:extLst>
              <a:ext uri="{FF2B5EF4-FFF2-40B4-BE49-F238E27FC236}">
                <a16:creationId xmlns:a16="http://schemas.microsoft.com/office/drawing/2014/main" id="{ADB49673-D0B9-424C-90D3-756951186079}"/>
              </a:ext>
            </a:extLst>
          </p:cNvPr>
          <p:cNvSpPr>
            <a:spLocks noGrp="1"/>
          </p:cNvSpPr>
          <p:nvPr>
            <p:ph type="dt" sz="half" idx="10"/>
          </p:nvPr>
        </p:nvSpPr>
        <p:spPr/>
        <p:txBody>
          <a:bodyPr/>
          <a:lstStyle>
            <a:lvl1pPr>
              <a:defRPr/>
            </a:lvl1pPr>
          </a:lstStyle>
          <a:p>
            <a:pPr>
              <a:defRPr/>
            </a:pPr>
            <a:fld id="{E9E65595-82D9-174C-BBD4-D1EE32E9AA42}" type="datetimeFigureOut">
              <a:rPr lang="en-US"/>
              <a:pPr>
                <a:defRPr/>
              </a:pPr>
              <a:t>8/27/19</a:t>
            </a:fld>
            <a:endParaRPr lang="en-US"/>
          </a:p>
        </p:txBody>
      </p:sp>
      <p:sp>
        <p:nvSpPr>
          <p:cNvPr id="4" name="Footer Placeholder 7">
            <a:extLst>
              <a:ext uri="{FF2B5EF4-FFF2-40B4-BE49-F238E27FC236}">
                <a16:creationId xmlns:a16="http://schemas.microsoft.com/office/drawing/2014/main" id="{066C325B-F397-094B-A8A5-3A749B5D017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8">
            <a:extLst>
              <a:ext uri="{FF2B5EF4-FFF2-40B4-BE49-F238E27FC236}">
                <a16:creationId xmlns:a16="http://schemas.microsoft.com/office/drawing/2014/main" id="{F9B19B4B-63F9-F84C-9636-FA67BA6B4F3C}"/>
              </a:ext>
            </a:extLst>
          </p:cNvPr>
          <p:cNvSpPr>
            <a:spLocks noGrp="1"/>
          </p:cNvSpPr>
          <p:nvPr>
            <p:ph type="sldNum" sz="quarter" idx="12"/>
          </p:nvPr>
        </p:nvSpPr>
        <p:spPr/>
        <p:txBody>
          <a:bodyPr/>
          <a:lstStyle>
            <a:lvl1pPr>
              <a:defRPr/>
            </a:lvl1pPr>
          </a:lstStyle>
          <a:p>
            <a:pPr>
              <a:defRPr/>
            </a:pPr>
            <a:fld id="{2100CB85-50FC-704E-97E4-51055CD806E6}" type="slidenum">
              <a:rPr lang="en-US"/>
              <a:pPr>
                <a:defRPr/>
              </a:pPr>
              <a:t>‹#›</a:t>
            </a:fld>
            <a:endParaRPr lang="en-US"/>
          </a:p>
        </p:txBody>
      </p:sp>
    </p:spTree>
    <p:extLst>
      <p:ext uri="{BB962C8B-B14F-4D97-AF65-F5344CB8AC3E}">
        <p14:creationId xmlns:p14="http://schemas.microsoft.com/office/powerpoint/2010/main" val="37242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03528DBD-8687-B24E-B658-95B1FA3EAD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34D6447-46EF-4D76-B6F0-24723C8FA94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2C59699B-F0AD-DC4D-B73A-74BA42BD2E4C}"/>
              </a:ext>
            </a:extLst>
          </p:cNvPr>
          <p:cNvSpPr>
            <a:spLocks noGrp="1"/>
          </p:cNvSpPr>
          <p:nvPr>
            <p:ph type="dt" sz="half" idx="10"/>
          </p:nvPr>
        </p:nvSpPr>
        <p:spPr/>
        <p:txBody>
          <a:bodyPr/>
          <a:lstStyle>
            <a:lvl1pPr>
              <a:defRPr/>
            </a:lvl1pPr>
          </a:lstStyle>
          <a:p>
            <a:pPr>
              <a:defRPr/>
            </a:pPr>
            <a:fld id="{3A970322-4B8E-774C-BF02-A1C0F1B2F6E4}" type="datetimeFigureOut">
              <a:rPr lang="en-US"/>
              <a:pPr>
                <a:defRPr/>
              </a:pPr>
              <a:t>8/27/19</a:t>
            </a:fld>
            <a:endParaRPr lang="en-US"/>
          </a:p>
        </p:txBody>
      </p:sp>
      <p:sp>
        <p:nvSpPr>
          <p:cNvPr id="5" name="Footer Placeholder 3">
            <a:extLst>
              <a:ext uri="{FF2B5EF4-FFF2-40B4-BE49-F238E27FC236}">
                <a16:creationId xmlns:a16="http://schemas.microsoft.com/office/drawing/2014/main" id="{AE8649E2-1AE6-8B4A-A66B-C42D6A0336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7F7DC1B4-CEAD-B24A-83FD-14E4ABA98780}"/>
              </a:ext>
            </a:extLst>
          </p:cNvPr>
          <p:cNvSpPr>
            <a:spLocks noGrp="1"/>
          </p:cNvSpPr>
          <p:nvPr>
            <p:ph type="sldNum" sz="quarter" idx="12"/>
          </p:nvPr>
        </p:nvSpPr>
        <p:spPr/>
        <p:txBody>
          <a:bodyPr/>
          <a:lstStyle>
            <a:lvl1pPr>
              <a:defRPr/>
            </a:lvl1pPr>
          </a:lstStyle>
          <a:p>
            <a:pPr>
              <a:defRPr/>
            </a:pPr>
            <a:fld id="{2CAAE11C-1C29-154B-880D-F2ECCBA8932F}" type="slidenum">
              <a:rPr lang="en-US"/>
              <a:pPr>
                <a:defRPr/>
              </a:pPr>
              <a:t>‹#›</a:t>
            </a:fld>
            <a:endParaRPr lang="en-US"/>
          </a:p>
        </p:txBody>
      </p:sp>
    </p:spTree>
    <p:extLst>
      <p:ext uri="{BB962C8B-B14F-4D97-AF65-F5344CB8AC3E}">
        <p14:creationId xmlns:p14="http://schemas.microsoft.com/office/powerpoint/2010/main" val="251467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6CB282C-FB08-404F-96E1-AA59511C11E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A59D11D-D97F-42D6-ACE2-0CBB2BA319A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7A156682-520B-F04C-9DE5-A94F871CB174}"/>
              </a:ext>
            </a:extLst>
          </p:cNvPr>
          <p:cNvSpPr>
            <a:spLocks noGrp="1"/>
          </p:cNvSpPr>
          <p:nvPr>
            <p:ph type="dt" sz="half" idx="10"/>
          </p:nvPr>
        </p:nvSpPr>
        <p:spPr/>
        <p:txBody>
          <a:bodyPr/>
          <a:lstStyle>
            <a:lvl1pPr>
              <a:defRPr/>
            </a:lvl1pPr>
          </a:lstStyle>
          <a:p>
            <a:pPr>
              <a:defRPr/>
            </a:pPr>
            <a:fld id="{FD589B88-3616-3B49-848C-23EA77512B2E}" type="datetimeFigureOut">
              <a:rPr lang="en-US"/>
              <a:pPr>
                <a:defRPr/>
              </a:pPr>
              <a:t>8/27/19</a:t>
            </a:fld>
            <a:endParaRPr lang="en-US"/>
          </a:p>
        </p:txBody>
      </p:sp>
      <p:sp>
        <p:nvSpPr>
          <p:cNvPr id="5" name="Footer Placeholder 3">
            <a:extLst>
              <a:ext uri="{FF2B5EF4-FFF2-40B4-BE49-F238E27FC236}">
                <a16:creationId xmlns:a16="http://schemas.microsoft.com/office/drawing/2014/main" id="{C8508F9B-D3C3-B54C-96E4-38480568EE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CE73A94A-5869-4C4C-8BDC-D4B5E960F3B4}"/>
              </a:ext>
            </a:extLst>
          </p:cNvPr>
          <p:cNvSpPr>
            <a:spLocks noGrp="1"/>
          </p:cNvSpPr>
          <p:nvPr>
            <p:ph type="sldNum" sz="quarter" idx="12"/>
          </p:nvPr>
        </p:nvSpPr>
        <p:spPr/>
        <p:txBody>
          <a:bodyPr/>
          <a:lstStyle>
            <a:lvl1pPr>
              <a:defRPr/>
            </a:lvl1pPr>
          </a:lstStyle>
          <a:p>
            <a:pPr>
              <a:defRPr/>
            </a:pPr>
            <a:fld id="{F1D7588F-03EB-E740-A28B-81DA66CB4416}" type="slidenum">
              <a:rPr lang="en-US"/>
              <a:pPr>
                <a:defRPr/>
              </a:pPr>
              <a:t>‹#›</a:t>
            </a:fld>
            <a:endParaRPr lang="en-US"/>
          </a:p>
        </p:txBody>
      </p:sp>
    </p:spTree>
    <p:extLst>
      <p:ext uri="{BB962C8B-B14F-4D97-AF65-F5344CB8AC3E}">
        <p14:creationId xmlns:p14="http://schemas.microsoft.com/office/powerpoint/2010/main" val="3292159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10277F4-9C8F-7F48-8D75-91A2A88B091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ABBE89F-3B06-5348-A0F7-A6A21915B1C3}"/>
              </a:ext>
            </a:extLst>
          </p:cNvPr>
          <p:cNvSpPr>
            <a:spLocks noGrp="1"/>
          </p:cNvSpPr>
          <p:nvPr>
            <p:ph type="dt" sz="half" idx="10"/>
          </p:nvPr>
        </p:nvSpPr>
        <p:spPr/>
        <p:txBody>
          <a:bodyPr/>
          <a:lstStyle>
            <a:lvl1pPr>
              <a:defRPr/>
            </a:lvl1pPr>
          </a:lstStyle>
          <a:p>
            <a:pPr>
              <a:defRPr/>
            </a:pPr>
            <a:fld id="{52CF0529-3F54-7245-BD67-39161CEB614D}" type="datetimeFigureOut">
              <a:rPr lang="en-US"/>
              <a:pPr>
                <a:defRPr/>
              </a:pPr>
              <a:t>8/27/19</a:t>
            </a:fld>
            <a:endParaRPr lang="en-US"/>
          </a:p>
        </p:txBody>
      </p:sp>
      <p:sp>
        <p:nvSpPr>
          <p:cNvPr id="4" name="Footer Placeholder 3">
            <a:extLst>
              <a:ext uri="{FF2B5EF4-FFF2-40B4-BE49-F238E27FC236}">
                <a16:creationId xmlns:a16="http://schemas.microsoft.com/office/drawing/2014/main" id="{65C55A93-550E-4F44-9852-A46BDF562DC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5631349-69D0-CB47-BD9A-8C19A047C9F0}"/>
              </a:ext>
            </a:extLst>
          </p:cNvPr>
          <p:cNvSpPr>
            <a:spLocks noGrp="1"/>
          </p:cNvSpPr>
          <p:nvPr>
            <p:ph type="sldNum" sz="quarter" idx="12"/>
          </p:nvPr>
        </p:nvSpPr>
        <p:spPr/>
        <p:txBody>
          <a:bodyPr/>
          <a:lstStyle>
            <a:lvl1pPr>
              <a:defRPr/>
            </a:lvl1pPr>
          </a:lstStyle>
          <a:p>
            <a:pPr>
              <a:defRPr/>
            </a:pPr>
            <a:fld id="{D1A9425D-9892-784D-B3BB-790F829805F1}" type="slidenum">
              <a:rPr lang="en-US"/>
              <a:pPr>
                <a:defRPr/>
              </a:pPr>
              <a:t>‹#›</a:t>
            </a:fld>
            <a:endParaRPr lang="en-US"/>
          </a:p>
        </p:txBody>
      </p:sp>
    </p:spTree>
    <p:extLst>
      <p:ext uri="{BB962C8B-B14F-4D97-AF65-F5344CB8AC3E}">
        <p14:creationId xmlns:p14="http://schemas.microsoft.com/office/powerpoint/2010/main" val="196641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D4F72597-4AAB-A347-8DA1-243E46B1B76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1">
            <a:extLst>
              <a:ext uri="{FF2B5EF4-FFF2-40B4-BE49-F238E27FC236}">
                <a16:creationId xmlns:a16="http://schemas.microsoft.com/office/drawing/2014/main" id="{41A61377-E248-E647-B1AE-FDD53151CF68}"/>
              </a:ext>
            </a:extLst>
          </p:cNvPr>
          <p:cNvSpPr>
            <a:spLocks noGrp="1"/>
          </p:cNvSpPr>
          <p:nvPr>
            <p:ph type="dt" sz="half" idx="10"/>
          </p:nvPr>
        </p:nvSpPr>
        <p:spPr/>
        <p:txBody>
          <a:bodyPr/>
          <a:lstStyle>
            <a:lvl1pPr>
              <a:defRPr/>
            </a:lvl1pPr>
          </a:lstStyle>
          <a:p>
            <a:pPr>
              <a:defRPr/>
            </a:pPr>
            <a:fld id="{D768BD51-A4F8-CD47-A81C-34450CEE01FB}" type="datetimeFigureOut">
              <a:rPr lang="en-US"/>
              <a:pPr>
                <a:defRPr/>
              </a:pPr>
              <a:t>8/27/19</a:t>
            </a:fld>
            <a:endParaRPr lang="en-US"/>
          </a:p>
        </p:txBody>
      </p:sp>
      <p:sp>
        <p:nvSpPr>
          <p:cNvPr id="4" name="Footer Placeholder 2">
            <a:extLst>
              <a:ext uri="{FF2B5EF4-FFF2-40B4-BE49-F238E27FC236}">
                <a16:creationId xmlns:a16="http://schemas.microsoft.com/office/drawing/2014/main" id="{F5627FBE-56CA-7648-9F76-DA2F19741AB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73D74E10-D3F3-D748-9766-5A42A712A6FC}"/>
              </a:ext>
            </a:extLst>
          </p:cNvPr>
          <p:cNvSpPr>
            <a:spLocks noGrp="1"/>
          </p:cNvSpPr>
          <p:nvPr>
            <p:ph type="sldNum" sz="quarter" idx="12"/>
          </p:nvPr>
        </p:nvSpPr>
        <p:spPr/>
        <p:txBody>
          <a:bodyPr/>
          <a:lstStyle>
            <a:lvl1pPr>
              <a:defRPr/>
            </a:lvl1pPr>
          </a:lstStyle>
          <a:p>
            <a:pPr>
              <a:defRPr/>
            </a:pPr>
            <a:fld id="{045C3C37-B209-924D-8C51-8BA369A61DAD}" type="slidenum">
              <a:rPr lang="en-US"/>
              <a:pPr>
                <a:defRPr/>
              </a:pPr>
              <a:t>‹#›</a:t>
            </a:fld>
            <a:endParaRPr lang="en-US"/>
          </a:p>
        </p:txBody>
      </p:sp>
    </p:spTree>
    <p:extLst>
      <p:ext uri="{BB962C8B-B14F-4D97-AF65-F5344CB8AC3E}">
        <p14:creationId xmlns:p14="http://schemas.microsoft.com/office/powerpoint/2010/main" val="206271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F500E-6285-47B7-953E-7536D61995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822BB6-902B-4B71-A064-12279185E061}"/>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80F693-3BC1-4F84-8E52-8FB92EDC8EE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FE72CCA0-31D9-6945-8215-558039CD9DFB}"/>
              </a:ext>
            </a:extLst>
          </p:cNvPr>
          <p:cNvSpPr>
            <a:spLocks noGrp="1"/>
          </p:cNvSpPr>
          <p:nvPr>
            <p:ph type="dt" sz="half" idx="10"/>
          </p:nvPr>
        </p:nvSpPr>
        <p:spPr/>
        <p:txBody>
          <a:bodyPr/>
          <a:lstStyle>
            <a:lvl1pPr>
              <a:defRPr/>
            </a:lvl1pPr>
          </a:lstStyle>
          <a:p>
            <a:pPr>
              <a:defRPr/>
            </a:pPr>
            <a:fld id="{E34A7FA8-0842-DB4E-82C3-902B32B69523}" type="datetimeFigureOut">
              <a:rPr lang="en-US"/>
              <a:pPr>
                <a:defRPr/>
              </a:pPr>
              <a:t>8/27/19</a:t>
            </a:fld>
            <a:endParaRPr lang="en-US"/>
          </a:p>
        </p:txBody>
      </p:sp>
      <p:sp>
        <p:nvSpPr>
          <p:cNvPr id="6" name="Footer Placeholder 4">
            <a:extLst>
              <a:ext uri="{FF2B5EF4-FFF2-40B4-BE49-F238E27FC236}">
                <a16:creationId xmlns:a16="http://schemas.microsoft.com/office/drawing/2014/main" id="{71F1106C-D125-EC46-B1A2-D61D15D32D2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E4383B4-4095-094E-A54A-E3E0099E4BF5}"/>
              </a:ext>
            </a:extLst>
          </p:cNvPr>
          <p:cNvSpPr>
            <a:spLocks noGrp="1"/>
          </p:cNvSpPr>
          <p:nvPr>
            <p:ph type="sldNum" sz="quarter" idx="12"/>
          </p:nvPr>
        </p:nvSpPr>
        <p:spPr/>
        <p:txBody>
          <a:bodyPr/>
          <a:lstStyle>
            <a:lvl1pPr>
              <a:defRPr/>
            </a:lvl1pPr>
          </a:lstStyle>
          <a:p>
            <a:pPr>
              <a:defRPr/>
            </a:pPr>
            <a:fld id="{A625AC69-F4DA-BE4B-81CE-37BC4DD4EA28}" type="slidenum">
              <a:rPr lang="en-US"/>
              <a:pPr>
                <a:defRPr/>
              </a:pPr>
              <a:t>‹#›</a:t>
            </a:fld>
            <a:endParaRPr lang="en-US"/>
          </a:p>
        </p:txBody>
      </p:sp>
    </p:spTree>
    <p:extLst>
      <p:ext uri="{BB962C8B-B14F-4D97-AF65-F5344CB8AC3E}">
        <p14:creationId xmlns:p14="http://schemas.microsoft.com/office/powerpoint/2010/main" val="272464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3017-577D-4F1F-B2E2-D11D064558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262013-2353-4184-AF0C-5493C31AAC7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C979331E-511A-4572-B108-37D5980F989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504700FE-F3DE-7148-B6A5-2EF788D6C7FC}"/>
              </a:ext>
            </a:extLst>
          </p:cNvPr>
          <p:cNvSpPr>
            <a:spLocks noGrp="1"/>
          </p:cNvSpPr>
          <p:nvPr>
            <p:ph type="dt" sz="half" idx="10"/>
          </p:nvPr>
        </p:nvSpPr>
        <p:spPr/>
        <p:txBody>
          <a:bodyPr/>
          <a:lstStyle>
            <a:lvl1pPr>
              <a:defRPr/>
            </a:lvl1pPr>
          </a:lstStyle>
          <a:p>
            <a:pPr>
              <a:defRPr/>
            </a:pPr>
            <a:fld id="{20FC211B-804C-C44D-B2DA-E21F9B262342}" type="datetimeFigureOut">
              <a:rPr lang="en-US"/>
              <a:pPr>
                <a:defRPr/>
              </a:pPr>
              <a:t>8/27/19</a:t>
            </a:fld>
            <a:endParaRPr lang="en-US"/>
          </a:p>
        </p:txBody>
      </p:sp>
      <p:sp>
        <p:nvSpPr>
          <p:cNvPr id="6" name="Footer Placeholder 4">
            <a:extLst>
              <a:ext uri="{FF2B5EF4-FFF2-40B4-BE49-F238E27FC236}">
                <a16:creationId xmlns:a16="http://schemas.microsoft.com/office/drawing/2014/main" id="{595E4039-BC56-564E-8B6E-09362375AD3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A630F2E-C075-A741-9BB9-80195E61305E}"/>
              </a:ext>
            </a:extLst>
          </p:cNvPr>
          <p:cNvSpPr>
            <a:spLocks noGrp="1"/>
          </p:cNvSpPr>
          <p:nvPr>
            <p:ph type="sldNum" sz="quarter" idx="12"/>
          </p:nvPr>
        </p:nvSpPr>
        <p:spPr/>
        <p:txBody>
          <a:bodyPr/>
          <a:lstStyle>
            <a:lvl1pPr>
              <a:defRPr/>
            </a:lvl1pPr>
          </a:lstStyle>
          <a:p>
            <a:pPr>
              <a:defRPr/>
            </a:pPr>
            <a:fld id="{F54DDB32-C652-0D43-9226-F29123611B24}" type="slidenum">
              <a:rPr lang="en-US"/>
              <a:pPr>
                <a:defRPr/>
              </a:pPr>
              <a:t>‹#›</a:t>
            </a:fld>
            <a:endParaRPr lang="en-US"/>
          </a:p>
        </p:txBody>
      </p:sp>
    </p:spTree>
    <p:extLst>
      <p:ext uri="{BB962C8B-B14F-4D97-AF65-F5344CB8AC3E}">
        <p14:creationId xmlns:p14="http://schemas.microsoft.com/office/powerpoint/2010/main" val="459151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C5C2-75E0-4760-B4AB-EAF43C069FF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D19DDB-0729-4696-8863-907665458212}"/>
              </a:ext>
            </a:extLst>
          </p:cNvPr>
          <p:cNvSpPr>
            <a:spLocks noGrp="1"/>
          </p:cNvSpPr>
          <p:nvPr>
            <p:ph type="body" orient="vert" idx="1"/>
          </p:nvPr>
        </p:nvSpPr>
        <p:spPr>
          <a:xfrm>
            <a:off x="838200" y="1825625"/>
            <a:ext cx="10515600" cy="300037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4A7C89-7270-0E4D-9FBF-9D1A21AFFDF8}"/>
              </a:ext>
            </a:extLst>
          </p:cNvPr>
          <p:cNvSpPr>
            <a:spLocks noGrp="1"/>
          </p:cNvSpPr>
          <p:nvPr>
            <p:ph type="dt" sz="half" idx="10"/>
          </p:nvPr>
        </p:nvSpPr>
        <p:spPr/>
        <p:txBody>
          <a:bodyPr/>
          <a:lstStyle>
            <a:lvl1pPr>
              <a:defRPr/>
            </a:lvl1pPr>
          </a:lstStyle>
          <a:p>
            <a:pPr>
              <a:defRPr/>
            </a:pPr>
            <a:fld id="{20BC20BB-9DCA-5A40-90F8-12EFA44687FB}" type="datetimeFigureOut">
              <a:rPr lang="en-US"/>
              <a:pPr>
                <a:defRPr/>
              </a:pPr>
              <a:t>8/27/19</a:t>
            </a:fld>
            <a:endParaRPr lang="en-US"/>
          </a:p>
        </p:txBody>
      </p:sp>
      <p:sp>
        <p:nvSpPr>
          <p:cNvPr id="5" name="Footer Placeholder 4">
            <a:extLst>
              <a:ext uri="{FF2B5EF4-FFF2-40B4-BE49-F238E27FC236}">
                <a16:creationId xmlns:a16="http://schemas.microsoft.com/office/drawing/2014/main" id="{39EEE288-56EC-3A41-A6A0-5808DA8AC1D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3C15D4-5699-354D-A16F-A3E1A7AE0186}"/>
              </a:ext>
            </a:extLst>
          </p:cNvPr>
          <p:cNvSpPr>
            <a:spLocks noGrp="1"/>
          </p:cNvSpPr>
          <p:nvPr>
            <p:ph type="sldNum" sz="quarter" idx="12"/>
          </p:nvPr>
        </p:nvSpPr>
        <p:spPr/>
        <p:txBody>
          <a:bodyPr/>
          <a:lstStyle>
            <a:lvl1pPr>
              <a:defRPr/>
            </a:lvl1pPr>
          </a:lstStyle>
          <a:p>
            <a:pPr>
              <a:defRPr/>
            </a:pPr>
            <a:fld id="{7F215E81-FD0C-FF4F-AC3A-80082BFCFE91}" type="slidenum">
              <a:rPr lang="en-US"/>
              <a:pPr>
                <a:defRPr/>
              </a:pPr>
              <a:t>‹#›</a:t>
            </a:fld>
            <a:endParaRPr lang="en-US"/>
          </a:p>
        </p:txBody>
      </p:sp>
    </p:spTree>
    <p:extLst>
      <p:ext uri="{BB962C8B-B14F-4D97-AF65-F5344CB8AC3E}">
        <p14:creationId xmlns:p14="http://schemas.microsoft.com/office/powerpoint/2010/main" val="4205815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5E3B64-C723-44B3-BBB0-617FC6B1C3D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4FB109-9D8B-485B-9CA0-576A358F5DA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D88C8-97E5-4D4C-8F58-030AA9D07D59}"/>
              </a:ext>
            </a:extLst>
          </p:cNvPr>
          <p:cNvSpPr>
            <a:spLocks noGrp="1"/>
          </p:cNvSpPr>
          <p:nvPr>
            <p:ph type="dt" sz="half" idx="10"/>
          </p:nvPr>
        </p:nvSpPr>
        <p:spPr/>
        <p:txBody>
          <a:bodyPr/>
          <a:lstStyle>
            <a:lvl1pPr>
              <a:defRPr/>
            </a:lvl1pPr>
          </a:lstStyle>
          <a:p>
            <a:pPr>
              <a:defRPr/>
            </a:pPr>
            <a:fld id="{C108EFD2-DC7E-7D43-82F8-DF2917A0F66C}" type="datetimeFigureOut">
              <a:rPr lang="en-US"/>
              <a:pPr>
                <a:defRPr/>
              </a:pPr>
              <a:t>8/27/19</a:t>
            </a:fld>
            <a:endParaRPr lang="en-US"/>
          </a:p>
        </p:txBody>
      </p:sp>
      <p:sp>
        <p:nvSpPr>
          <p:cNvPr id="5" name="Footer Placeholder 4">
            <a:extLst>
              <a:ext uri="{FF2B5EF4-FFF2-40B4-BE49-F238E27FC236}">
                <a16:creationId xmlns:a16="http://schemas.microsoft.com/office/drawing/2014/main" id="{113A406A-9100-3441-9CE1-53FDE48BC0A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D70ACC1-B582-D445-97AE-CBA7E1C48957}"/>
              </a:ext>
            </a:extLst>
          </p:cNvPr>
          <p:cNvSpPr>
            <a:spLocks noGrp="1"/>
          </p:cNvSpPr>
          <p:nvPr>
            <p:ph type="sldNum" sz="quarter" idx="12"/>
          </p:nvPr>
        </p:nvSpPr>
        <p:spPr/>
        <p:txBody>
          <a:bodyPr/>
          <a:lstStyle>
            <a:lvl1pPr>
              <a:defRPr/>
            </a:lvl1pPr>
          </a:lstStyle>
          <a:p>
            <a:pPr>
              <a:defRPr/>
            </a:pPr>
            <a:fld id="{427B2A73-8C00-AE44-A00B-8E93C17BE1FB}" type="slidenum">
              <a:rPr lang="en-US"/>
              <a:pPr>
                <a:defRPr/>
              </a:pPr>
              <a:t>‹#›</a:t>
            </a:fld>
            <a:endParaRPr lang="en-US"/>
          </a:p>
        </p:txBody>
      </p:sp>
    </p:spTree>
    <p:extLst>
      <p:ext uri="{BB962C8B-B14F-4D97-AF65-F5344CB8AC3E}">
        <p14:creationId xmlns:p14="http://schemas.microsoft.com/office/powerpoint/2010/main" val="179911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1D2DF8C-500E-4EF9-950E-4D1F912BC3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EEB975E-61AD-814C-9950-77BF98509ED2}" type="datetimeFigureOut">
              <a:rPr lang="en-US"/>
              <a:pPr>
                <a:defRPr/>
              </a:pPr>
              <a:t>8/27/19</a:t>
            </a:fld>
            <a:endParaRPr lang="en-US"/>
          </a:p>
        </p:txBody>
      </p:sp>
      <p:sp>
        <p:nvSpPr>
          <p:cNvPr id="5" name="Footer Placeholder 4">
            <a:extLst>
              <a:ext uri="{FF2B5EF4-FFF2-40B4-BE49-F238E27FC236}">
                <a16:creationId xmlns:a16="http://schemas.microsoft.com/office/drawing/2014/main" id="{168F2BA2-A22B-4E34-80A5-84D2C3F4DB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6521561-873F-4C1D-BD8B-3AFBA233E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66A6A4BF-6CF2-7F4D-9586-24AE40100BF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15" r:id="rId11"/>
    <p:sldLayoutId id="2147483816" r:id="rId12"/>
    <p:sldLayoutId id="2147483817" r:id="rId13"/>
    <p:sldLayoutId id="2147483818" r:id="rId14"/>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xml"/><Relationship Id="rId1" Type="http://schemas.openxmlformats.org/officeDocument/2006/relationships/vmlDrawing" Target="../drawings/vmlDrawing1.v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13.png"/><Relationship Id="rId5" Type="http://schemas.openxmlformats.org/officeDocument/2006/relationships/oleObject" Target="../embeddings/oleObject3.bin"/><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9.xml"/><Relationship Id="rId1" Type="http://schemas.openxmlformats.org/officeDocument/2006/relationships/vmlDrawing" Target="../drawings/vmlDrawing3.v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9.xml"/><Relationship Id="rId1" Type="http://schemas.openxmlformats.org/officeDocument/2006/relationships/vmlDrawing" Target="../drawings/vmlDrawing4.v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9.xml"/><Relationship Id="rId1" Type="http://schemas.openxmlformats.org/officeDocument/2006/relationships/vmlDrawing" Target="../drawings/vmlDrawing5.vml"/><Relationship Id="rId5" Type="http://schemas.openxmlformats.org/officeDocument/2006/relationships/hyperlink" Target="javascript:myWindow('loosely_coupled_');" TargetMode="Externa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9.xml"/><Relationship Id="rId1" Type="http://schemas.openxmlformats.org/officeDocument/2006/relationships/vmlDrawing" Target="../drawings/vmlDrawing6.vml"/><Relationship Id="rId6" Type="http://schemas.openxmlformats.org/officeDocument/2006/relationships/image" Target="../media/image26.png"/><Relationship Id="rId5" Type="http://schemas.openxmlformats.org/officeDocument/2006/relationships/oleObject" Target="../embeddings/oleObject8.bin"/><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9.xml"/><Relationship Id="rId1" Type="http://schemas.openxmlformats.org/officeDocument/2006/relationships/vmlDrawing" Target="../drawings/vmlDrawing7.v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9.xml"/><Relationship Id="rId1" Type="http://schemas.openxmlformats.org/officeDocument/2006/relationships/vmlDrawing" Target="../drawings/vmlDrawing8.vml"/><Relationship Id="rId6" Type="http://schemas.openxmlformats.org/officeDocument/2006/relationships/image" Target="../media/image29.png"/><Relationship Id="rId5" Type="http://schemas.openxmlformats.org/officeDocument/2006/relationships/oleObject" Target="../embeddings/oleObject11.bin"/><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9.xml"/><Relationship Id="rId1" Type="http://schemas.openxmlformats.org/officeDocument/2006/relationships/vmlDrawing" Target="../drawings/vmlDrawing9.vml"/><Relationship Id="rId6" Type="http://schemas.openxmlformats.org/officeDocument/2006/relationships/image" Target="../media/image33.emf"/><Relationship Id="rId5" Type="http://schemas.openxmlformats.org/officeDocument/2006/relationships/oleObject" Target="../embeddings/oleObject13.bin"/><Relationship Id="rId4" Type="http://schemas.openxmlformats.org/officeDocument/2006/relationships/image" Target="../media/image32.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9.xml"/><Relationship Id="rId1" Type="http://schemas.openxmlformats.org/officeDocument/2006/relationships/vmlDrawing" Target="../drawings/vmlDrawing10.vml"/><Relationship Id="rId6" Type="http://schemas.openxmlformats.org/officeDocument/2006/relationships/image" Target="../media/image34.emf"/><Relationship Id="rId5" Type="http://schemas.openxmlformats.org/officeDocument/2006/relationships/oleObject" Target="../embeddings/oleObject15.bin"/><Relationship Id="rId4" Type="http://schemas.openxmlformats.org/officeDocument/2006/relationships/image" Target="../media/image32.emf"/></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ADC224B-D01B-7C4E-A924-E7D5542F0C48}"/>
              </a:ext>
            </a:extLst>
          </p:cNvPr>
          <p:cNvSpPr txBox="1">
            <a:spLocks noChangeArrowheads="1"/>
          </p:cNvSpPr>
          <p:nvPr/>
        </p:nvSpPr>
        <p:spPr bwMode="auto">
          <a:xfrm>
            <a:off x="276545" y="856452"/>
            <a:ext cx="8261279"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dirty="0">
                <a:solidFill>
                  <a:schemeClr val="bg1"/>
                </a:solidFill>
                <a:latin typeface="Verdana" panose="020B0604030504040204" pitchFamily="34" charset="0"/>
              </a:rPr>
              <a:t>SCSD2613</a:t>
            </a:r>
            <a:br>
              <a:rPr lang="en-US" altLang="en-US" sz="3600" b="1" dirty="0">
                <a:solidFill>
                  <a:schemeClr val="bg1"/>
                </a:solidFill>
                <a:latin typeface="Verdana" panose="020B0604030504040204" pitchFamily="34" charset="0"/>
              </a:rPr>
            </a:br>
            <a:r>
              <a:rPr lang="en-US" altLang="en-US" sz="3200" b="1" dirty="0">
                <a:solidFill>
                  <a:schemeClr val="bg1"/>
                </a:solidFill>
                <a:latin typeface="Verdana" panose="020B0604030504040204" pitchFamily="34" charset="0"/>
              </a:rPr>
              <a:t>System Analysis and Design</a:t>
            </a:r>
            <a:endParaRPr lang="en-US" altLang="en-US" sz="3600" b="1" dirty="0">
              <a:solidFill>
                <a:schemeClr val="bg1"/>
              </a:solidFill>
              <a:latin typeface="Verdana" panose="020B0604030504040204" pitchFamily="34" charset="0"/>
            </a:endParaRPr>
          </a:p>
        </p:txBody>
      </p:sp>
      <p:cxnSp>
        <p:nvCxnSpPr>
          <p:cNvPr id="8" name="Straight Connector 7">
            <a:extLst>
              <a:ext uri="{FF2B5EF4-FFF2-40B4-BE49-F238E27FC236}">
                <a16:creationId xmlns:a16="http://schemas.microsoft.com/office/drawing/2014/main" id="{0E316BA8-EFD8-4056-B5B4-01555F1655E0}"/>
              </a:ext>
            </a:extLst>
          </p:cNvPr>
          <p:cNvCxnSpPr>
            <a:cxnSpLocks/>
          </p:cNvCxnSpPr>
          <p:nvPr/>
        </p:nvCxnSpPr>
        <p:spPr>
          <a:xfrm>
            <a:off x="698500" y="23876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E58691-3F85-42F3-AD1B-E26F22405C81}"/>
              </a:ext>
            </a:extLst>
          </p:cNvPr>
          <p:cNvCxnSpPr>
            <a:cxnSpLocks/>
          </p:cNvCxnSpPr>
          <p:nvPr/>
        </p:nvCxnSpPr>
        <p:spPr>
          <a:xfrm>
            <a:off x="698500" y="44958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388" name="Title 1">
            <a:extLst>
              <a:ext uri="{FF2B5EF4-FFF2-40B4-BE49-F238E27FC236}">
                <a16:creationId xmlns:a16="http://schemas.microsoft.com/office/drawing/2014/main" id="{84B188F9-CA02-A24F-9AFF-1F827F7900D9}"/>
              </a:ext>
            </a:extLst>
          </p:cNvPr>
          <p:cNvSpPr txBox="1">
            <a:spLocks noChangeArrowheads="1"/>
          </p:cNvSpPr>
          <p:nvPr/>
        </p:nvSpPr>
        <p:spPr bwMode="auto">
          <a:xfrm>
            <a:off x="698500" y="2382043"/>
            <a:ext cx="11085513" cy="211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4400" b="1">
                <a:solidFill>
                  <a:schemeClr val="bg1"/>
                </a:solidFill>
              </a:rPr>
              <a:t>PART </a:t>
            </a:r>
            <a:r>
              <a:rPr lang="en-US" altLang="en-US" sz="4400" b="1" dirty="0">
                <a:solidFill>
                  <a:schemeClr val="bg1"/>
                </a:solidFill>
              </a:rPr>
              <a:t>IV</a:t>
            </a:r>
          </a:p>
          <a:p>
            <a:pPr algn="ctr" eaLnBrk="1" hangingPunct="1"/>
            <a:r>
              <a:rPr lang="en-US" altLang="en-US" sz="4400" b="1" dirty="0">
                <a:solidFill>
                  <a:schemeClr val="bg1"/>
                </a:solidFill>
              </a:rPr>
              <a:t>The Analysis Process #3:</a:t>
            </a:r>
          </a:p>
          <a:p>
            <a:pPr algn="ctr" eaLnBrk="1" hangingPunct="1"/>
            <a:r>
              <a:rPr lang="en-US" altLang="en-US" sz="4400" b="1" dirty="0">
                <a:solidFill>
                  <a:schemeClr val="bg1"/>
                </a:solidFill>
              </a:rPr>
              <a:t>Structure Chart &amp; Entity Relationship Diagram</a:t>
            </a:r>
          </a:p>
        </p:txBody>
      </p:sp>
      <p:sp>
        <p:nvSpPr>
          <p:cNvPr id="6" name="TextBox 5">
            <a:extLst>
              <a:ext uri="{FF2B5EF4-FFF2-40B4-BE49-F238E27FC236}">
                <a16:creationId xmlns:a16="http://schemas.microsoft.com/office/drawing/2014/main" id="{8D8DF414-A0B7-E24A-B3CB-57E900420739}"/>
              </a:ext>
            </a:extLst>
          </p:cNvPr>
          <p:cNvSpPr txBox="1"/>
          <p:nvPr/>
        </p:nvSpPr>
        <p:spPr>
          <a:xfrm>
            <a:off x="10024153" y="6611779"/>
            <a:ext cx="2239766" cy="246221"/>
          </a:xfrm>
          <a:prstGeom prst="rect">
            <a:avLst/>
          </a:prstGeom>
          <a:noFill/>
        </p:spPr>
        <p:txBody>
          <a:bodyPr wrap="square" rtlCol="0">
            <a:spAutoFit/>
          </a:bodyPr>
          <a:lstStyle/>
          <a:p>
            <a:pPr algn="r"/>
            <a:r>
              <a:rPr lang="en-US" sz="1000" dirty="0">
                <a:solidFill>
                  <a:schemeClr val="bg1"/>
                </a:solidFill>
              </a:rPr>
              <a:t>update: August 2019 (</a:t>
            </a:r>
            <a:r>
              <a:rPr lang="en-US" sz="1000" dirty="0" err="1">
                <a:solidFill>
                  <a:schemeClr val="bg1"/>
                </a:solidFill>
              </a:rPr>
              <a:t>sharinhh</a:t>
            </a:r>
            <a:r>
              <a:rPr lang="en-US" sz="1000" dirty="0">
                <a:solidFill>
                  <a:schemeClr val="bg1"/>
                </a:solidFill>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OBJECTIVES</a:t>
            </a:r>
            <a:endParaRPr lang="en-US" altLang="en-US" sz="5400" dirty="0">
              <a:solidFill>
                <a:srgbClr val="85103F"/>
              </a:solidFill>
              <a:latin typeface="Calibri Light" panose="020F0302020204030204" pitchFamily="34" charset="0"/>
            </a:endParaRPr>
          </a:p>
        </p:txBody>
      </p:sp>
      <p:sp>
        <p:nvSpPr>
          <p:cNvPr id="17410" name="Rectangle 3">
            <a:extLst>
              <a:ext uri="{FF2B5EF4-FFF2-40B4-BE49-F238E27FC236}">
                <a16:creationId xmlns:a16="http://schemas.microsoft.com/office/drawing/2014/main" id="{906CA659-221B-9249-A9BB-C4A6FC6C7461}"/>
              </a:ext>
            </a:extLst>
          </p:cNvPr>
          <p:cNvSpPr txBox="1">
            <a:spLocks noChangeArrowheads="1"/>
          </p:cNvSpPr>
          <p:nvPr/>
        </p:nvSpPr>
        <p:spPr bwMode="auto">
          <a:xfrm>
            <a:off x="304800" y="1692275"/>
            <a:ext cx="11582400"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a:solidFill>
                  <a:schemeClr val="tx1"/>
                </a:solidFill>
                <a:latin typeface="Calibri" panose="020F0502020204030204" pitchFamily="34" charset="0"/>
              </a:defRPr>
            </a:lvl1pPr>
            <a:lvl2pPr marL="685800" indent="-22860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514350" indent="-514350">
              <a:buFont typeface="+mj-lt"/>
              <a:buAutoNum type="arabicPeriod"/>
            </a:pPr>
            <a:r>
              <a:rPr lang="en-US" sz="3200" dirty="0"/>
              <a:t>Understand the purpose of structure chart.</a:t>
            </a:r>
          </a:p>
          <a:p>
            <a:pPr marL="514350" indent="-514350">
              <a:buFont typeface="+mj-lt"/>
              <a:buAutoNum type="arabicPeriod"/>
            </a:pPr>
            <a:r>
              <a:rPr lang="en-US" sz="3200" dirty="0"/>
              <a:t>Able to transform DFD to structure chart</a:t>
            </a:r>
          </a:p>
          <a:p>
            <a:pPr marL="514350" indent="-514350">
              <a:buFont typeface="+mj-lt"/>
              <a:buAutoNum type="arabicPeriod"/>
            </a:pPr>
            <a:r>
              <a:rPr lang="en-US" sz="3200" dirty="0"/>
              <a:t>Understand the basic ERD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1528006096"/>
              </p:ext>
            </p:extLst>
          </p:nvPr>
        </p:nvGraphicFramePr>
        <p:xfrm>
          <a:off x="396875" y="1568450"/>
          <a:ext cx="11398250" cy="38357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EAA3F93E-1136-AB41-86C4-1A4F94C0B6A0}"/>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OBJECTIVES</a:t>
            </a:r>
            <a:endParaRPr lang="en-US" altLang="en-US" sz="5400" dirty="0">
              <a:solidFill>
                <a:srgbClr val="85103F"/>
              </a:solidFill>
              <a:latin typeface="Calibri Light" panose="020F0302020204030204" pitchFamily="34" charset="0"/>
            </a:endParaRPr>
          </a:p>
        </p:txBody>
      </p:sp>
      <p:sp>
        <p:nvSpPr>
          <p:cNvPr id="17410" name="Rectangle 3">
            <a:extLst>
              <a:ext uri="{FF2B5EF4-FFF2-40B4-BE49-F238E27FC236}">
                <a16:creationId xmlns:a16="http://schemas.microsoft.com/office/drawing/2014/main" id="{906CA659-221B-9249-A9BB-C4A6FC6C7461}"/>
              </a:ext>
            </a:extLst>
          </p:cNvPr>
          <p:cNvSpPr txBox="1">
            <a:spLocks noChangeArrowheads="1"/>
          </p:cNvSpPr>
          <p:nvPr/>
        </p:nvSpPr>
        <p:spPr bwMode="auto">
          <a:xfrm>
            <a:off x="304800" y="1692275"/>
            <a:ext cx="11582400"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a:solidFill>
                  <a:schemeClr val="tx1"/>
                </a:solidFill>
                <a:latin typeface="Calibri" panose="020F0502020204030204" pitchFamily="34" charset="0"/>
              </a:defRPr>
            </a:lvl1pPr>
            <a:lvl2pPr marL="685800" indent="-22860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514350" indent="-514350">
              <a:buFont typeface="+mj-lt"/>
              <a:buAutoNum type="arabicPeriod"/>
            </a:pPr>
            <a:r>
              <a:rPr lang="en-US" sz="4000" dirty="0"/>
              <a:t>Understand the purpose of structure chart.</a:t>
            </a:r>
          </a:p>
          <a:p>
            <a:pPr marL="514350" indent="-514350">
              <a:buFont typeface="+mj-lt"/>
              <a:buAutoNum type="arabicPeriod"/>
            </a:pPr>
            <a:r>
              <a:rPr lang="en-US" sz="4000" dirty="0"/>
              <a:t>Able to transform DFD to structure chart</a:t>
            </a:r>
          </a:p>
          <a:p>
            <a:pPr marL="514350" indent="-514350">
              <a:buFont typeface="+mj-lt"/>
              <a:buAutoNum type="arabicPeriod"/>
            </a:pPr>
            <a:r>
              <a:rPr lang="en-US" sz="4000" dirty="0"/>
              <a:t>Understand the basic ERD</a:t>
            </a:r>
          </a:p>
        </p:txBody>
      </p:sp>
    </p:spTree>
    <p:extLst>
      <p:ext uri="{BB962C8B-B14F-4D97-AF65-F5344CB8AC3E}">
        <p14:creationId xmlns:p14="http://schemas.microsoft.com/office/powerpoint/2010/main" val="3805288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3333171824"/>
              </p:ext>
            </p:extLst>
          </p:nvPr>
        </p:nvGraphicFramePr>
        <p:xfrm>
          <a:off x="427038" y="2086475"/>
          <a:ext cx="11398250" cy="2300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EAA3F93E-1136-AB41-86C4-1A4F94C0B6A0}"/>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757382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a:t>
            </a:r>
            <a:endParaRPr lang="en-US" altLang="en-US" sz="5400" dirty="0">
              <a:solidFill>
                <a:srgbClr val="85103F"/>
              </a:solidFill>
              <a:latin typeface="Calibri Light" panose="020F0302020204030204" pitchFamily="34" charset="0"/>
            </a:endParaRPr>
          </a:p>
        </p:txBody>
      </p:sp>
      <p:sp>
        <p:nvSpPr>
          <p:cNvPr id="4" name="Rectangle 3">
            <a:extLst>
              <a:ext uri="{FF2B5EF4-FFF2-40B4-BE49-F238E27FC236}">
                <a16:creationId xmlns:a16="http://schemas.microsoft.com/office/drawing/2014/main" id="{FEC5D167-B422-F84E-AE23-8EB7DD7FFAB8}"/>
              </a:ext>
            </a:extLst>
          </p:cNvPr>
          <p:cNvSpPr txBox="1">
            <a:spLocks noChangeArrowheads="1"/>
          </p:cNvSpPr>
          <p:nvPr/>
        </p:nvSpPr>
        <p:spPr>
          <a:xfrm>
            <a:off x="298807" y="1568450"/>
            <a:ext cx="11594386" cy="503783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A top-down representation of business functions and processes.</a:t>
            </a:r>
          </a:p>
          <a:p>
            <a:r>
              <a:rPr lang="en-US" sz="3200" dirty="0"/>
              <a:t>Also called a functional decomposition diagram. </a:t>
            </a:r>
          </a:p>
          <a:p>
            <a:r>
              <a:rPr lang="en-US" sz="3200" dirty="0"/>
              <a:t>Show the program modules and the relationships among them.</a:t>
            </a:r>
          </a:p>
          <a:p>
            <a:endParaRPr lang="en-US" sz="3200" dirty="0"/>
          </a:p>
        </p:txBody>
      </p:sp>
    </p:spTree>
    <p:extLst>
      <p:ext uri="{BB962C8B-B14F-4D97-AF65-F5344CB8AC3E}">
        <p14:creationId xmlns:p14="http://schemas.microsoft.com/office/powerpoint/2010/main" val="359024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a:extLst>
              <a:ext uri="{FF2B5EF4-FFF2-40B4-BE49-F238E27FC236}">
                <a16:creationId xmlns:a16="http://schemas.microsoft.com/office/drawing/2014/main" id="{CB394D31-8EF8-374D-B311-F85C518B7352}"/>
              </a:ext>
            </a:extLst>
          </p:cNvPr>
          <p:cNvGraphicFramePr>
            <a:graphicFrameLocks noChangeAspect="1"/>
          </p:cNvGraphicFramePr>
          <p:nvPr>
            <p:extLst>
              <p:ext uri="{D42A27DB-BD31-4B8C-83A1-F6EECF244321}">
                <p14:modId xmlns:p14="http://schemas.microsoft.com/office/powerpoint/2010/main" val="1409919342"/>
              </p:ext>
            </p:extLst>
          </p:nvPr>
        </p:nvGraphicFramePr>
        <p:xfrm>
          <a:off x="3834132" y="3429000"/>
          <a:ext cx="4523735" cy="2738028"/>
        </p:xfrm>
        <a:graphic>
          <a:graphicData uri="http://schemas.openxmlformats.org/presentationml/2006/ole">
            <mc:AlternateContent xmlns:mc="http://schemas.openxmlformats.org/markup-compatibility/2006">
              <mc:Choice xmlns:v="urn:schemas-microsoft-com:vml" Requires="v">
                <p:oleObj spid="_x0000_s5136" name="Image" r:id="rId3" imgW="8393651" imgH="5079365" progId="">
                  <p:embed/>
                </p:oleObj>
              </mc:Choice>
              <mc:Fallback>
                <p:oleObj name="Image" r:id="rId3" imgW="8393651" imgH="5079365" progId="">
                  <p:embed/>
                  <p:pic>
                    <p:nvPicPr>
                      <p:cNvPr id="5" name="Object 2">
                        <a:extLst>
                          <a:ext uri="{FF2B5EF4-FFF2-40B4-BE49-F238E27FC236}">
                            <a16:creationId xmlns:a16="http://schemas.microsoft.com/office/drawing/2014/main" id="{CB394D31-8EF8-374D-B311-F85C518B73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4132" y="3429000"/>
                        <a:ext cx="4523735" cy="2738028"/>
                      </a:xfrm>
                      <a:prstGeom prst="rect">
                        <a:avLst/>
                      </a:prstGeom>
                      <a:noFill/>
                    </p:spPr>
                  </p:pic>
                </p:oleObj>
              </mc:Fallback>
            </mc:AlternateContent>
          </a:graphicData>
        </a:graphic>
      </p:graphicFrame>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SYMBOLS</a:t>
            </a:r>
            <a:endParaRPr lang="en-US" altLang="en-US" sz="5400" dirty="0">
              <a:solidFill>
                <a:srgbClr val="85103F"/>
              </a:solidFill>
              <a:latin typeface="Calibri Light" panose="020F0302020204030204" pitchFamily="34" charset="0"/>
            </a:endParaRPr>
          </a:p>
        </p:txBody>
      </p:sp>
      <p:sp>
        <p:nvSpPr>
          <p:cNvPr id="4" name="Rectangle 3">
            <a:extLst>
              <a:ext uri="{FF2B5EF4-FFF2-40B4-BE49-F238E27FC236}">
                <a16:creationId xmlns:a16="http://schemas.microsoft.com/office/drawing/2014/main" id="{FEC5D167-B422-F84E-AE23-8EB7DD7FFAB8}"/>
              </a:ext>
            </a:extLst>
          </p:cNvPr>
          <p:cNvSpPr txBox="1">
            <a:spLocks noChangeArrowheads="1"/>
          </p:cNvSpPr>
          <p:nvPr/>
        </p:nvSpPr>
        <p:spPr>
          <a:xfrm>
            <a:off x="184735" y="1464067"/>
            <a:ext cx="11822527" cy="503783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Module type:</a:t>
            </a:r>
          </a:p>
          <a:p>
            <a:pPr lvl="1"/>
            <a:r>
              <a:rPr lang="en-US" b="1" dirty="0"/>
              <a:t>CONTROL MODULE </a:t>
            </a:r>
            <a:r>
              <a:rPr lang="en-US" dirty="0"/>
              <a:t>- a higher-level module that directs lower-level modules</a:t>
            </a:r>
          </a:p>
          <a:p>
            <a:pPr lvl="1"/>
            <a:r>
              <a:rPr lang="en-US" b="1" dirty="0"/>
              <a:t>SUBORDINATE MODULES </a:t>
            </a:r>
            <a:r>
              <a:rPr lang="en-US" dirty="0"/>
              <a:t>– a lower-level module in a structure chart. </a:t>
            </a:r>
          </a:p>
          <a:p>
            <a:pPr lvl="1"/>
            <a:r>
              <a:rPr lang="en-US" b="1" dirty="0"/>
              <a:t>LIBRARY MODULE </a:t>
            </a:r>
            <a:r>
              <a:rPr lang="en-US" dirty="0"/>
              <a:t>- a module that is reusable and can be invoked from more than one point in the chart.</a:t>
            </a:r>
          </a:p>
          <a:p>
            <a:endParaRPr lang="en-US" dirty="0"/>
          </a:p>
        </p:txBody>
      </p:sp>
    </p:spTree>
    <p:extLst>
      <p:ext uri="{BB962C8B-B14F-4D97-AF65-F5344CB8AC3E}">
        <p14:creationId xmlns:p14="http://schemas.microsoft.com/office/powerpoint/2010/main" val="2059483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SYMBOLS</a:t>
            </a:r>
            <a:endParaRPr lang="en-US" altLang="en-US" sz="5400" dirty="0">
              <a:solidFill>
                <a:srgbClr val="85103F"/>
              </a:solidFill>
              <a:latin typeface="Calibri Light" panose="020F0302020204030204" pitchFamily="34" charset="0"/>
            </a:endParaRPr>
          </a:p>
        </p:txBody>
      </p:sp>
      <p:sp>
        <p:nvSpPr>
          <p:cNvPr id="2" name="Rectangle 1">
            <a:extLst>
              <a:ext uri="{FF2B5EF4-FFF2-40B4-BE49-F238E27FC236}">
                <a16:creationId xmlns:a16="http://schemas.microsoft.com/office/drawing/2014/main" id="{D119E7E4-CD00-5845-8A81-295FE4E3488B}"/>
              </a:ext>
            </a:extLst>
          </p:cNvPr>
          <p:cNvSpPr/>
          <p:nvPr/>
        </p:nvSpPr>
        <p:spPr>
          <a:xfrm>
            <a:off x="170184" y="1575443"/>
            <a:ext cx="5722493" cy="2677656"/>
          </a:xfrm>
          <a:prstGeom prst="rect">
            <a:avLst/>
          </a:prstGeom>
        </p:spPr>
        <p:txBody>
          <a:bodyPr wrap="square">
            <a:spAutoFit/>
          </a:bodyPr>
          <a:lstStyle/>
          <a:p>
            <a:pPr marL="285750" indent="-285750">
              <a:buFont typeface="Arial" panose="020B0604020202020204" pitchFamily="34" charset="0"/>
              <a:buChar char="•"/>
            </a:pPr>
            <a:r>
              <a:rPr lang="en-US" sz="2400" b="1" dirty="0"/>
              <a:t>DATA COUPLE </a:t>
            </a:r>
            <a:r>
              <a:rPr lang="en-US" sz="2400" dirty="0"/>
              <a:t>- shows data that one module passes to another. </a:t>
            </a:r>
          </a:p>
          <a:p>
            <a:endParaRPr lang="en-US" sz="2400" dirty="0"/>
          </a:p>
          <a:p>
            <a:endParaRPr lang="en-US" sz="2400" dirty="0"/>
          </a:p>
          <a:p>
            <a:endParaRPr lang="en-US" sz="2400" dirty="0"/>
          </a:p>
          <a:p>
            <a:endParaRPr lang="en-US" sz="2400" dirty="0"/>
          </a:p>
          <a:p>
            <a:endParaRPr lang="en-US" sz="2400" dirty="0"/>
          </a:p>
        </p:txBody>
      </p:sp>
      <p:graphicFrame>
        <p:nvGraphicFramePr>
          <p:cNvPr id="6" name="Object 2">
            <a:extLst>
              <a:ext uri="{FF2B5EF4-FFF2-40B4-BE49-F238E27FC236}">
                <a16:creationId xmlns:a16="http://schemas.microsoft.com/office/drawing/2014/main" id="{6B359791-BB8D-9F43-A105-3818BD475C79}"/>
              </a:ext>
            </a:extLst>
          </p:cNvPr>
          <p:cNvGraphicFramePr>
            <a:graphicFrameLocks noChangeAspect="1"/>
          </p:cNvGraphicFramePr>
          <p:nvPr>
            <p:extLst>
              <p:ext uri="{D42A27DB-BD31-4B8C-83A1-F6EECF244321}">
                <p14:modId xmlns:p14="http://schemas.microsoft.com/office/powerpoint/2010/main" val="4259159893"/>
              </p:ext>
            </p:extLst>
          </p:nvPr>
        </p:nvGraphicFramePr>
        <p:xfrm>
          <a:off x="1284200" y="2521751"/>
          <a:ext cx="2389259" cy="3462695"/>
        </p:xfrm>
        <a:graphic>
          <a:graphicData uri="http://schemas.openxmlformats.org/presentationml/2006/ole">
            <mc:AlternateContent xmlns:mc="http://schemas.openxmlformats.org/markup-compatibility/2006">
              <mc:Choice xmlns:v="urn:schemas-microsoft-com:vml" Requires="v">
                <p:oleObj spid="_x0000_s4127" name="Image" r:id="rId3" imgW="3504762" imgH="5079365" progId="">
                  <p:embed/>
                </p:oleObj>
              </mc:Choice>
              <mc:Fallback>
                <p:oleObj name="Image" r:id="rId3" imgW="3504762" imgH="5079365" progId="">
                  <p:embed/>
                  <p:pic>
                    <p:nvPicPr>
                      <p:cNvPr id="20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200" y="2521751"/>
                        <a:ext cx="2389259" cy="3462695"/>
                      </a:xfrm>
                      <a:prstGeom prst="rect">
                        <a:avLst/>
                      </a:prstGeom>
                      <a:noFill/>
                    </p:spPr>
                  </p:pic>
                </p:oleObj>
              </mc:Fallback>
            </mc:AlternateContent>
          </a:graphicData>
        </a:graphic>
      </p:graphicFrame>
      <p:graphicFrame>
        <p:nvGraphicFramePr>
          <p:cNvPr id="7" name="Object 2">
            <a:extLst>
              <a:ext uri="{FF2B5EF4-FFF2-40B4-BE49-F238E27FC236}">
                <a16:creationId xmlns:a16="http://schemas.microsoft.com/office/drawing/2014/main" id="{B9B0E472-33B8-2946-ACC6-4F201A4B1E2C}"/>
              </a:ext>
            </a:extLst>
          </p:cNvPr>
          <p:cNvGraphicFramePr>
            <a:graphicFrameLocks noChangeAspect="1"/>
          </p:cNvGraphicFramePr>
          <p:nvPr>
            <p:extLst>
              <p:ext uri="{D42A27DB-BD31-4B8C-83A1-F6EECF244321}">
                <p14:modId xmlns:p14="http://schemas.microsoft.com/office/powerpoint/2010/main" val="995497704"/>
              </p:ext>
            </p:extLst>
          </p:nvPr>
        </p:nvGraphicFramePr>
        <p:xfrm>
          <a:off x="6754730" y="4274049"/>
          <a:ext cx="5021401" cy="2130889"/>
        </p:xfrm>
        <a:graphic>
          <a:graphicData uri="http://schemas.openxmlformats.org/presentationml/2006/ole">
            <mc:AlternateContent xmlns:mc="http://schemas.openxmlformats.org/markup-compatibility/2006">
              <mc:Choice xmlns:v="urn:schemas-microsoft-com:vml" Requires="v">
                <p:oleObj spid="_x0000_s4128" name="Image" r:id="rId5" imgW="8888889" imgH="3771429" progId="">
                  <p:embed/>
                </p:oleObj>
              </mc:Choice>
              <mc:Fallback>
                <p:oleObj name="Image" r:id="rId5" imgW="8888889" imgH="3771429" progId="">
                  <p:embed/>
                  <p:pic>
                    <p:nvPicPr>
                      <p:cNvPr id="3074"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4730" y="4274049"/>
                        <a:ext cx="5021401" cy="2130889"/>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355B8722-EC88-1F45-B814-DA15BF9697CA}"/>
              </a:ext>
            </a:extLst>
          </p:cNvPr>
          <p:cNvSpPr/>
          <p:nvPr/>
        </p:nvSpPr>
        <p:spPr>
          <a:xfrm>
            <a:off x="5854792" y="1585918"/>
            <a:ext cx="6096000" cy="2677656"/>
          </a:xfrm>
          <a:prstGeom prst="rect">
            <a:avLst/>
          </a:prstGeom>
        </p:spPr>
        <p:txBody>
          <a:bodyPr>
            <a:spAutoFit/>
          </a:bodyPr>
          <a:lstStyle/>
          <a:p>
            <a:pPr marL="285750" indent="-285750">
              <a:buFont typeface="Arial" panose="020B0604020202020204" pitchFamily="34" charset="0"/>
              <a:buChar char="•"/>
            </a:pPr>
            <a:r>
              <a:rPr lang="en-US" sz="2400" b="1" dirty="0"/>
              <a:t>CONTROL COUPLE- </a:t>
            </a:r>
            <a:r>
              <a:rPr lang="en-US" sz="2400" dirty="0"/>
              <a:t>shows a message (flag) which one module sends to another.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FLAG</a:t>
            </a:r>
            <a:r>
              <a:rPr lang="en-US" sz="2400" dirty="0"/>
              <a:t> - is a message sent from one module to another. A module uses a flag to signal a specific condition or action to another module</a:t>
            </a:r>
          </a:p>
        </p:txBody>
      </p:sp>
      <p:sp>
        <p:nvSpPr>
          <p:cNvPr id="9" name="TextBox 8">
            <a:extLst>
              <a:ext uri="{FF2B5EF4-FFF2-40B4-BE49-F238E27FC236}">
                <a16:creationId xmlns:a16="http://schemas.microsoft.com/office/drawing/2014/main" id="{15E57CC0-332B-5B4D-B6EE-3B344DAD092F}"/>
              </a:ext>
            </a:extLst>
          </p:cNvPr>
          <p:cNvSpPr txBox="1"/>
          <p:nvPr/>
        </p:nvSpPr>
        <p:spPr>
          <a:xfrm>
            <a:off x="11049576" y="3883767"/>
            <a:ext cx="527709" cy="369332"/>
          </a:xfrm>
          <a:prstGeom prst="rect">
            <a:avLst/>
          </a:prstGeom>
          <a:noFill/>
        </p:spPr>
        <p:txBody>
          <a:bodyPr wrap="none" rtlCol="0">
            <a:spAutoFit/>
          </a:bodyPr>
          <a:lstStyle/>
          <a:p>
            <a:r>
              <a:rPr lang="en-US" dirty="0"/>
              <a:t>flag</a:t>
            </a:r>
          </a:p>
        </p:txBody>
      </p:sp>
      <p:cxnSp>
        <p:nvCxnSpPr>
          <p:cNvPr id="10" name="Straight Arrow Connector 9">
            <a:extLst>
              <a:ext uri="{FF2B5EF4-FFF2-40B4-BE49-F238E27FC236}">
                <a16:creationId xmlns:a16="http://schemas.microsoft.com/office/drawing/2014/main" id="{8EF3A018-45B1-CB4F-B1D1-2DCEFE03619F}"/>
              </a:ext>
            </a:extLst>
          </p:cNvPr>
          <p:cNvCxnSpPr>
            <a:cxnSpLocks/>
          </p:cNvCxnSpPr>
          <p:nvPr/>
        </p:nvCxnSpPr>
        <p:spPr>
          <a:xfrm flipH="1">
            <a:off x="10396894" y="4161034"/>
            <a:ext cx="740293" cy="8993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46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2">
            <a:extLst>
              <a:ext uri="{FF2B5EF4-FFF2-40B4-BE49-F238E27FC236}">
                <a16:creationId xmlns:a16="http://schemas.microsoft.com/office/drawing/2014/main" id="{FFECBFD0-463C-9449-BA25-E7FACA0BA3A3}"/>
              </a:ext>
            </a:extLst>
          </p:cNvPr>
          <p:cNvGraphicFramePr>
            <a:graphicFrameLocks noChangeAspect="1"/>
          </p:cNvGraphicFramePr>
          <p:nvPr>
            <p:extLst>
              <p:ext uri="{D42A27DB-BD31-4B8C-83A1-F6EECF244321}">
                <p14:modId xmlns:p14="http://schemas.microsoft.com/office/powerpoint/2010/main" val="3978368813"/>
              </p:ext>
            </p:extLst>
          </p:nvPr>
        </p:nvGraphicFramePr>
        <p:xfrm>
          <a:off x="5416998" y="2273698"/>
          <a:ext cx="6358545" cy="3370630"/>
        </p:xfrm>
        <a:graphic>
          <a:graphicData uri="http://schemas.openxmlformats.org/presentationml/2006/ole">
            <mc:AlternateContent xmlns:mc="http://schemas.openxmlformats.org/markup-compatibility/2006">
              <mc:Choice xmlns:v="urn:schemas-microsoft-com:vml" Requires="v">
                <p:oleObj spid="_x0000_s8206" name="Image" r:id="rId3" imgW="8888889" imgH="4711111" progId="">
                  <p:embed/>
                </p:oleObj>
              </mc:Choice>
              <mc:Fallback>
                <p:oleObj name="Image" r:id="rId3" imgW="8888889" imgH="4711111" progId="">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998" y="2273698"/>
                        <a:ext cx="6358545" cy="3370630"/>
                      </a:xfrm>
                      <a:prstGeom prst="rect">
                        <a:avLst/>
                      </a:prstGeom>
                      <a:noFill/>
                    </p:spPr>
                  </p:pic>
                </p:oleObj>
              </mc:Fallback>
            </mc:AlternateContent>
          </a:graphicData>
        </a:graphic>
      </p:graphicFrame>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SYMBOLS</a:t>
            </a:r>
            <a:endParaRPr lang="en-US" altLang="en-US" sz="5400" dirty="0">
              <a:solidFill>
                <a:srgbClr val="85103F"/>
              </a:solidFill>
              <a:latin typeface="Calibri Light" panose="020F0302020204030204" pitchFamily="34" charset="0"/>
            </a:endParaRPr>
          </a:p>
        </p:txBody>
      </p:sp>
      <p:sp>
        <p:nvSpPr>
          <p:cNvPr id="11" name="Rectangle 3">
            <a:extLst>
              <a:ext uri="{FF2B5EF4-FFF2-40B4-BE49-F238E27FC236}">
                <a16:creationId xmlns:a16="http://schemas.microsoft.com/office/drawing/2014/main" id="{3D95B722-B946-B948-B973-B1B15F3C2D35}"/>
              </a:ext>
            </a:extLst>
          </p:cNvPr>
          <p:cNvSpPr txBox="1">
            <a:spLocks noChangeArrowheads="1"/>
          </p:cNvSpPr>
          <p:nvPr/>
        </p:nvSpPr>
        <p:spPr>
          <a:xfrm>
            <a:off x="237492" y="1397286"/>
            <a:ext cx="5179506" cy="441037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CONDITION</a:t>
            </a:r>
          </a:p>
          <a:p>
            <a:pPr lvl="1"/>
            <a:r>
              <a:rPr lang="en-US" dirty="0"/>
              <a:t>A specified action or state in a structure chart. </a:t>
            </a:r>
          </a:p>
          <a:p>
            <a:pPr lvl="1"/>
            <a:r>
              <a:rPr lang="en-US" dirty="0"/>
              <a:t>A condition line indicates that a control module determines which subordinate modules will be invoked, depending on a specific condition</a:t>
            </a:r>
          </a:p>
          <a:p>
            <a:pPr lvl="1"/>
            <a:endParaRPr lang="en-US" dirty="0"/>
          </a:p>
          <a:p>
            <a:r>
              <a:rPr lang="en-US" b="1" dirty="0"/>
              <a:t>LOOP</a:t>
            </a:r>
          </a:p>
          <a:p>
            <a:pPr lvl="1"/>
            <a:r>
              <a:rPr lang="en-US" dirty="0"/>
              <a:t>indicates that one or more </a:t>
            </a:r>
          </a:p>
          <a:p>
            <a:pPr marL="457200" lvl="1" indent="0">
              <a:buNone/>
            </a:pPr>
            <a:r>
              <a:rPr lang="en-US" dirty="0"/>
              <a:t>modules are repeated</a:t>
            </a:r>
          </a:p>
        </p:txBody>
      </p:sp>
      <p:sp>
        <p:nvSpPr>
          <p:cNvPr id="13" name="Rectangle 2">
            <a:extLst>
              <a:ext uri="{FF2B5EF4-FFF2-40B4-BE49-F238E27FC236}">
                <a16:creationId xmlns:a16="http://schemas.microsoft.com/office/drawing/2014/main" id="{528F96F2-6FF3-7C46-9B30-99E3459DCF52}"/>
              </a:ext>
            </a:extLst>
          </p:cNvPr>
          <p:cNvSpPr txBox="1">
            <a:spLocks noChangeArrowheads="1"/>
          </p:cNvSpPr>
          <p:nvPr/>
        </p:nvSpPr>
        <p:spPr>
          <a:xfrm>
            <a:off x="6684143" y="1784692"/>
            <a:ext cx="3824253" cy="634082"/>
          </a:xfrm>
          <a:prstGeom prst="rect">
            <a:avLst/>
          </a:prstGeom>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000" dirty="0"/>
              <a:t>An example of structure chart loop</a:t>
            </a:r>
          </a:p>
        </p:txBody>
      </p:sp>
    </p:spTree>
    <p:extLst>
      <p:ext uri="{BB962C8B-B14F-4D97-AF65-F5344CB8AC3E}">
        <p14:creationId xmlns:p14="http://schemas.microsoft.com/office/powerpoint/2010/main" val="2280067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 OR Logic</a:t>
            </a:r>
            <a:endParaRPr lang="en-US" altLang="en-US" sz="5400" dirty="0">
              <a:solidFill>
                <a:srgbClr val="85103F"/>
              </a:solidFill>
              <a:latin typeface="Calibri Light" panose="020F0302020204030204" pitchFamily="34" charset="0"/>
            </a:endParaRPr>
          </a:p>
        </p:txBody>
      </p:sp>
      <p:grpSp>
        <p:nvGrpSpPr>
          <p:cNvPr id="4" name="Group 1041">
            <a:extLst>
              <a:ext uri="{FF2B5EF4-FFF2-40B4-BE49-F238E27FC236}">
                <a16:creationId xmlns:a16="http://schemas.microsoft.com/office/drawing/2014/main" id="{22A1FDEA-61F1-774F-969B-E6D984F7FA94}"/>
              </a:ext>
            </a:extLst>
          </p:cNvPr>
          <p:cNvGrpSpPr>
            <a:grpSpLocks/>
          </p:cNvGrpSpPr>
          <p:nvPr/>
        </p:nvGrpSpPr>
        <p:grpSpPr bwMode="auto">
          <a:xfrm>
            <a:off x="6437616" y="1816814"/>
            <a:ext cx="3429000" cy="3505200"/>
            <a:chOff x="3264" y="1152"/>
            <a:chExt cx="2160" cy="2208"/>
          </a:xfrm>
        </p:grpSpPr>
        <p:sp>
          <p:nvSpPr>
            <p:cNvPr id="5" name="Rectangle 1028">
              <a:extLst>
                <a:ext uri="{FF2B5EF4-FFF2-40B4-BE49-F238E27FC236}">
                  <a16:creationId xmlns:a16="http://schemas.microsoft.com/office/drawing/2014/main" id="{088F1432-E743-C149-B927-52232A4363D8}"/>
                </a:ext>
              </a:extLst>
            </p:cNvPr>
            <p:cNvSpPr>
              <a:spLocks noChangeArrowheads="1"/>
            </p:cNvSpPr>
            <p:nvPr/>
          </p:nvSpPr>
          <p:spPr bwMode="auto">
            <a:xfrm>
              <a:off x="3696" y="1152"/>
              <a:ext cx="1104" cy="672"/>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r>
                <a:rPr lang="en-US">
                  <a:latin typeface="Verdana" charset="0"/>
                </a:rPr>
                <a:t>Get </a:t>
              </a:r>
            </a:p>
            <a:p>
              <a:pPr algn="ctr"/>
              <a:r>
                <a:rPr lang="en-US">
                  <a:latin typeface="Verdana" charset="0"/>
                </a:rPr>
                <a:t>Employee </a:t>
              </a:r>
            </a:p>
            <a:p>
              <a:pPr algn="ctr"/>
              <a:r>
                <a:rPr lang="en-US">
                  <a:latin typeface="Verdana" charset="0"/>
                </a:rPr>
                <a:t>pay rates</a:t>
              </a:r>
            </a:p>
          </p:txBody>
        </p:sp>
        <p:sp>
          <p:nvSpPr>
            <p:cNvPr id="6" name="Rectangle 1029">
              <a:extLst>
                <a:ext uri="{FF2B5EF4-FFF2-40B4-BE49-F238E27FC236}">
                  <a16:creationId xmlns:a16="http://schemas.microsoft.com/office/drawing/2014/main" id="{FA2A9664-97A5-4345-B0EF-258A5CCBCF4C}"/>
                </a:ext>
              </a:extLst>
            </p:cNvPr>
            <p:cNvSpPr>
              <a:spLocks noChangeArrowheads="1"/>
            </p:cNvSpPr>
            <p:nvPr/>
          </p:nvSpPr>
          <p:spPr bwMode="auto">
            <a:xfrm>
              <a:off x="3264" y="2688"/>
              <a:ext cx="1008" cy="672"/>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r>
                <a:rPr lang="en-US">
                  <a:latin typeface="Verdana" charset="0"/>
                </a:rPr>
                <a:t>Get </a:t>
              </a:r>
            </a:p>
            <a:p>
              <a:pPr algn="ctr"/>
              <a:r>
                <a:rPr lang="en-US">
                  <a:latin typeface="Verdana" charset="0"/>
                </a:rPr>
                <a:t>Taxed</a:t>
              </a:r>
            </a:p>
            <a:p>
              <a:pPr algn="ctr"/>
              <a:r>
                <a:rPr lang="en-US">
                  <a:latin typeface="Verdana" charset="0"/>
                </a:rPr>
                <a:t>employee</a:t>
              </a:r>
              <a:r>
                <a:rPr lang="en-US" sz="2000">
                  <a:latin typeface="Verdana" charset="0"/>
                </a:rPr>
                <a:t> </a:t>
              </a:r>
            </a:p>
          </p:txBody>
        </p:sp>
        <p:sp>
          <p:nvSpPr>
            <p:cNvPr id="7" name="Rectangle 1030">
              <a:extLst>
                <a:ext uri="{FF2B5EF4-FFF2-40B4-BE49-F238E27FC236}">
                  <a16:creationId xmlns:a16="http://schemas.microsoft.com/office/drawing/2014/main" id="{D68ECC30-31E4-394C-80A9-59FAFAC46869}"/>
                </a:ext>
              </a:extLst>
            </p:cNvPr>
            <p:cNvSpPr>
              <a:spLocks noChangeArrowheads="1"/>
            </p:cNvSpPr>
            <p:nvPr/>
          </p:nvSpPr>
          <p:spPr bwMode="auto">
            <a:xfrm>
              <a:off x="4416" y="2688"/>
              <a:ext cx="1008" cy="672"/>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a:r>
                <a:rPr lang="en-US">
                  <a:latin typeface="Verdana" charset="0"/>
                </a:rPr>
                <a:t>Get </a:t>
              </a:r>
            </a:p>
            <a:p>
              <a:pPr algn="ctr"/>
              <a:r>
                <a:rPr lang="en-US">
                  <a:latin typeface="Verdana" charset="0"/>
                </a:rPr>
                <a:t>Untaxed</a:t>
              </a:r>
            </a:p>
            <a:p>
              <a:pPr algn="ctr"/>
              <a:r>
                <a:rPr lang="en-US">
                  <a:latin typeface="Verdana" charset="0"/>
                </a:rPr>
                <a:t>employee</a:t>
              </a:r>
            </a:p>
          </p:txBody>
        </p:sp>
        <p:sp>
          <p:nvSpPr>
            <p:cNvPr id="8" name="Line 1034">
              <a:extLst>
                <a:ext uri="{FF2B5EF4-FFF2-40B4-BE49-F238E27FC236}">
                  <a16:creationId xmlns:a16="http://schemas.microsoft.com/office/drawing/2014/main" id="{830DAF39-7EC7-7943-96FC-03E9C7739769}"/>
                </a:ext>
              </a:extLst>
            </p:cNvPr>
            <p:cNvSpPr>
              <a:spLocks noChangeShapeType="1"/>
            </p:cNvSpPr>
            <p:nvPr/>
          </p:nvSpPr>
          <p:spPr bwMode="auto">
            <a:xfrm flipH="1">
              <a:off x="3744" y="1824"/>
              <a:ext cx="528" cy="81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9" name="Line 1035">
              <a:extLst>
                <a:ext uri="{FF2B5EF4-FFF2-40B4-BE49-F238E27FC236}">
                  <a16:creationId xmlns:a16="http://schemas.microsoft.com/office/drawing/2014/main" id="{EC3AC799-3F74-E846-AF44-1450DA9D3C54}"/>
                </a:ext>
              </a:extLst>
            </p:cNvPr>
            <p:cNvSpPr>
              <a:spLocks noChangeShapeType="1"/>
            </p:cNvSpPr>
            <p:nvPr/>
          </p:nvSpPr>
          <p:spPr bwMode="auto">
            <a:xfrm>
              <a:off x="4272" y="1824"/>
              <a:ext cx="576" cy="816"/>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10" name="AutoShape 1040">
              <a:extLst>
                <a:ext uri="{FF2B5EF4-FFF2-40B4-BE49-F238E27FC236}">
                  <a16:creationId xmlns:a16="http://schemas.microsoft.com/office/drawing/2014/main" id="{35EC312F-F273-E54F-AE80-D3A03ECB2D5D}"/>
                </a:ext>
              </a:extLst>
            </p:cNvPr>
            <p:cNvSpPr>
              <a:spLocks noChangeArrowheads="1"/>
            </p:cNvSpPr>
            <p:nvPr/>
          </p:nvSpPr>
          <p:spPr bwMode="auto">
            <a:xfrm>
              <a:off x="4080" y="1824"/>
              <a:ext cx="384" cy="144"/>
            </a:xfrm>
            <a:prstGeom prst="diamond">
              <a:avLst/>
            </a:prstGeom>
            <a:solidFill>
              <a:schemeClr val="tx1"/>
            </a:solidFill>
            <a:ln w="9525">
              <a:solidFill>
                <a:schemeClr val="tx1"/>
              </a:solidFill>
              <a:miter lim="800000"/>
              <a:headEnd/>
              <a:tailEnd/>
            </a:ln>
          </p:spPr>
          <p:txBody>
            <a:bodyPr wrap="none" anchor="ctr"/>
            <a:lstStyle/>
            <a:p>
              <a:endParaRPr lang="en-US"/>
            </a:p>
          </p:txBody>
        </p:sp>
      </p:grpSp>
      <p:sp>
        <p:nvSpPr>
          <p:cNvPr id="11" name="Text Box 1042">
            <a:extLst>
              <a:ext uri="{FF2B5EF4-FFF2-40B4-BE49-F238E27FC236}">
                <a16:creationId xmlns:a16="http://schemas.microsoft.com/office/drawing/2014/main" id="{B3EC47AA-0A12-8A43-B486-588111BD1397}"/>
              </a:ext>
            </a:extLst>
          </p:cNvPr>
          <p:cNvSpPr txBox="1">
            <a:spLocks noChangeArrowheads="1"/>
          </p:cNvSpPr>
          <p:nvPr/>
        </p:nvSpPr>
        <p:spPr bwMode="auto">
          <a:xfrm>
            <a:off x="9866616" y="2140664"/>
            <a:ext cx="1752600" cy="1562100"/>
          </a:xfrm>
          <a:prstGeom prst="rect">
            <a:avLst/>
          </a:prstGeom>
          <a:solidFill>
            <a:srgbClr val="820F3E"/>
          </a:solidFill>
          <a:ln w="9525">
            <a:solidFill>
              <a:schemeClr val="tx1"/>
            </a:solidFill>
            <a:miter lim="800000"/>
            <a:headEnd/>
            <a:tailEnd/>
          </a:ln>
          <a:effectLst>
            <a:outerShdw dist="35921" dir="2700000" algn="ctr" rotWithShape="0">
              <a:schemeClr val="bg2"/>
            </a:outerShdw>
          </a:effectLst>
        </p:spPr>
        <p:txBody>
          <a:bodyPr>
            <a:spAutoFit/>
          </a:bodyPr>
          <a:lstStyle/>
          <a:p>
            <a:pPr>
              <a:spcBef>
                <a:spcPct val="50000"/>
              </a:spcBef>
              <a:defRPr/>
            </a:pPr>
            <a:r>
              <a:rPr lang="en-US" sz="1200" b="1" dirty="0">
                <a:solidFill>
                  <a:schemeClr val="bg1"/>
                </a:solidFill>
                <a:latin typeface="Verdana" pitchFamily="34" charset="0"/>
                <a:ea typeface="+mn-ea"/>
              </a:rPr>
              <a:t>Diamond shape: </a:t>
            </a:r>
            <a:r>
              <a:rPr lang="en-US" sz="1200" dirty="0">
                <a:solidFill>
                  <a:schemeClr val="bg1"/>
                </a:solidFill>
                <a:latin typeface="Verdana" pitchFamily="34" charset="0"/>
                <a:ea typeface="+mn-ea"/>
              </a:rPr>
              <a:t>Showing conditional calling of low-level modules. The program calls modules only when certain conditions exist.</a:t>
            </a:r>
          </a:p>
        </p:txBody>
      </p:sp>
      <p:cxnSp>
        <p:nvCxnSpPr>
          <p:cNvPr id="13" name="Straight Arrow Connector 12">
            <a:extLst>
              <a:ext uri="{FF2B5EF4-FFF2-40B4-BE49-F238E27FC236}">
                <a16:creationId xmlns:a16="http://schemas.microsoft.com/office/drawing/2014/main" id="{A658E598-8EE8-FC4D-BE65-2EAFC54AB920}"/>
              </a:ext>
            </a:extLst>
          </p:cNvPr>
          <p:cNvCxnSpPr>
            <a:cxnSpLocks/>
            <a:stCxn id="11" idx="1"/>
          </p:cNvCxnSpPr>
          <p:nvPr/>
        </p:nvCxnSpPr>
        <p:spPr>
          <a:xfrm flipH="1">
            <a:off x="8424809" y="2921714"/>
            <a:ext cx="1441807" cy="89631"/>
          </a:xfrm>
          <a:prstGeom prst="straightConnector1">
            <a:avLst/>
          </a:prstGeom>
          <a:ln w="38100">
            <a:solidFill>
              <a:srgbClr val="820F3E"/>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C4A4064B-1713-6A40-B77D-6AB890137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249" y="1769510"/>
            <a:ext cx="5571531" cy="3866508"/>
          </a:xfrm>
          <a:prstGeom prst="rect">
            <a:avLst/>
          </a:prstGeom>
        </p:spPr>
      </p:pic>
    </p:spTree>
    <p:extLst>
      <p:ext uri="{BB962C8B-B14F-4D97-AF65-F5344CB8AC3E}">
        <p14:creationId xmlns:p14="http://schemas.microsoft.com/office/powerpoint/2010/main" val="2312990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 OR Logic</a:t>
            </a:r>
            <a:endParaRPr lang="en-US" altLang="en-US" sz="5400" dirty="0">
              <a:solidFill>
                <a:srgbClr val="85103F"/>
              </a:solidFill>
              <a:latin typeface="Calibri Light" panose="020F0302020204030204" pitchFamily="34" charset="0"/>
            </a:endParaRPr>
          </a:p>
        </p:txBody>
      </p:sp>
      <p:sp>
        <p:nvSpPr>
          <p:cNvPr id="14" name="Rectangle 33">
            <a:extLst>
              <a:ext uri="{FF2B5EF4-FFF2-40B4-BE49-F238E27FC236}">
                <a16:creationId xmlns:a16="http://schemas.microsoft.com/office/drawing/2014/main" id="{3F7755C3-AFB5-8B4B-BB37-4777BE820559}"/>
              </a:ext>
            </a:extLst>
          </p:cNvPr>
          <p:cNvSpPr>
            <a:spLocks noChangeArrowheads="1"/>
          </p:cNvSpPr>
          <p:nvPr/>
        </p:nvSpPr>
        <p:spPr bwMode="auto">
          <a:xfrm>
            <a:off x="368817" y="938934"/>
            <a:ext cx="6639272" cy="762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p>
            <a:r>
              <a:rPr lang="en-US" sz="2400" dirty="0">
                <a:latin typeface="Avenir Book" panose="02000503020000020003" pitchFamily="2" charset="0"/>
              </a:rPr>
              <a:t>Example : Prepare Customer Bill</a:t>
            </a:r>
          </a:p>
        </p:txBody>
      </p:sp>
      <p:grpSp>
        <p:nvGrpSpPr>
          <p:cNvPr id="15" name="Group 41">
            <a:extLst>
              <a:ext uri="{FF2B5EF4-FFF2-40B4-BE49-F238E27FC236}">
                <a16:creationId xmlns:a16="http://schemas.microsoft.com/office/drawing/2014/main" id="{0389D6D6-1F45-D543-A933-6D8F71D95BBC}"/>
              </a:ext>
            </a:extLst>
          </p:cNvPr>
          <p:cNvGrpSpPr>
            <a:grpSpLocks/>
          </p:cNvGrpSpPr>
          <p:nvPr/>
        </p:nvGrpSpPr>
        <p:grpSpPr bwMode="auto">
          <a:xfrm>
            <a:off x="830953" y="2048596"/>
            <a:ext cx="5715000" cy="3703638"/>
            <a:chOff x="48" y="739"/>
            <a:chExt cx="3600" cy="2333"/>
          </a:xfrm>
        </p:grpSpPr>
        <p:pic>
          <p:nvPicPr>
            <p:cNvPr id="16" name="Picture 36" descr="D:\content\lib\chapter20\fg20-10.jpg">
              <a:extLst>
                <a:ext uri="{FF2B5EF4-FFF2-40B4-BE49-F238E27FC236}">
                  <a16:creationId xmlns:a16="http://schemas.microsoft.com/office/drawing/2014/main" id="{82D09209-6F7C-DB47-9025-B0BB8AF08A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 y="739"/>
              <a:ext cx="3600" cy="23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Text Box 38">
              <a:extLst>
                <a:ext uri="{FF2B5EF4-FFF2-40B4-BE49-F238E27FC236}">
                  <a16:creationId xmlns:a16="http://schemas.microsoft.com/office/drawing/2014/main" id="{D43B8D52-DE15-BF44-B264-0F5A7CDB766B}"/>
                </a:ext>
              </a:extLst>
            </p:cNvPr>
            <p:cNvSpPr txBox="1">
              <a:spLocks noChangeArrowheads="1"/>
            </p:cNvSpPr>
            <p:nvPr/>
          </p:nvSpPr>
          <p:spPr bwMode="auto">
            <a:xfrm>
              <a:off x="383" y="742"/>
              <a:ext cx="986" cy="601"/>
            </a:xfrm>
            <a:prstGeom prst="rect">
              <a:avLst/>
            </a:prstGeom>
            <a:solidFill>
              <a:srgbClr val="FFFFB5"/>
            </a:solidFill>
            <a:ln w="9525">
              <a:noFill/>
              <a:miter lim="800000"/>
              <a:headEnd/>
              <a:tailEnd/>
            </a:ln>
          </p:spPr>
          <p:txBody>
            <a:bodyPr wrap="square">
              <a:spAutoFit/>
            </a:bodyPr>
            <a:lstStyle/>
            <a:p>
              <a:pPr>
                <a:spcBef>
                  <a:spcPct val="50000"/>
                </a:spcBef>
                <a:defRPr/>
              </a:pPr>
              <a:r>
                <a:rPr lang="en-US" sz="1400" dirty="0">
                  <a:latin typeface="Jester" pitchFamily="2" charset="0"/>
                  <a:ea typeface="+mn-ea"/>
                </a:rPr>
                <a:t>The diamond means that the module contains OR logic</a:t>
              </a:r>
            </a:p>
          </p:txBody>
        </p:sp>
        <p:sp>
          <p:nvSpPr>
            <p:cNvPr id="18" name="Text Box 39">
              <a:extLst>
                <a:ext uri="{FF2B5EF4-FFF2-40B4-BE49-F238E27FC236}">
                  <a16:creationId xmlns:a16="http://schemas.microsoft.com/office/drawing/2014/main" id="{4541B4FD-2AF1-844A-97F5-4B266D16BBD6}"/>
                </a:ext>
              </a:extLst>
            </p:cNvPr>
            <p:cNvSpPr txBox="1">
              <a:spLocks noChangeArrowheads="1"/>
            </p:cNvSpPr>
            <p:nvPr/>
          </p:nvSpPr>
          <p:spPr bwMode="auto">
            <a:xfrm>
              <a:off x="2034" y="1824"/>
              <a:ext cx="960" cy="594"/>
            </a:xfrm>
            <a:prstGeom prst="rect">
              <a:avLst/>
            </a:prstGeom>
            <a:solidFill>
              <a:srgbClr val="FFFFB5"/>
            </a:solidFill>
            <a:ln w="9525">
              <a:noFill/>
              <a:miter lim="800000"/>
              <a:headEnd/>
              <a:tailEnd/>
            </a:ln>
          </p:spPr>
          <p:txBody>
            <a:bodyPr>
              <a:spAutoFit/>
            </a:bodyPr>
            <a:lstStyle/>
            <a:p>
              <a:pPr>
                <a:spcBef>
                  <a:spcPct val="50000"/>
                </a:spcBef>
                <a:defRPr/>
              </a:pPr>
              <a:r>
                <a:rPr lang="en-US" sz="1400" dirty="0">
                  <a:latin typeface="Jester" pitchFamily="2" charset="0"/>
                  <a:ea typeface="+mn-ea"/>
                </a:rPr>
                <a:t>Some, but not all, of the modules will be performed</a:t>
              </a:r>
            </a:p>
          </p:txBody>
        </p:sp>
      </p:grpSp>
      <p:pic>
        <p:nvPicPr>
          <p:cNvPr id="12" name="Picture 11">
            <a:extLst>
              <a:ext uri="{FF2B5EF4-FFF2-40B4-BE49-F238E27FC236}">
                <a16:creationId xmlns:a16="http://schemas.microsoft.com/office/drawing/2014/main" id="{9A6CEF03-8973-3A47-8FD5-58280B9FE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8657" y="1777111"/>
            <a:ext cx="5095527" cy="3570588"/>
          </a:xfrm>
          <a:prstGeom prst="rect">
            <a:avLst/>
          </a:prstGeom>
        </p:spPr>
      </p:pic>
    </p:spTree>
    <p:extLst>
      <p:ext uri="{BB962C8B-B14F-4D97-AF65-F5344CB8AC3E}">
        <p14:creationId xmlns:p14="http://schemas.microsoft.com/office/powerpoint/2010/main" val="1350445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 WHILE Logic</a:t>
            </a:r>
            <a:endParaRPr lang="en-US" altLang="en-US" sz="5400" dirty="0">
              <a:solidFill>
                <a:srgbClr val="85103F"/>
              </a:solidFill>
              <a:latin typeface="Calibri Light" panose="020F0302020204030204" pitchFamily="34" charset="0"/>
            </a:endParaRPr>
          </a:p>
        </p:txBody>
      </p:sp>
      <p:sp>
        <p:nvSpPr>
          <p:cNvPr id="10" name="Rectangle 8">
            <a:extLst>
              <a:ext uri="{FF2B5EF4-FFF2-40B4-BE49-F238E27FC236}">
                <a16:creationId xmlns:a16="http://schemas.microsoft.com/office/drawing/2014/main" id="{A046DC22-D5C6-C740-A689-8388ECFB801A}"/>
              </a:ext>
            </a:extLst>
          </p:cNvPr>
          <p:cNvSpPr>
            <a:spLocks noChangeArrowheads="1"/>
          </p:cNvSpPr>
          <p:nvPr/>
        </p:nvSpPr>
        <p:spPr bwMode="auto">
          <a:xfrm>
            <a:off x="6869131" y="1654140"/>
            <a:ext cx="1752600" cy="1066800"/>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sz="2000">
                <a:latin typeface="Verdana" charset="0"/>
              </a:rPr>
              <a:t>Payroll </a:t>
            </a:r>
          </a:p>
          <a:p>
            <a:pPr algn="ctr"/>
            <a:r>
              <a:rPr lang="en-US" sz="2000">
                <a:latin typeface="Verdana" charset="0"/>
              </a:rPr>
              <a:t>program</a:t>
            </a:r>
          </a:p>
        </p:txBody>
      </p:sp>
      <p:sp>
        <p:nvSpPr>
          <p:cNvPr id="11" name="Rectangle 9">
            <a:extLst>
              <a:ext uri="{FF2B5EF4-FFF2-40B4-BE49-F238E27FC236}">
                <a16:creationId xmlns:a16="http://schemas.microsoft.com/office/drawing/2014/main" id="{52BEEF22-A058-B947-830B-89D9D3DC0205}"/>
              </a:ext>
            </a:extLst>
          </p:cNvPr>
          <p:cNvSpPr>
            <a:spLocks noChangeArrowheads="1"/>
          </p:cNvSpPr>
          <p:nvPr/>
        </p:nvSpPr>
        <p:spPr bwMode="auto">
          <a:xfrm>
            <a:off x="5116531" y="4092540"/>
            <a:ext cx="1600200" cy="1066800"/>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sz="2000">
                <a:latin typeface="Verdana" charset="0"/>
              </a:rPr>
              <a:t>Enter </a:t>
            </a:r>
          </a:p>
          <a:p>
            <a:pPr algn="ctr"/>
            <a:r>
              <a:rPr lang="en-US" sz="2000">
                <a:latin typeface="Verdana" charset="0"/>
              </a:rPr>
              <a:t>time cards</a:t>
            </a:r>
          </a:p>
        </p:txBody>
      </p:sp>
      <p:sp>
        <p:nvSpPr>
          <p:cNvPr id="13" name="Rectangle 10">
            <a:extLst>
              <a:ext uri="{FF2B5EF4-FFF2-40B4-BE49-F238E27FC236}">
                <a16:creationId xmlns:a16="http://schemas.microsoft.com/office/drawing/2014/main" id="{6D8C77B0-82DB-FD46-A0FC-7285CF9EB242}"/>
              </a:ext>
            </a:extLst>
          </p:cNvPr>
          <p:cNvSpPr>
            <a:spLocks noChangeArrowheads="1"/>
          </p:cNvSpPr>
          <p:nvPr/>
        </p:nvSpPr>
        <p:spPr bwMode="auto">
          <a:xfrm>
            <a:off x="7097731" y="4092540"/>
            <a:ext cx="1600200" cy="1066800"/>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sz="2000">
                <a:latin typeface="Verdana" charset="0"/>
              </a:rPr>
              <a:t>Calculate </a:t>
            </a:r>
          </a:p>
          <a:p>
            <a:pPr algn="ctr"/>
            <a:r>
              <a:rPr lang="en-US" sz="2000">
                <a:latin typeface="Verdana" charset="0"/>
              </a:rPr>
              <a:t>Amounts</a:t>
            </a:r>
          </a:p>
        </p:txBody>
      </p:sp>
      <p:sp>
        <p:nvSpPr>
          <p:cNvPr id="19" name="Rectangle 11">
            <a:extLst>
              <a:ext uri="{FF2B5EF4-FFF2-40B4-BE49-F238E27FC236}">
                <a16:creationId xmlns:a16="http://schemas.microsoft.com/office/drawing/2014/main" id="{1B23375F-28B3-6F48-847F-6186D13684C3}"/>
              </a:ext>
            </a:extLst>
          </p:cNvPr>
          <p:cNvSpPr>
            <a:spLocks noChangeArrowheads="1"/>
          </p:cNvSpPr>
          <p:nvPr/>
        </p:nvSpPr>
        <p:spPr bwMode="auto">
          <a:xfrm>
            <a:off x="9002731" y="4092540"/>
            <a:ext cx="1371600" cy="1066800"/>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sz="2000">
                <a:latin typeface="Verdana" charset="0"/>
              </a:rPr>
              <a:t>Output </a:t>
            </a:r>
          </a:p>
          <a:p>
            <a:pPr algn="ctr"/>
            <a:r>
              <a:rPr lang="en-US" sz="2000">
                <a:latin typeface="Verdana" charset="0"/>
              </a:rPr>
              <a:t>Payroll</a:t>
            </a:r>
          </a:p>
        </p:txBody>
      </p:sp>
      <p:grpSp>
        <p:nvGrpSpPr>
          <p:cNvPr id="20" name="Group 22">
            <a:extLst>
              <a:ext uri="{FF2B5EF4-FFF2-40B4-BE49-F238E27FC236}">
                <a16:creationId xmlns:a16="http://schemas.microsoft.com/office/drawing/2014/main" id="{8CA4B21A-DA1B-224D-8422-801C7DFC02B7}"/>
              </a:ext>
            </a:extLst>
          </p:cNvPr>
          <p:cNvGrpSpPr>
            <a:grpSpLocks/>
          </p:cNvGrpSpPr>
          <p:nvPr/>
        </p:nvGrpSpPr>
        <p:grpSpPr bwMode="auto">
          <a:xfrm>
            <a:off x="6183331" y="2720940"/>
            <a:ext cx="3352800" cy="1295400"/>
            <a:chOff x="2976" y="1824"/>
            <a:chExt cx="2112" cy="816"/>
          </a:xfrm>
        </p:grpSpPr>
        <p:grpSp>
          <p:nvGrpSpPr>
            <p:cNvPr id="21" name="Group 15">
              <a:extLst>
                <a:ext uri="{FF2B5EF4-FFF2-40B4-BE49-F238E27FC236}">
                  <a16:creationId xmlns:a16="http://schemas.microsoft.com/office/drawing/2014/main" id="{ADA85CC8-7ADF-7B4D-B682-30ABF10D19D3}"/>
                </a:ext>
              </a:extLst>
            </p:cNvPr>
            <p:cNvGrpSpPr>
              <a:grpSpLocks/>
            </p:cNvGrpSpPr>
            <p:nvPr/>
          </p:nvGrpSpPr>
          <p:grpSpPr bwMode="auto">
            <a:xfrm>
              <a:off x="2976" y="1824"/>
              <a:ext cx="2112" cy="816"/>
              <a:chOff x="2736" y="1920"/>
              <a:chExt cx="2112" cy="816"/>
            </a:xfrm>
          </p:grpSpPr>
          <p:sp>
            <p:nvSpPr>
              <p:cNvPr id="23" name="Line 12">
                <a:extLst>
                  <a:ext uri="{FF2B5EF4-FFF2-40B4-BE49-F238E27FC236}">
                    <a16:creationId xmlns:a16="http://schemas.microsoft.com/office/drawing/2014/main" id="{0542324B-4639-4040-8540-928006E0F420}"/>
                  </a:ext>
                </a:extLst>
              </p:cNvPr>
              <p:cNvSpPr>
                <a:spLocks noChangeShapeType="1"/>
              </p:cNvSpPr>
              <p:nvPr/>
            </p:nvSpPr>
            <p:spPr bwMode="auto">
              <a:xfrm flipH="1">
                <a:off x="2736" y="1920"/>
                <a:ext cx="1008" cy="816"/>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24" name="Line 13">
                <a:extLst>
                  <a:ext uri="{FF2B5EF4-FFF2-40B4-BE49-F238E27FC236}">
                    <a16:creationId xmlns:a16="http://schemas.microsoft.com/office/drawing/2014/main" id="{771F60E1-ABAA-734C-B177-3863A2B36E8B}"/>
                  </a:ext>
                </a:extLst>
              </p:cNvPr>
              <p:cNvSpPr>
                <a:spLocks noChangeShapeType="1"/>
              </p:cNvSpPr>
              <p:nvPr/>
            </p:nvSpPr>
            <p:spPr bwMode="auto">
              <a:xfrm>
                <a:off x="3744" y="1920"/>
                <a:ext cx="0" cy="816"/>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25" name="Line 14">
                <a:extLst>
                  <a:ext uri="{FF2B5EF4-FFF2-40B4-BE49-F238E27FC236}">
                    <a16:creationId xmlns:a16="http://schemas.microsoft.com/office/drawing/2014/main" id="{9FC80F3B-6B15-7549-9B2F-7EE7DE17DE95}"/>
                  </a:ext>
                </a:extLst>
              </p:cNvPr>
              <p:cNvSpPr>
                <a:spLocks noChangeShapeType="1"/>
              </p:cNvSpPr>
              <p:nvPr/>
            </p:nvSpPr>
            <p:spPr bwMode="auto">
              <a:xfrm>
                <a:off x="3744" y="1920"/>
                <a:ext cx="1104" cy="816"/>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grpSp>
        <p:sp>
          <p:nvSpPr>
            <p:cNvPr id="22" name="Freeform 17">
              <a:extLst>
                <a:ext uri="{FF2B5EF4-FFF2-40B4-BE49-F238E27FC236}">
                  <a16:creationId xmlns:a16="http://schemas.microsoft.com/office/drawing/2014/main" id="{11700901-FECF-8F49-A400-8564D3BF597B}"/>
                </a:ext>
              </a:extLst>
            </p:cNvPr>
            <p:cNvSpPr>
              <a:spLocks/>
            </p:cNvSpPr>
            <p:nvPr/>
          </p:nvSpPr>
          <p:spPr bwMode="auto">
            <a:xfrm>
              <a:off x="3744" y="1824"/>
              <a:ext cx="480" cy="240"/>
            </a:xfrm>
            <a:custGeom>
              <a:avLst/>
              <a:gdLst>
                <a:gd name="T0" fmla="*/ 0 w 480"/>
                <a:gd name="T1" fmla="*/ 0 h 240"/>
                <a:gd name="T2" fmla="*/ 240 w 480"/>
                <a:gd name="T3" fmla="*/ 240 h 240"/>
                <a:gd name="T4" fmla="*/ 480 w 480"/>
                <a:gd name="T5" fmla="*/ 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0"/>
                  </a:moveTo>
                  <a:cubicBezTo>
                    <a:pt x="80" y="120"/>
                    <a:pt x="160" y="240"/>
                    <a:pt x="240" y="240"/>
                  </a:cubicBezTo>
                  <a:cubicBezTo>
                    <a:pt x="320" y="240"/>
                    <a:pt x="400" y="120"/>
                    <a:pt x="480" y="0"/>
                  </a:cubicBezTo>
                </a:path>
              </a:pathLst>
            </a:custGeom>
            <a:noFill/>
            <a:ln w="28575">
              <a:solidFill>
                <a:schemeClr val="tx1"/>
              </a:solidFill>
              <a:miter lim="800000"/>
              <a:headEnd/>
              <a:tailEnd type="triangle" w="med" len="med"/>
            </a:ln>
            <a:extLst>
              <a:ext uri="{909E8E84-426E-40dd-AFC4-6F175D3DCCD1}">
                <a14:hiddenFill xmlns="" xmlns:a14="http://schemas.microsoft.com/office/drawing/2010/main">
                  <a:solidFill>
                    <a:srgbClr val="FFFFFF"/>
                  </a:solidFill>
                </a14:hiddenFill>
              </a:ext>
            </a:extLst>
          </p:spPr>
          <p:txBody>
            <a:bodyPr wrap="none"/>
            <a:lstStyle/>
            <a:p>
              <a:endParaRPr lang="en-US"/>
            </a:p>
          </p:txBody>
        </p:sp>
      </p:grpSp>
      <p:sp>
        <p:nvSpPr>
          <p:cNvPr id="26" name="Text Box 20">
            <a:extLst>
              <a:ext uri="{FF2B5EF4-FFF2-40B4-BE49-F238E27FC236}">
                <a16:creationId xmlns:a16="http://schemas.microsoft.com/office/drawing/2014/main" id="{5BF54AD0-738D-EB40-95C4-1516AC1B3C9C}"/>
              </a:ext>
            </a:extLst>
          </p:cNvPr>
          <p:cNvSpPr txBox="1">
            <a:spLocks noChangeArrowheads="1"/>
          </p:cNvSpPr>
          <p:nvPr/>
        </p:nvSpPr>
        <p:spPr bwMode="auto">
          <a:xfrm>
            <a:off x="9764731" y="2305015"/>
            <a:ext cx="1524000" cy="831850"/>
          </a:xfrm>
          <a:prstGeom prst="rect">
            <a:avLst/>
          </a:prstGeom>
          <a:solidFill>
            <a:srgbClr val="820F3E"/>
          </a:solidFill>
          <a:ln w="9525">
            <a:noFill/>
            <a:miter lim="800000"/>
            <a:headEnd/>
            <a:tailEnd/>
          </a:ln>
          <a:effectLst>
            <a:outerShdw dist="35921" dir="2700000" algn="ctr" rotWithShape="0">
              <a:schemeClr val="bg2"/>
            </a:outerShdw>
          </a:effectLst>
        </p:spPr>
        <p:txBody>
          <a:bodyPr>
            <a:spAutoFit/>
          </a:bodyPr>
          <a:lstStyle/>
          <a:p>
            <a:pPr>
              <a:spcBef>
                <a:spcPct val="50000"/>
              </a:spcBef>
              <a:defRPr/>
            </a:pPr>
            <a:r>
              <a:rPr lang="en-US" sz="1200" b="1">
                <a:solidFill>
                  <a:schemeClr val="bg1"/>
                </a:solidFill>
                <a:latin typeface="Verdana" pitchFamily="34" charset="0"/>
                <a:ea typeface="+mn-ea"/>
              </a:rPr>
              <a:t>Curved Line: </a:t>
            </a:r>
            <a:r>
              <a:rPr lang="en-US" sz="1200">
                <a:solidFill>
                  <a:schemeClr val="bg1"/>
                </a:solidFill>
                <a:latin typeface="Verdana" pitchFamily="34" charset="0"/>
                <a:ea typeface="+mn-ea"/>
              </a:rPr>
              <a:t>indicate iteration through several modules.</a:t>
            </a:r>
          </a:p>
        </p:txBody>
      </p:sp>
      <p:pic>
        <p:nvPicPr>
          <p:cNvPr id="3" name="Picture 2">
            <a:extLst>
              <a:ext uri="{FF2B5EF4-FFF2-40B4-BE49-F238E27FC236}">
                <a16:creationId xmlns:a16="http://schemas.microsoft.com/office/drawing/2014/main" id="{C0AD4A51-0031-FF47-B7B6-E79E5E0FB9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307" y="1428109"/>
            <a:ext cx="4542042" cy="4239239"/>
          </a:xfrm>
          <a:prstGeom prst="rect">
            <a:avLst/>
          </a:prstGeom>
        </p:spPr>
      </p:pic>
      <p:cxnSp>
        <p:nvCxnSpPr>
          <p:cNvPr id="5" name="Straight Arrow Connector 4">
            <a:extLst>
              <a:ext uri="{FF2B5EF4-FFF2-40B4-BE49-F238E27FC236}">
                <a16:creationId xmlns:a16="http://schemas.microsoft.com/office/drawing/2014/main" id="{ECB89BF4-9189-BD4B-87E2-4C3DCD5FE4F1}"/>
              </a:ext>
            </a:extLst>
          </p:cNvPr>
          <p:cNvCxnSpPr>
            <a:stCxn id="26" idx="1"/>
          </p:cNvCxnSpPr>
          <p:nvPr/>
        </p:nvCxnSpPr>
        <p:spPr>
          <a:xfrm flipH="1">
            <a:off x="8250148" y="2720940"/>
            <a:ext cx="1514583" cy="145550"/>
          </a:xfrm>
          <a:prstGeom prst="straightConnector1">
            <a:avLst/>
          </a:prstGeom>
          <a:ln w="38100">
            <a:solidFill>
              <a:srgbClr val="820F3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9907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 without OR &amp; WHILE Logic</a:t>
            </a:r>
            <a:endParaRPr lang="en-US" altLang="en-US" sz="5400" dirty="0">
              <a:solidFill>
                <a:srgbClr val="85103F"/>
              </a:solidFill>
              <a:latin typeface="Calibri Light" panose="020F0302020204030204" pitchFamily="34" charset="0"/>
            </a:endParaRPr>
          </a:p>
        </p:txBody>
      </p:sp>
      <p:grpSp>
        <p:nvGrpSpPr>
          <p:cNvPr id="3" name="Group 61">
            <a:extLst>
              <a:ext uri="{FF2B5EF4-FFF2-40B4-BE49-F238E27FC236}">
                <a16:creationId xmlns:a16="http://schemas.microsoft.com/office/drawing/2014/main" id="{49224E5A-AECF-674F-A1C9-2ABE4FE078BA}"/>
              </a:ext>
            </a:extLst>
          </p:cNvPr>
          <p:cNvGrpSpPr>
            <a:grpSpLocks/>
          </p:cNvGrpSpPr>
          <p:nvPr/>
        </p:nvGrpSpPr>
        <p:grpSpPr bwMode="auto">
          <a:xfrm>
            <a:off x="6096000" y="2051407"/>
            <a:ext cx="3581400" cy="3505200"/>
            <a:chOff x="2880" y="1344"/>
            <a:chExt cx="2256" cy="2208"/>
          </a:xfrm>
        </p:grpSpPr>
        <p:sp>
          <p:nvSpPr>
            <p:cNvPr id="4" name="Rectangle 50">
              <a:extLst>
                <a:ext uri="{FF2B5EF4-FFF2-40B4-BE49-F238E27FC236}">
                  <a16:creationId xmlns:a16="http://schemas.microsoft.com/office/drawing/2014/main" id="{915EC58B-EE9D-4244-989F-E451AC8DCD88}"/>
                </a:ext>
              </a:extLst>
            </p:cNvPr>
            <p:cNvSpPr>
              <a:spLocks noChangeArrowheads="1"/>
            </p:cNvSpPr>
            <p:nvPr/>
          </p:nvSpPr>
          <p:spPr bwMode="auto">
            <a:xfrm>
              <a:off x="3408" y="1344"/>
              <a:ext cx="1104" cy="672"/>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a:latin typeface="Verdana" charset="0"/>
                </a:rPr>
                <a:t>Calculate </a:t>
              </a:r>
            </a:p>
            <a:p>
              <a:pPr algn="ctr"/>
              <a:r>
                <a:rPr lang="en-US">
                  <a:latin typeface="Verdana" charset="0"/>
                </a:rPr>
                <a:t>amounts</a:t>
              </a:r>
            </a:p>
          </p:txBody>
        </p:sp>
        <p:sp>
          <p:nvSpPr>
            <p:cNvPr id="5" name="Rectangle 51">
              <a:extLst>
                <a:ext uri="{FF2B5EF4-FFF2-40B4-BE49-F238E27FC236}">
                  <a16:creationId xmlns:a16="http://schemas.microsoft.com/office/drawing/2014/main" id="{01BA940F-2DFA-4C46-B212-348C5FE42FA1}"/>
                </a:ext>
              </a:extLst>
            </p:cNvPr>
            <p:cNvSpPr>
              <a:spLocks noChangeArrowheads="1"/>
            </p:cNvSpPr>
            <p:nvPr/>
          </p:nvSpPr>
          <p:spPr bwMode="auto">
            <a:xfrm>
              <a:off x="2880" y="2880"/>
              <a:ext cx="1008" cy="672"/>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a:latin typeface="Verdana" charset="0"/>
                </a:rPr>
                <a:t>Get </a:t>
              </a:r>
            </a:p>
            <a:p>
              <a:pPr algn="ctr"/>
              <a:r>
                <a:rPr lang="en-US">
                  <a:latin typeface="Verdana" charset="0"/>
                </a:rPr>
                <a:t>Employee </a:t>
              </a:r>
            </a:p>
            <a:p>
              <a:pPr algn="ctr"/>
              <a:r>
                <a:rPr lang="en-US">
                  <a:latin typeface="Verdana" charset="0"/>
                </a:rPr>
                <a:t>pay rates</a:t>
              </a:r>
            </a:p>
          </p:txBody>
        </p:sp>
        <p:sp>
          <p:nvSpPr>
            <p:cNvPr id="6" name="Rectangle 52">
              <a:extLst>
                <a:ext uri="{FF2B5EF4-FFF2-40B4-BE49-F238E27FC236}">
                  <a16:creationId xmlns:a16="http://schemas.microsoft.com/office/drawing/2014/main" id="{87CF0FD0-9D03-EE44-BE9E-AA72D68134F9}"/>
                </a:ext>
              </a:extLst>
            </p:cNvPr>
            <p:cNvSpPr>
              <a:spLocks noChangeArrowheads="1"/>
            </p:cNvSpPr>
            <p:nvPr/>
          </p:nvSpPr>
          <p:spPr bwMode="auto">
            <a:xfrm>
              <a:off x="4128" y="2880"/>
              <a:ext cx="1008" cy="672"/>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a:latin typeface="Verdana" charset="0"/>
                </a:rPr>
                <a:t>Calculate</a:t>
              </a:r>
            </a:p>
            <a:p>
              <a:pPr algn="ctr"/>
              <a:r>
                <a:rPr lang="en-US">
                  <a:latin typeface="Verdana" charset="0"/>
                </a:rPr>
                <a:t>Pay </a:t>
              </a:r>
            </a:p>
            <a:p>
              <a:pPr algn="ctr"/>
              <a:r>
                <a:rPr lang="en-US">
                  <a:latin typeface="Verdana" charset="0"/>
                </a:rPr>
                <a:t>amounts</a:t>
              </a:r>
            </a:p>
          </p:txBody>
        </p:sp>
        <p:sp>
          <p:nvSpPr>
            <p:cNvPr id="7" name="Line 55">
              <a:extLst>
                <a:ext uri="{FF2B5EF4-FFF2-40B4-BE49-F238E27FC236}">
                  <a16:creationId xmlns:a16="http://schemas.microsoft.com/office/drawing/2014/main" id="{190CA4AB-F70F-6B4E-AF96-74399F1D483E}"/>
                </a:ext>
              </a:extLst>
            </p:cNvPr>
            <p:cNvSpPr>
              <a:spLocks noChangeShapeType="1"/>
            </p:cNvSpPr>
            <p:nvPr/>
          </p:nvSpPr>
          <p:spPr bwMode="auto">
            <a:xfrm flipH="1">
              <a:off x="3312" y="2016"/>
              <a:ext cx="672" cy="816"/>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8" name="Line 56">
              <a:extLst>
                <a:ext uri="{FF2B5EF4-FFF2-40B4-BE49-F238E27FC236}">
                  <a16:creationId xmlns:a16="http://schemas.microsoft.com/office/drawing/2014/main" id="{D9490473-23D3-FA4B-ACDA-B386C988F739}"/>
                </a:ext>
              </a:extLst>
            </p:cNvPr>
            <p:cNvSpPr>
              <a:spLocks noChangeShapeType="1"/>
            </p:cNvSpPr>
            <p:nvPr/>
          </p:nvSpPr>
          <p:spPr bwMode="auto">
            <a:xfrm>
              <a:off x="3984" y="2016"/>
              <a:ext cx="768" cy="816"/>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grpSp>
      <p:pic>
        <p:nvPicPr>
          <p:cNvPr id="17" name="Picture 16">
            <a:extLst>
              <a:ext uri="{FF2B5EF4-FFF2-40B4-BE49-F238E27FC236}">
                <a16:creationId xmlns:a16="http://schemas.microsoft.com/office/drawing/2014/main" id="{D959F647-3FFA-C949-A235-5CDFC128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94" y="2583540"/>
            <a:ext cx="4943382" cy="2494016"/>
          </a:xfrm>
          <a:prstGeom prst="rect">
            <a:avLst/>
          </a:prstGeom>
        </p:spPr>
      </p:pic>
    </p:spTree>
    <p:extLst>
      <p:ext uri="{BB962C8B-B14F-4D97-AF65-F5344CB8AC3E}">
        <p14:creationId xmlns:p14="http://schemas.microsoft.com/office/powerpoint/2010/main" val="2090037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69" y="591272"/>
            <a:ext cx="11727291"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 with OR &amp; WHILE Logic</a:t>
            </a:r>
            <a:endParaRPr lang="en-US" altLang="en-US" sz="5400" dirty="0">
              <a:solidFill>
                <a:srgbClr val="85103F"/>
              </a:solidFill>
              <a:latin typeface="Calibri Light" panose="020F0302020204030204" pitchFamily="34" charset="0"/>
            </a:endParaRPr>
          </a:p>
        </p:txBody>
      </p:sp>
      <p:grpSp>
        <p:nvGrpSpPr>
          <p:cNvPr id="23" name="Group 22">
            <a:extLst>
              <a:ext uri="{FF2B5EF4-FFF2-40B4-BE49-F238E27FC236}">
                <a16:creationId xmlns:a16="http://schemas.microsoft.com/office/drawing/2014/main" id="{95E464D8-CE0F-5046-BEE1-BFC9D99D6D91}"/>
              </a:ext>
            </a:extLst>
          </p:cNvPr>
          <p:cNvGrpSpPr/>
          <p:nvPr/>
        </p:nvGrpSpPr>
        <p:grpSpPr>
          <a:xfrm>
            <a:off x="7326330" y="2096784"/>
            <a:ext cx="3581400" cy="3505200"/>
            <a:chOff x="4953000" y="2209800"/>
            <a:chExt cx="3581400" cy="3505200"/>
          </a:xfrm>
        </p:grpSpPr>
        <p:grpSp>
          <p:nvGrpSpPr>
            <p:cNvPr id="24" name="Group 20">
              <a:extLst>
                <a:ext uri="{FF2B5EF4-FFF2-40B4-BE49-F238E27FC236}">
                  <a16:creationId xmlns:a16="http://schemas.microsoft.com/office/drawing/2014/main" id="{C0ED676D-EB87-AC4F-A7BC-125E4A322F91}"/>
                </a:ext>
              </a:extLst>
            </p:cNvPr>
            <p:cNvGrpSpPr>
              <a:grpSpLocks/>
            </p:cNvGrpSpPr>
            <p:nvPr/>
          </p:nvGrpSpPr>
          <p:grpSpPr bwMode="auto">
            <a:xfrm>
              <a:off x="4953000" y="2209800"/>
              <a:ext cx="3581400" cy="3505200"/>
              <a:chOff x="2880" y="1344"/>
              <a:chExt cx="2256" cy="2208"/>
            </a:xfrm>
          </p:grpSpPr>
          <p:sp>
            <p:nvSpPr>
              <p:cNvPr id="27" name="Rectangle 21">
                <a:extLst>
                  <a:ext uri="{FF2B5EF4-FFF2-40B4-BE49-F238E27FC236}">
                    <a16:creationId xmlns:a16="http://schemas.microsoft.com/office/drawing/2014/main" id="{704D0DD0-16F9-F349-ABE1-652DF7FF3D02}"/>
                  </a:ext>
                </a:extLst>
              </p:cNvPr>
              <p:cNvSpPr>
                <a:spLocks noChangeArrowheads="1"/>
              </p:cNvSpPr>
              <p:nvPr/>
            </p:nvSpPr>
            <p:spPr bwMode="auto">
              <a:xfrm>
                <a:off x="3408" y="1344"/>
                <a:ext cx="1104" cy="672"/>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a:latin typeface="Verdana" charset="0"/>
                  </a:rPr>
                  <a:t>Module A</a:t>
                </a:r>
              </a:p>
            </p:txBody>
          </p:sp>
          <p:sp>
            <p:nvSpPr>
              <p:cNvPr id="28" name="Rectangle 22">
                <a:extLst>
                  <a:ext uri="{FF2B5EF4-FFF2-40B4-BE49-F238E27FC236}">
                    <a16:creationId xmlns:a16="http://schemas.microsoft.com/office/drawing/2014/main" id="{5A3E2292-3DBA-C84C-AB8E-C2ACABF32008}"/>
                  </a:ext>
                </a:extLst>
              </p:cNvPr>
              <p:cNvSpPr>
                <a:spLocks noChangeArrowheads="1"/>
              </p:cNvSpPr>
              <p:nvPr/>
            </p:nvSpPr>
            <p:spPr bwMode="auto">
              <a:xfrm>
                <a:off x="2880" y="2880"/>
                <a:ext cx="1008" cy="672"/>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a:latin typeface="Verdana" charset="0"/>
                  </a:rPr>
                  <a:t>Module B</a:t>
                </a:r>
              </a:p>
            </p:txBody>
          </p:sp>
          <p:sp>
            <p:nvSpPr>
              <p:cNvPr id="29" name="Rectangle 23">
                <a:extLst>
                  <a:ext uri="{FF2B5EF4-FFF2-40B4-BE49-F238E27FC236}">
                    <a16:creationId xmlns:a16="http://schemas.microsoft.com/office/drawing/2014/main" id="{A0C59F98-F4EB-8F4E-B83B-E167C9B4FEE1}"/>
                  </a:ext>
                </a:extLst>
              </p:cNvPr>
              <p:cNvSpPr>
                <a:spLocks noChangeArrowheads="1"/>
              </p:cNvSpPr>
              <p:nvPr/>
            </p:nvSpPr>
            <p:spPr bwMode="auto">
              <a:xfrm>
                <a:off x="4128" y="2880"/>
                <a:ext cx="1008" cy="672"/>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r>
                  <a:rPr lang="en-US">
                    <a:latin typeface="Verdana" charset="0"/>
                  </a:rPr>
                  <a:t>Module C</a:t>
                </a:r>
              </a:p>
            </p:txBody>
          </p:sp>
          <p:sp>
            <p:nvSpPr>
              <p:cNvPr id="30" name="Line 24">
                <a:extLst>
                  <a:ext uri="{FF2B5EF4-FFF2-40B4-BE49-F238E27FC236}">
                    <a16:creationId xmlns:a16="http://schemas.microsoft.com/office/drawing/2014/main" id="{1141055F-9BDD-E14E-B856-791BE23B4B2E}"/>
                  </a:ext>
                </a:extLst>
              </p:cNvPr>
              <p:cNvSpPr>
                <a:spLocks noChangeShapeType="1"/>
              </p:cNvSpPr>
              <p:nvPr/>
            </p:nvSpPr>
            <p:spPr bwMode="auto">
              <a:xfrm flipH="1">
                <a:off x="3312" y="2016"/>
                <a:ext cx="672" cy="816"/>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31" name="Line 25">
                <a:extLst>
                  <a:ext uri="{FF2B5EF4-FFF2-40B4-BE49-F238E27FC236}">
                    <a16:creationId xmlns:a16="http://schemas.microsoft.com/office/drawing/2014/main" id="{58A7BB12-BA24-8244-A4F4-31138D5EE9A6}"/>
                  </a:ext>
                </a:extLst>
              </p:cNvPr>
              <p:cNvSpPr>
                <a:spLocks noChangeShapeType="1"/>
              </p:cNvSpPr>
              <p:nvPr/>
            </p:nvSpPr>
            <p:spPr bwMode="auto">
              <a:xfrm>
                <a:off x="3984" y="2016"/>
                <a:ext cx="768" cy="816"/>
              </a:xfrm>
              <a:prstGeom prst="line">
                <a:avLst/>
              </a:prstGeom>
              <a:noFill/>
              <a:ln w="28575">
                <a:solidFill>
                  <a:schemeClr val="tx1"/>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grpSp>
        <p:sp>
          <p:nvSpPr>
            <p:cNvPr id="25" name="AutoShape 26">
              <a:extLst>
                <a:ext uri="{FF2B5EF4-FFF2-40B4-BE49-F238E27FC236}">
                  <a16:creationId xmlns:a16="http://schemas.microsoft.com/office/drawing/2014/main" id="{AB361BB5-483C-694F-8853-B9BB352E4B63}"/>
                </a:ext>
              </a:extLst>
            </p:cNvPr>
            <p:cNvSpPr>
              <a:spLocks noChangeArrowheads="1"/>
            </p:cNvSpPr>
            <p:nvPr/>
          </p:nvSpPr>
          <p:spPr bwMode="auto">
            <a:xfrm>
              <a:off x="6477000" y="3276600"/>
              <a:ext cx="457200" cy="228600"/>
            </a:xfrm>
            <a:prstGeom prst="diamond">
              <a:avLst/>
            </a:prstGeom>
            <a:solidFill>
              <a:schemeClr val="tx1"/>
            </a:solidFill>
            <a:ln w="9525">
              <a:solidFill>
                <a:schemeClr val="tx1"/>
              </a:solidFill>
              <a:miter lim="800000"/>
              <a:headEnd/>
              <a:tailEnd/>
            </a:ln>
          </p:spPr>
          <p:txBody>
            <a:bodyPr wrap="none" anchor="ctr"/>
            <a:lstStyle/>
            <a:p>
              <a:endParaRPr lang="en-US"/>
            </a:p>
          </p:txBody>
        </p:sp>
        <p:sp>
          <p:nvSpPr>
            <p:cNvPr id="26" name="Freeform 27">
              <a:extLst>
                <a:ext uri="{FF2B5EF4-FFF2-40B4-BE49-F238E27FC236}">
                  <a16:creationId xmlns:a16="http://schemas.microsoft.com/office/drawing/2014/main" id="{90879C1E-F262-6940-9620-22823058A4FC}"/>
                </a:ext>
              </a:extLst>
            </p:cNvPr>
            <p:cNvSpPr>
              <a:spLocks/>
            </p:cNvSpPr>
            <p:nvPr/>
          </p:nvSpPr>
          <p:spPr bwMode="auto">
            <a:xfrm>
              <a:off x="6248400" y="3276600"/>
              <a:ext cx="914400" cy="457200"/>
            </a:xfrm>
            <a:custGeom>
              <a:avLst/>
              <a:gdLst>
                <a:gd name="T0" fmla="*/ 0 w 576"/>
                <a:gd name="T1" fmla="*/ 0 h 288"/>
                <a:gd name="T2" fmla="*/ 2147483647 w 576"/>
                <a:gd name="T3" fmla="*/ 2147483647 h 288"/>
                <a:gd name="T4" fmla="*/ 2147483647 w 576"/>
                <a:gd name="T5" fmla="*/ 0 h 288"/>
                <a:gd name="T6" fmla="*/ 0 60000 65536"/>
                <a:gd name="T7" fmla="*/ 0 60000 65536"/>
                <a:gd name="T8" fmla="*/ 0 60000 65536"/>
                <a:gd name="T9" fmla="*/ 0 w 576"/>
                <a:gd name="T10" fmla="*/ 0 h 288"/>
                <a:gd name="T11" fmla="*/ 576 w 576"/>
                <a:gd name="T12" fmla="*/ 288 h 288"/>
              </a:gdLst>
              <a:ahLst/>
              <a:cxnLst>
                <a:cxn ang="T6">
                  <a:pos x="T0" y="T1"/>
                </a:cxn>
                <a:cxn ang="T7">
                  <a:pos x="T2" y="T3"/>
                </a:cxn>
                <a:cxn ang="T8">
                  <a:pos x="T4" y="T5"/>
                </a:cxn>
              </a:cxnLst>
              <a:rect l="T9" t="T10" r="T11" b="T12"/>
              <a:pathLst>
                <a:path w="576" h="288">
                  <a:moveTo>
                    <a:pt x="0" y="0"/>
                  </a:moveTo>
                  <a:cubicBezTo>
                    <a:pt x="96" y="144"/>
                    <a:pt x="192" y="288"/>
                    <a:pt x="288" y="288"/>
                  </a:cubicBezTo>
                  <a:cubicBezTo>
                    <a:pt x="384" y="288"/>
                    <a:pt x="480" y="144"/>
                    <a:pt x="576" y="0"/>
                  </a:cubicBezTo>
                </a:path>
              </a:pathLst>
            </a:custGeom>
            <a:noFill/>
            <a:ln w="28575">
              <a:solidFill>
                <a:schemeClr val="tx1"/>
              </a:solidFill>
              <a:miter lim="800000"/>
              <a:headEnd/>
              <a:tailEnd type="triangle" w="med" len="med"/>
            </a:ln>
            <a:extLst>
              <a:ext uri="{909E8E84-426E-40dd-AFC4-6F175D3DCCD1}">
                <a14:hiddenFill xmlns="" xmlns:a14="http://schemas.microsoft.com/office/drawing/2010/main">
                  <a:solidFill>
                    <a:srgbClr val="FFFFFF"/>
                  </a:solidFill>
                </a14:hiddenFill>
              </a:ext>
            </a:extLst>
          </p:spPr>
          <p:txBody>
            <a:bodyPr wrap="none"/>
            <a:lstStyle/>
            <a:p>
              <a:endParaRPr lang="en-US"/>
            </a:p>
          </p:txBody>
        </p:sp>
      </p:grpSp>
      <p:pic>
        <p:nvPicPr>
          <p:cNvPr id="32" name="Picture 31">
            <a:extLst>
              <a:ext uri="{FF2B5EF4-FFF2-40B4-BE49-F238E27FC236}">
                <a16:creationId xmlns:a16="http://schemas.microsoft.com/office/drawing/2014/main" id="{22327600-6448-9248-A754-611A5BA5E6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3840" y="2073453"/>
            <a:ext cx="4712062" cy="3837398"/>
          </a:xfrm>
          <a:prstGeom prst="rect">
            <a:avLst/>
          </a:prstGeom>
        </p:spPr>
      </p:pic>
    </p:spTree>
    <p:extLst>
      <p:ext uri="{BB962C8B-B14F-4D97-AF65-F5344CB8AC3E}">
        <p14:creationId xmlns:p14="http://schemas.microsoft.com/office/powerpoint/2010/main" val="1131309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 COHESION</a:t>
            </a:r>
            <a:endParaRPr lang="en-US" altLang="en-US" sz="5400" dirty="0">
              <a:solidFill>
                <a:srgbClr val="85103F"/>
              </a:solidFill>
              <a:latin typeface="Calibri Light" panose="020F0302020204030204" pitchFamily="34" charset="0"/>
            </a:endParaRPr>
          </a:p>
        </p:txBody>
      </p:sp>
      <p:sp>
        <p:nvSpPr>
          <p:cNvPr id="4" name="Rectangle 3">
            <a:extLst>
              <a:ext uri="{FF2B5EF4-FFF2-40B4-BE49-F238E27FC236}">
                <a16:creationId xmlns:a16="http://schemas.microsoft.com/office/drawing/2014/main" id="{7B6C1877-543F-5D41-9929-C4CF170E16AB}"/>
              </a:ext>
            </a:extLst>
          </p:cNvPr>
          <p:cNvSpPr txBox="1">
            <a:spLocks noChangeArrowheads="1"/>
          </p:cNvSpPr>
          <p:nvPr/>
        </p:nvSpPr>
        <p:spPr>
          <a:xfrm>
            <a:off x="288862" y="1480629"/>
            <a:ext cx="11614275" cy="492941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Measures a module's scope and processing characteristics. </a:t>
            </a:r>
          </a:p>
          <a:p>
            <a:r>
              <a:rPr lang="en-US" sz="3200" dirty="0"/>
              <a:t>A module that performs a single function or task has a high degree of cohesion, which is desirable. </a:t>
            </a:r>
          </a:p>
          <a:p>
            <a:pPr lvl="1"/>
            <a:endParaRPr lang="en-US" sz="2800" dirty="0"/>
          </a:p>
          <a:p>
            <a:pPr lvl="1"/>
            <a:endParaRPr lang="en-US" sz="2800" dirty="0"/>
          </a:p>
        </p:txBody>
      </p:sp>
      <p:graphicFrame>
        <p:nvGraphicFramePr>
          <p:cNvPr id="5" name="Object 2">
            <a:extLst>
              <a:ext uri="{FF2B5EF4-FFF2-40B4-BE49-F238E27FC236}">
                <a16:creationId xmlns:a16="http://schemas.microsoft.com/office/drawing/2014/main" id="{F5D9237E-64CD-2547-B4E3-10A4229A5BDC}"/>
              </a:ext>
            </a:extLst>
          </p:cNvPr>
          <p:cNvGraphicFramePr>
            <a:graphicFrameLocks noChangeAspect="1"/>
          </p:cNvGraphicFramePr>
          <p:nvPr>
            <p:extLst>
              <p:ext uri="{D42A27DB-BD31-4B8C-83A1-F6EECF244321}">
                <p14:modId xmlns:p14="http://schemas.microsoft.com/office/powerpoint/2010/main" val="2522053080"/>
              </p:ext>
            </p:extLst>
          </p:nvPr>
        </p:nvGraphicFramePr>
        <p:xfrm>
          <a:off x="2026907" y="3222472"/>
          <a:ext cx="8229600" cy="2398768"/>
        </p:xfrm>
        <a:graphic>
          <a:graphicData uri="http://schemas.openxmlformats.org/presentationml/2006/ole">
            <mc:AlternateContent xmlns:mc="http://schemas.openxmlformats.org/markup-compatibility/2006">
              <mc:Choice xmlns:v="urn:schemas-microsoft-com:vml" Requires="v">
                <p:oleObj spid="_x0000_s11273" name="Image" r:id="rId3" imgW="8888889" imgH="2590476" progId="">
                  <p:embed/>
                </p:oleObj>
              </mc:Choice>
              <mc:Fallback>
                <p:oleObj name="Image" r:id="rId3" imgW="8888889" imgH="2590476" progId="">
                  <p:embed/>
                  <p:pic>
                    <p:nvPicPr>
                      <p:cNvPr id="81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6907" y="3222472"/>
                        <a:ext cx="8229600" cy="2398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254710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a:extLst>
              <a:ext uri="{FF2B5EF4-FFF2-40B4-BE49-F238E27FC236}">
                <a16:creationId xmlns:a16="http://schemas.microsoft.com/office/drawing/2014/main" id="{7DCD8F5C-F1CC-5743-A47A-BB2FD9B15189}"/>
              </a:ext>
            </a:extLst>
          </p:cNvPr>
          <p:cNvGraphicFramePr>
            <a:graphicFrameLocks noChangeAspect="1"/>
          </p:cNvGraphicFramePr>
          <p:nvPr>
            <p:extLst>
              <p:ext uri="{D42A27DB-BD31-4B8C-83A1-F6EECF244321}">
                <p14:modId xmlns:p14="http://schemas.microsoft.com/office/powerpoint/2010/main" val="2120979054"/>
              </p:ext>
            </p:extLst>
          </p:nvPr>
        </p:nvGraphicFramePr>
        <p:xfrm>
          <a:off x="5295043" y="1563972"/>
          <a:ext cx="6766818" cy="4309972"/>
        </p:xfrm>
        <a:graphic>
          <a:graphicData uri="http://schemas.openxmlformats.org/presentationml/2006/ole">
            <mc:AlternateContent xmlns:mc="http://schemas.openxmlformats.org/markup-compatibility/2006">
              <mc:Choice xmlns:v="urn:schemas-microsoft-com:vml" Requires="v">
                <p:oleObj spid="_x0000_s12297" name="Image" r:id="rId3" imgW="7936508" imgH="5053968" progId="">
                  <p:embed/>
                </p:oleObj>
              </mc:Choice>
              <mc:Fallback>
                <p:oleObj name="Image" r:id="rId3" imgW="7936508" imgH="5053968" progId="">
                  <p:embed/>
                  <p:pic>
                    <p:nvPicPr>
                      <p:cNvPr id="92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5043" y="1563972"/>
                        <a:ext cx="6766818" cy="4309972"/>
                      </a:xfrm>
                      <a:prstGeom prst="rect">
                        <a:avLst/>
                      </a:prstGeom>
                      <a:noFill/>
                      <a:ln>
                        <a:noFill/>
                      </a:ln>
                      <a:effectLst/>
                    </p:spPr>
                  </p:pic>
                </p:oleObj>
              </mc:Fallback>
            </mc:AlternateContent>
          </a:graphicData>
        </a:graphic>
      </p:graphicFrame>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34570" y="591272"/>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 CHART - COUPLING</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835D2335-7251-404D-957D-79C2927B66FF}"/>
              </a:ext>
            </a:extLst>
          </p:cNvPr>
          <p:cNvSpPr txBox="1">
            <a:spLocks noChangeArrowheads="1"/>
          </p:cNvSpPr>
          <p:nvPr/>
        </p:nvSpPr>
        <p:spPr>
          <a:xfrm>
            <a:off x="130139" y="1337317"/>
            <a:ext cx="5501812" cy="518677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300" dirty="0"/>
              <a:t>A specified action or state in a structure chart. </a:t>
            </a:r>
          </a:p>
          <a:p>
            <a:r>
              <a:rPr lang="en-US" sz="2300" dirty="0"/>
              <a:t>If you need to make a module more cohesive, you can split it into separate units, each of which performs a single function</a:t>
            </a:r>
          </a:p>
          <a:p>
            <a:pPr lvl="1"/>
            <a:r>
              <a:rPr lang="en-US" sz="2300" dirty="0">
                <a:hlinkClick r:id="rId5"/>
              </a:rPr>
              <a:t>Loosely coupled</a:t>
            </a:r>
            <a:r>
              <a:rPr lang="en-US" sz="2300" dirty="0"/>
              <a:t> : Modules that are relatively independent. Loosely coupled modules are easier to maintain and modify, because the logic in one module does not affect other modules.</a:t>
            </a:r>
          </a:p>
          <a:p>
            <a:pPr lvl="1"/>
            <a:r>
              <a:rPr lang="en-US" sz="2300" dirty="0">
                <a:hlinkClick r:id="rId5"/>
              </a:rPr>
              <a:t>Tightly coupled</a:t>
            </a:r>
            <a:r>
              <a:rPr lang="en-US" sz="2300" dirty="0"/>
              <a:t> : If modules are tightly coupled, one module refers to internal logic contained in another module. </a:t>
            </a:r>
          </a:p>
          <a:p>
            <a:pPr lvl="1"/>
            <a:endParaRPr lang="en-US" sz="2300" dirty="0"/>
          </a:p>
        </p:txBody>
      </p:sp>
    </p:spTree>
    <p:extLst>
      <p:ext uri="{BB962C8B-B14F-4D97-AF65-F5344CB8AC3E}">
        <p14:creationId xmlns:p14="http://schemas.microsoft.com/office/powerpoint/2010/main" val="2935848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55645" y="668819"/>
            <a:ext cx="1166564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400" b="1" dirty="0">
                <a:solidFill>
                  <a:srgbClr val="85103F"/>
                </a:solidFill>
              </a:rPr>
              <a:t>GUIDELINE FOR DRAWING A STRUCTURE CHART</a:t>
            </a:r>
            <a:endParaRPr lang="en-US" altLang="en-US" sz="4400" dirty="0">
              <a:solidFill>
                <a:srgbClr val="85103F"/>
              </a:solidFill>
              <a:latin typeface="Calibri Light" panose="020F0302020204030204" pitchFamily="34" charset="0"/>
            </a:endParaRPr>
          </a:p>
        </p:txBody>
      </p:sp>
      <p:graphicFrame>
        <p:nvGraphicFramePr>
          <p:cNvPr id="2" name="Diagram 1">
            <a:extLst>
              <a:ext uri="{FF2B5EF4-FFF2-40B4-BE49-F238E27FC236}">
                <a16:creationId xmlns:a16="http://schemas.microsoft.com/office/drawing/2014/main" id="{D8BEF6A7-357C-F74B-976B-245904BE7BC6}"/>
              </a:ext>
            </a:extLst>
          </p:cNvPr>
          <p:cNvGraphicFramePr/>
          <p:nvPr>
            <p:extLst>
              <p:ext uri="{D42A27DB-BD31-4B8C-83A1-F6EECF244321}">
                <p14:modId xmlns:p14="http://schemas.microsoft.com/office/powerpoint/2010/main" val="1258248701"/>
              </p:ext>
            </p:extLst>
          </p:nvPr>
        </p:nvGraphicFramePr>
        <p:xfrm>
          <a:off x="621587" y="1361139"/>
          <a:ext cx="10947114" cy="51218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1954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TRANSLATING DFD TO STUCTURE CHART</a:t>
            </a:r>
            <a:endParaRPr lang="en-US" altLang="en-US" sz="4800" dirty="0">
              <a:solidFill>
                <a:srgbClr val="85103F"/>
              </a:solidFill>
              <a:latin typeface="Calibri Light" panose="020F0302020204030204" pitchFamily="34" charset="0"/>
            </a:endParaRPr>
          </a:p>
        </p:txBody>
      </p:sp>
      <p:pic>
        <p:nvPicPr>
          <p:cNvPr id="4" name="Picture 25">
            <a:extLst>
              <a:ext uri="{FF2B5EF4-FFF2-40B4-BE49-F238E27FC236}">
                <a16:creationId xmlns:a16="http://schemas.microsoft.com/office/drawing/2014/main" id="{7AA796D5-3A11-0C41-8EDF-AE403F6994E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9867" y="1381238"/>
            <a:ext cx="7072265" cy="4879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0508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TRANSLATING DFD TO STUCTURE CHART</a:t>
            </a:r>
            <a:endParaRPr lang="en-US" altLang="en-US" sz="4800" dirty="0">
              <a:solidFill>
                <a:srgbClr val="85103F"/>
              </a:solidFill>
              <a:latin typeface="Calibri Light" panose="020F0302020204030204" pitchFamily="34" charset="0"/>
            </a:endParaRPr>
          </a:p>
        </p:txBody>
      </p:sp>
      <p:pic>
        <p:nvPicPr>
          <p:cNvPr id="3" name="Picture 2">
            <a:extLst>
              <a:ext uri="{FF2B5EF4-FFF2-40B4-BE49-F238E27FC236}">
                <a16:creationId xmlns:a16="http://schemas.microsoft.com/office/drawing/2014/main" id="{848A6A58-F531-5E4D-8390-64CF9E2008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6915" y="1385914"/>
            <a:ext cx="7423023" cy="48751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479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FROM DFD TO STUCTURE CHART</a:t>
            </a:r>
            <a:endParaRPr lang="en-US" altLang="en-US" sz="4800" dirty="0">
              <a:solidFill>
                <a:srgbClr val="85103F"/>
              </a:solidFill>
              <a:latin typeface="Calibri Light" panose="020F0302020204030204" pitchFamily="34" charset="0"/>
            </a:endParaRPr>
          </a:p>
        </p:txBody>
      </p:sp>
      <p:graphicFrame>
        <p:nvGraphicFramePr>
          <p:cNvPr id="15" name="Object 1024">
            <a:extLst>
              <a:ext uri="{FF2B5EF4-FFF2-40B4-BE49-F238E27FC236}">
                <a16:creationId xmlns:a16="http://schemas.microsoft.com/office/drawing/2014/main" id="{5319090D-B1D2-1146-A3E8-D20D75E73947}"/>
              </a:ext>
            </a:extLst>
          </p:cNvPr>
          <p:cNvGraphicFramePr>
            <a:graphicFrameLocks noChangeAspect="1"/>
          </p:cNvGraphicFramePr>
          <p:nvPr>
            <p:extLst>
              <p:ext uri="{D42A27DB-BD31-4B8C-83A1-F6EECF244321}">
                <p14:modId xmlns:p14="http://schemas.microsoft.com/office/powerpoint/2010/main" val="2131717989"/>
              </p:ext>
            </p:extLst>
          </p:nvPr>
        </p:nvGraphicFramePr>
        <p:xfrm>
          <a:off x="627579" y="1568450"/>
          <a:ext cx="5181600" cy="4246563"/>
        </p:xfrm>
        <a:graphic>
          <a:graphicData uri="http://schemas.openxmlformats.org/presentationml/2006/ole">
            <mc:AlternateContent xmlns:mc="http://schemas.openxmlformats.org/markup-compatibility/2006">
              <mc:Choice xmlns:v="urn:schemas-microsoft-com:vml" Requires="v">
                <p:oleObj spid="_x0000_s13325" name="Image" r:id="rId3" imgW="6150371" imgH="5159195" progId="">
                  <p:embed/>
                </p:oleObj>
              </mc:Choice>
              <mc:Fallback>
                <p:oleObj name="Image" r:id="rId3" imgW="6150371" imgH="5159195" progId="">
                  <p:embed/>
                  <p:pic>
                    <p:nvPicPr>
                      <p:cNvPr id="280576"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579" y="1568450"/>
                        <a:ext cx="5181600" cy="424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16" name="Object 1025">
            <a:extLst>
              <a:ext uri="{FF2B5EF4-FFF2-40B4-BE49-F238E27FC236}">
                <a16:creationId xmlns:a16="http://schemas.microsoft.com/office/drawing/2014/main" id="{925D38C8-067E-B545-914A-6F32045C27D4}"/>
              </a:ext>
            </a:extLst>
          </p:cNvPr>
          <p:cNvGraphicFramePr>
            <a:graphicFrameLocks noChangeAspect="1"/>
          </p:cNvGraphicFramePr>
          <p:nvPr>
            <p:extLst>
              <p:ext uri="{D42A27DB-BD31-4B8C-83A1-F6EECF244321}">
                <p14:modId xmlns:p14="http://schemas.microsoft.com/office/powerpoint/2010/main" val="1353946575"/>
              </p:ext>
            </p:extLst>
          </p:nvPr>
        </p:nvGraphicFramePr>
        <p:xfrm>
          <a:off x="6239838" y="1748631"/>
          <a:ext cx="5105400" cy="3886200"/>
        </p:xfrm>
        <a:graphic>
          <a:graphicData uri="http://schemas.openxmlformats.org/presentationml/2006/ole">
            <mc:AlternateContent xmlns:mc="http://schemas.openxmlformats.org/markup-compatibility/2006">
              <mc:Choice xmlns:v="urn:schemas-microsoft-com:vml" Requires="v">
                <p:oleObj spid="_x0000_s13326" name="Image" r:id="rId5" imgW="5375221" imgH="4447582" progId="">
                  <p:embed/>
                </p:oleObj>
              </mc:Choice>
              <mc:Fallback>
                <p:oleObj name="Image" r:id="rId5" imgW="5375221" imgH="4447582" progId="">
                  <p:embed/>
                  <p:pic>
                    <p:nvPicPr>
                      <p:cNvPr id="280577"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9838" y="1748631"/>
                        <a:ext cx="5105400" cy="3886200"/>
                      </a:xfrm>
                      <a:prstGeom prst="rect">
                        <a:avLst/>
                      </a:prstGeom>
                      <a:noFill/>
                      <a:ln w="9525">
                        <a:solidFill>
                          <a:schemeClr val="tx1"/>
                        </a:solidFill>
                        <a:miter lim="800000"/>
                        <a:headEnd/>
                        <a:tailEnd/>
                      </a:ln>
                      <a:effectLst>
                        <a:outerShdw dist="38099" dir="2700000" algn="ctr" rotWithShape="0">
                          <a:schemeClr val="bg2">
                            <a:alpha val="74997"/>
                          </a:schemeClr>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17" name="Oval 4">
            <a:extLst>
              <a:ext uri="{FF2B5EF4-FFF2-40B4-BE49-F238E27FC236}">
                <a16:creationId xmlns:a16="http://schemas.microsoft.com/office/drawing/2014/main" id="{09291737-AA1B-BF43-AF7C-76E388CE5875}"/>
              </a:ext>
            </a:extLst>
          </p:cNvPr>
          <p:cNvSpPr>
            <a:spLocks noChangeArrowheads="1"/>
          </p:cNvSpPr>
          <p:nvPr/>
        </p:nvSpPr>
        <p:spPr bwMode="auto">
          <a:xfrm>
            <a:off x="3751779" y="2940050"/>
            <a:ext cx="1219200" cy="1371600"/>
          </a:xfrm>
          <a:prstGeom prst="ellipse">
            <a:avLst/>
          </a:prstGeom>
          <a:noFill/>
          <a:ln w="38100">
            <a:solidFill>
              <a:srgbClr val="FF99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a:endParaRPr lang="en-US" sz="3200">
              <a:solidFill>
                <a:srgbClr val="FF9900"/>
              </a:solidFill>
            </a:endParaRPr>
          </a:p>
        </p:txBody>
      </p:sp>
      <p:cxnSp>
        <p:nvCxnSpPr>
          <p:cNvPr id="18" name="Straight Arrow Connector 17">
            <a:extLst>
              <a:ext uri="{FF2B5EF4-FFF2-40B4-BE49-F238E27FC236}">
                <a16:creationId xmlns:a16="http://schemas.microsoft.com/office/drawing/2014/main" id="{0C412B0E-B299-6B4B-B0EF-3429C3565949}"/>
              </a:ext>
            </a:extLst>
          </p:cNvPr>
          <p:cNvCxnSpPr>
            <a:stCxn id="17" idx="7"/>
          </p:cNvCxnSpPr>
          <p:nvPr/>
        </p:nvCxnSpPr>
        <p:spPr>
          <a:xfrm flipV="1">
            <a:off x="4792431" y="2671281"/>
            <a:ext cx="1303569" cy="469635"/>
          </a:xfrm>
          <a:prstGeom prst="straightConnector1">
            <a:avLst/>
          </a:prstGeom>
          <a:ln w="38100">
            <a:solidFill>
              <a:srgbClr val="FF990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75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dissolve">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FROM DFD TO STUCTURE CHART</a:t>
            </a:r>
            <a:endParaRPr lang="en-US" altLang="en-US" sz="4800" dirty="0">
              <a:solidFill>
                <a:srgbClr val="85103F"/>
              </a:solidFill>
              <a:latin typeface="Calibri Light" panose="020F0302020204030204" pitchFamily="34" charset="0"/>
            </a:endParaRPr>
          </a:p>
        </p:txBody>
      </p:sp>
      <p:grpSp>
        <p:nvGrpSpPr>
          <p:cNvPr id="3" name="Group 1042">
            <a:extLst>
              <a:ext uri="{FF2B5EF4-FFF2-40B4-BE49-F238E27FC236}">
                <a16:creationId xmlns:a16="http://schemas.microsoft.com/office/drawing/2014/main" id="{963A1D42-CF16-504F-8ED2-852746652A1E}"/>
              </a:ext>
            </a:extLst>
          </p:cNvPr>
          <p:cNvGrpSpPr>
            <a:grpSpLocks/>
          </p:cNvGrpSpPr>
          <p:nvPr/>
        </p:nvGrpSpPr>
        <p:grpSpPr bwMode="auto">
          <a:xfrm>
            <a:off x="2171700" y="1272301"/>
            <a:ext cx="7848600" cy="5268912"/>
            <a:chOff x="192" y="809"/>
            <a:chExt cx="4944" cy="3319"/>
          </a:xfrm>
        </p:grpSpPr>
        <p:graphicFrame>
          <p:nvGraphicFramePr>
            <p:cNvPr id="4" name="Object 1024">
              <a:extLst>
                <a:ext uri="{FF2B5EF4-FFF2-40B4-BE49-F238E27FC236}">
                  <a16:creationId xmlns:a16="http://schemas.microsoft.com/office/drawing/2014/main" id="{74C2859B-DC03-1941-87AE-33D6B0E91E71}"/>
                </a:ext>
              </a:extLst>
            </p:cNvPr>
            <p:cNvGraphicFramePr>
              <a:graphicFrameLocks noChangeAspect="1"/>
            </p:cNvGraphicFramePr>
            <p:nvPr/>
          </p:nvGraphicFramePr>
          <p:xfrm>
            <a:off x="192" y="857"/>
            <a:ext cx="4944" cy="3271"/>
          </p:xfrm>
          <a:graphic>
            <a:graphicData uri="http://schemas.openxmlformats.org/presentationml/2006/ole">
              <mc:AlternateContent xmlns:mc="http://schemas.openxmlformats.org/markup-compatibility/2006">
                <mc:Choice xmlns:v="urn:schemas-microsoft-com:vml" Requires="v">
                  <p:oleObj spid="_x0000_s14343" name="Image" r:id="rId3" imgW="6124956" imgH="4053653" progId="">
                    <p:embed/>
                  </p:oleObj>
                </mc:Choice>
                <mc:Fallback>
                  <p:oleObj name="Image" r:id="rId3" imgW="6124956" imgH="4053653" progId="">
                    <p:embed/>
                    <p:pic>
                      <p:nvPicPr>
                        <p:cNvPr id="717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 y="857"/>
                          <a:ext cx="4944" cy="3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5" name="Rectangle 1028">
              <a:extLst>
                <a:ext uri="{FF2B5EF4-FFF2-40B4-BE49-F238E27FC236}">
                  <a16:creationId xmlns:a16="http://schemas.microsoft.com/office/drawing/2014/main" id="{82BD5798-79DC-FA4A-9ED4-219516BE6E0D}"/>
                </a:ext>
              </a:extLst>
            </p:cNvPr>
            <p:cNvSpPr>
              <a:spLocks noChangeArrowheads="1"/>
            </p:cNvSpPr>
            <p:nvPr/>
          </p:nvSpPr>
          <p:spPr bwMode="auto">
            <a:xfrm>
              <a:off x="960" y="2585"/>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120</a:t>
              </a:r>
            </a:p>
            <a:p>
              <a:pPr algn="ctr"/>
              <a:endParaRPr lang="en-US" sz="900" b="1">
                <a:latin typeface="Verdana" charset="0"/>
              </a:endParaRPr>
            </a:p>
            <a:p>
              <a:pPr algn="ctr"/>
              <a:r>
                <a:rPr lang="en-US" sz="900" b="1">
                  <a:latin typeface="Verdana" charset="0"/>
                </a:rPr>
                <a:t>Read</a:t>
              </a:r>
            </a:p>
            <a:p>
              <a:pPr algn="ctr"/>
              <a:r>
                <a:rPr lang="en-US" sz="900" b="1">
                  <a:latin typeface="Verdana" charset="0"/>
                </a:rPr>
                <a:t>Course</a:t>
              </a:r>
            </a:p>
            <a:p>
              <a:pPr algn="ctr"/>
              <a:r>
                <a:rPr lang="en-US" sz="900" b="1">
                  <a:latin typeface="Verdana" charset="0"/>
                </a:rPr>
                <a:t>Record</a:t>
              </a:r>
            </a:p>
          </p:txBody>
        </p:sp>
        <p:sp>
          <p:nvSpPr>
            <p:cNvPr id="6" name="Rectangle 1029">
              <a:extLst>
                <a:ext uri="{FF2B5EF4-FFF2-40B4-BE49-F238E27FC236}">
                  <a16:creationId xmlns:a16="http://schemas.microsoft.com/office/drawing/2014/main" id="{2533C5DB-C98B-1941-A01F-139F93E5F5F4}"/>
                </a:ext>
              </a:extLst>
            </p:cNvPr>
            <p:cNvSpPr>
              <a:spLocks noChangeArrowheads="1"/>
            </p:cNvSpPr>
            <p:nvPr/>
          </p:nvSpPr>
          <p:spPr bwMode="auto">
            <a:xfrm>
              <a:off x="192" y="2585"/>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110</a:t>
              </a:r>
            </a:p>
            <a:p>
              <a:pPr algn="ctr"/>
              <a:endParaRPr lang="en-US" sz="900" b="1">
                <a:latin typeface="Verdana" charset="0"/>
              </a:endParaRPr>
            </a:p>
            <a:p>
              <a:pPr algn="ctr"/>
              <a:r>
                <a:rPr lang="en-US" sz="900" b="1">
                  <a:latin typeface="Verdana" charset="0"/>
                </a:rPr>
                <a:t>Read</a:t>
              </a:r>
            </a:p>
            <a:p>
              <a:pPr algn="ctr"/>
              <a:r>
                <a:rPr lang="en-US" sz="900" b="1">
                  <a:latin typeface="Verdana" charset="0"/>
                </a:rPr>
                <a:t>Grade</a:t>
              </a:r>
            </a:p>
            <a:p>
              <a:pPr algn="ctr"/>
              <a:r>
                <a:rPr lang="en-US" sz="900" b="1">
                  <a:latin typeface="Verdana" charset="0"/>
                </a:rPr>
                <a:t>Record</a:t>
              </a:r>
            </a:p>
          </p:txBody>
        </p:sp>
        <p:sp>
          <p:nvSpPr>
            <p:cNvPr id="7" name="Rectangle 1030">
              <a:extLst>
                <a:ext uri="{FF2B5EF4-FFF2-40B4-BE49-F238E27FC236}">
                  <a16:creationId xmlns:a16="http://schemas.microsoft.com/office/drawing/2014/main" id="{20EC417F-FC6F-B647-8A35-49D332815206}"/>
                </a:ext>
              </a:extLst>
            </p:cNvPr>
            <p:cNvSpPr>
              <a:spLocks noChangeArrowheads="1"/>
            </p:cNvSpPr>
            <p:nvPr/>
          </p:nvSpPr>
          <p:spPr bwMode="auto">
            <a:xfrm>
              <a:off x="1728" y="2585"/>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130</a:t>
              </a:r>
            </a:p>
            <a:p>
              <a:pPr algn="ctr"/>
              <a:endParaRPr lang="en-US" sz="900" b="1">
                <a:latin typeface="Verdana" charset="0"/>
              </a:endParaRPr>
            </a:p>
            <a:p>
              <a:pPr algn="ctr"/>
              <a:r>
                <a:rPr lang="en-US" sz="900" b="1">
                  <a:latin typeface="Verdana" charset="0"/>
                </a:rPr>
                <a:t>Read</a:t>
              </a:r>
            </a:p>
            <a:p>
              <a:pPr algn="ctr"/>
              <a:r>
                <a:rPr lang="en-US" sz="900" b="1">
                  <a:latin typeface="Verdana" charset="0"/>
                </a:rPr>
                <a:t>Student</a:t>
              </a:r>
            </a:p>
            <a:p>
              <a:pPr algn="ctr"/>
              <a:r>
                <a:rPr lang="en-US" sz="900" b="1">
                  <a:latin typeface="Verdana" charset="0"/>
                </a:rPr>
                <a:t>Record</a:t>
              </a:r>
            </a:p>
          </p:txBody>
        </p:sp>
        <p:sp>
          <p:nvSpPr>
            <p:cNvPr id="8" name="Rectangle 1031">
              <a:extLst>
                <a:ext uri="{FF2B5EF4-FFF2-40B4-BE49-F238E27FC236}">
                  <a16:creationId xmlns:a16="http://schemas.microsoft.com/office/drawing/2014/main" id="{3CA56FD6-A972-A44E-9303-130147A6139D}"/>
                </a:ext>
              </a:extLst>
            </p:cNvPr>
            <p:cNvSpPr>
              <a:spLocks noChangeArrowheads="1"/>
            </p:cNvSpPr>
            <p:nvPr/>
          </p:nvSpPr>
          <p:spPr bwMode="auto">
            <a:xfrm>
              <a:off x="2496" y="2585"/>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140</a:t>
              </a:r>
            </a:p>
            <a:p>
              <a:pPr algn="ctr"/>
              <a:endParaRPr lang="en-US" sz="900" b="1">
                <a:latin typeface="Verdana" charset="0"/>
              </a:endParaRPr>
            </a:p>
            <a:p>
              <a:pPr algn="ctr"/>
              <a:r>
                <a:rPr lang="en-US" sz="900" b="1">
                  <a:latin typeface="Verdana" charset="0"/>
                </a:rPr>
                <a:t>Calculate Grade</a:t>
              </a:r>
            </a:p>
            <a:p>
              <a:pPr algn="ctr"/>
              <a:r>
                <a:rPr lang="en-US" sz="900" b="1">
                  <a:latin typeface="Verdana" charset="0"/>
                </a:rPr>
                <a:t> Point</a:t>
              </a:r>
            </a:p>
            <a:p>
              <a:pPr algn="ctr"/>
              <a:r>
                <a:rPr lang="en-US" sz="900" b="1">
                  <a:latin typeface="Verdana" charset="0"/>
                </a:rPr>
                <a:t>Average</a:t>
              </a:r>
            </a:p>
          </p:txBody>
        </p:sp>
        <p:sp>
          <p:nvSpPr>
            <p:cNvPr id="9" name="Rectangle 1032">
              <a:extLst>
                <a:ext uri="{FF2B5EF4-FFF2-40B4-BE49-F238E27FC236}">
                  <a16:creationId xmlns:a16="http://schemas.microsoft.com/office/drawing/2014/main" id="{CBD6B83A-D355-D14D-897D-382B8575AFF5}"/>
                </a:ext>
              </a:extLst>
            </p:cNvPr>
            <p:cNvSpPr>
              <a:spLocks noChangeArrowheads="1"/>
            </p:cNvSpPr>
            <p:nvPr/>
          </p:nvSpPr>
          <p:spPr bwMode="auto">
            <a:xfrm>
              <a:off x="3264" y="2585"/>
              <a:ext cx="720"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150</a:t>
              </a:r>
            </a:p>
            <a:p>
              <a:pPr algn="ctr"/>
              <a:endParaRPr lang="en-US" sz="900" b="1">
                <a:latin typeface="Verdana" charset="0"/>
              </a:endParaRPr>
            </a:p>
            <a:p>
              <a:pPr algn="ctr"/>
              <a:r>
                <a:rPr lang="en-US" sz="900" b="1">
                  <a:latin typeface="Verdana" charset="0"/>
                </a:rPr>
                <a:t> Print Student </a:t>
              </a:r>
            </a:p>
            <a:p>
              <a:pPr algn="ctr"/>
              <a:r>
                <a:rPr lang="en-US" sz="900" b="1">
                  <a:latin typeface="Verdana" charset="0"/>
                </a:rPr>
                <a:t>Report</a:t>
              </a:r>
            </a:p>
            <a:p>
              <a:pPr algn="ctr"/>
              <a:r>
                <a:rPr lang="en-US" sz="900" b="1">
                  <a:latin typeface="Verdana" charset="0"/>
                </a:rPr>
                <a:t>Card</a:t>
              </a:r>
            </a:p>
          </p:txBody>
        </p:sp>
        <p:sp>
          <p:nvSpPr>
            <p:cNvPr id="10" name="Rectangle 1033">
              <a:extLst>
                <a:ext uri="{FF2B5EF4-FFF2-40B4-BE49-F238E27FC236}">
                  <a16:creationId xmlns:a16="http://schemas.microsoft.com/office/drawing/2014/main" id="{EC190B80-82D5-5740-A10F-9F0B0DA1A834}"/>
                </a:ext>
              </a:extLst>
            </p:cNvPr>
            <p:cNvSpPr>
              <a:spLocks noChangeArrowheads="1"/>
            </p:cNvSpPr>
            <p:nvPr/>
          </p:nvSpPr>
          <p:spPr bwMode="auto">
            <a:xfrm>
              <a:off x="2064" y="3593"/>
              <a:ext cx="720"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160</a:t>
              </a:r>
            </a:p>
            <a:p>
              <a:pPr algn="ctr"/>
              <a:endParaRPr lang="en-US" sz="900" b="1">
                <a:latin typeface="Verdana" charset="0"/>
              </a:endParaRPr>
            </a:p>
            <a:p>
              <a:pPr algn="ctr"/>
              <a:r>
                <a:rPr lang="en-US" sz="900" b="1">
                  <a:latin typeface="Verdana" charset="0"/>
                </a:rPr>
                <a:t>Format Student</a:t>
              </a:r>
            </a:p>
            <a:p>
              <a:pPr algn="ctr"/>
              <a:r>
                <a:rPr lang="en-US" sz="900" b="1">
                  <a:latin typeface="Verdana" charset="0"/>
                </a:rPr>
                <a:t>Name and </a:t>
              </a:r>
            </a:p>
            <a:p>
              <a:pPr algn="ctr"/>
              <a:r>
                <a:rPr lang="en-US" sz="900" b="1">
                  <a:latin typeface="Verdana" charset="0"/>
                </a:rPr>
                <a:t>Address Lines</a:t>
              </a:r>
            </a:p>
          </p:txBody>
        </p:sp>
        <p:sp>
          <p:nvSpPr>
            <p:cNvPr id="11" name="Rectangle 1034">
              <a:extLst>
                <a:ext uri="{FF2B5EF4-FFF2-40B4-BE49-F238E27FC236}">
                  <a16:creationId xmlns:a16="http://schemas.microsoft.com/office/drawing/2014/main" id="{F382FBD5-C652-004E-B5FE-D7CC3C2B75E3}"/>
                </a:ext>
              </a:extLst>
            </p:cNvPr>
            <p:cNvSpPr>
              <a:spLocks noChangeArrowheads="1"/>
            </p:cNvSpPr>
            <p:nvPr/>
          </p:nvSpPr>
          <p:spPr bwMode="auto">
            <a:xfrm>
              <a:off x="2880" y="3593"/>
              <a:ext cx="720"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170</a:t>
              </a:r>
            </a:p>
            <a:p>
              <a:pPr algn="ctr"/>
              <a:endParaRPr lang="en-US" sz="900" b="1">
                <a:latin typeface="Verdana" charset="0"/>
              </a:endParaRPr>
            </a:p>
            <a:p>
              <a:pPr algn="ctr"/>
              <a:r>
                <a:rPr lang="en-US" sz="900" b="1">
                  <a:latin typeface="Verdana" charset="0"/>
                </a:rPr>
                <a:t>Format Course</a:t>
              </a:r>
            </a:p>
            <a:p>
              <a:pPr algn="ctr"/>
              <a:r>
                <a:rPr lang="en-US" sz="900" b="1">
                  <a:latin typeface="Verdana" charset="0"/>
                </a:rPr>
                <a:t>Grade Line</a:t>
              </a:r>
            </a:p>
            <a:p>
              <a:pPr algn="ctr"/>
              <a:endParaRPr lang="en-US" sz="900" b="1">
                <a:latin typeface="Verdana" charset="0"/>
              </a:endParaRPr>
            </a:p>
          </p:txBody>
        </p:sp>
        <p:sp>
          <p:nvSpPr>
            <p:cNvPr id="12" name="Rectangle 1035">
              <a:extLst>
                <a:ext uri="{FF2B5EF4-FFF2-40B4-BE49-F238E27FC236}">
                  <a16:creationId xmlns:a16="http://schemas.microsoft.com/office/drawing/2014/main" id="{60AFF4E4-7727-ED4C-8A29-CE40F4919B35}"/>
                </a:ext>
              </a:extLst>
            </p:cNvPr>
            <p:cNvSpPr>
              <a:spLocks noChangeArrowheads="1"/>
            </p:cNvSpPr>
            <p:nvPr/>
          </p:nvSpPr>
          <p:spPr bwMode="auto">
            <a:xfrm>
              <a:off x="3696" y="3593"/>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180</a:t>
              </a:r>
            </a:p>
            <a:p>
              <a:pPr algn="ctr"/>
              <a:endParaRPr lang="en-US" sz="900" b="1">
                <a:latin typeface="Verdana" charset="0"/>
              </a:endParaRPr>
            </a:p>
            <a:p>
              <a:pPr algn="ctr"/>
              <a:r>
                <a:rPr lang="en-US" sz="900" b="1">
                  <a:latin typeface="Verdana" charset="0"/>
                </a:rPr>
                <a:t>Format Grade</a:t>
              </a:r>
            </a:p>
            <a:p>
              <a:pPr algn="ctr"/>
              <a:r>
                <a:rPr lang="en-US" sz="900" b="1">
                  <a:latin typeface="Verdana" charset="0"/>
                </a:rPr>
                <a:t>Point Average </a:t>
              </a:r>
            </a:p>
            <a:p>
              <a:pPr algn="ctr"/>
              <a:r>
                <a:rPr lang="en-US" sz="900" b="1">
                  <a:latin typeface="Verdana" charset="0"/>
                </a:rPr>
                <a:t>Line</a:t>
              </a:r>
            </a:p>
          </p:txBody>
        </p:sp>
        <p:sp>
          <p:nvSpPr>
            <p:cNvPr id="13" name="Rectangle 1036">
              <a:extLst>
                <a:ext uri="{FF2B5EF4-FFF2-40B4-BE49-F238E27FC236}">
                  <a16:creationId xmlns:a16="http://schemas.microsoft.com/office/drawing/2014/main" id="{16741916-4E6D-4D42-A68B-45D3FE116F48}"/>
                </a:ext>
              </a:extLst>
            </p:cNvPr>
            <p:cNvSpPr>
              <a:spLocks noChangeArrowheads="1"/>
            </p:cNvSpPr>
            <p:nvPr/>
          </p:nvSpPr>
          <p:spPr bwMode="auto">
            <a:xfrm>
              <a:off x="4464" y="3593"/>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190</a:t>
              </a:r>
            </a:p>
            <a:p>
              <a:pPr algn="ctr"/>
              <a:endParaRPr lang="en-US" sz="900" b="1">
                <a:latin typeface="Verdana" charset="0"/>
              </a:endParaRPr>
            </a:p>
            <a:p>
              <a:pPr algn="ctr"/>
              <a:r>
                <a:rPr lang="en-US" sz="900" b="1">
                  <a:latin typeface="Verdana" charset="0"/>
                </a:rPr>
                <a:t>Write</a:t>
              </a:r>
            </a:p>
            <a:p>
              <a:pPr algn="ctr"/>
              <a:r>
                <a:rPr lang="en-US" sz="900" b="1">
                  <a:latin typeface="Verdana" charset="0"/>
                </a:rPr>
                <a:t> Report </a:t>
              </a:r>
            </a:p>
            <a:p>
              <a:pPr algn="ctr"/>
              <a:r>
                <a:rPr lang="en-US" sz="900" b="1">
                  <a:latin typeface="Verdana" charset="0"/>
                </a:rPr>
                <a:t>Card Line</a:t>
              </a:r>
            </a:p>
          </p:txBody>
        </p:sp>
        <p:sp>
          <p:nvSpPr>
            <p:cNvPr id="14" name="Rectangle 1037">
              <a:extLst>
                <a:ext uri="{FF2B5EF4-FFF2-40B4-BE49-F238E27FC236}">
                  <a16:creationId xmlns:a16="http://schemas.microsoft.com/office/drawing/2014/main" id="{B7242CDE-8CC4-6241-B559-735B4DFCDF9D}"/>
                </a:ext>
              </a:extLst>
            </p:cNvPr>
            <p:cNvSpPr>
              <a:spLocks noChangeArrowheads="1"/>
            </p:cNvSpPr>
            <p:nvPr/>
          </p:nvSpPr>
          <p:spPr bwMode="auto">
            <a:xfrm>
              <a:off x="1728" y="1577"/>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100</a:t>
              </a:r>
            </a:p>
            <a:p>
              <a:pPr algn="ctr"/>
              <a:endParaRPr lang="en-US" sz="900" b="1">
                <a:latin typeface="Verdana" charset="0"/>
              </a:endParaRPr>
            </a:p>
            <a:p>
              <a:pPr algn="ctr"/>
              <a:r>
                <a:rPr lang="en-US" sz="900" b="1">
                  <a:latin typeface="Verdana" charset="0"/>
                </a:rPr>
                <a:t> Prepare </a:t>
              </a:r>
            </a:p>
            <a:p>
              <a:pPr algn="ctr"/>
              <a:r>
                <a:rPr lang="en-US" sz="900" b="1">
                  <a:latin typeface="Verdana" charset="0"/>
                </a:rPr>
                <a:t>Student</a:t>
              </a:r>
            </a:p>
            <a:p>
              <a:pPr algn="ctr"/>
              <a:r>
                <a:rPr lang="en-US" sz="900" b="1">
                  <a:latin typeface="Verdana" charset="0"/>
                </a:rPr>
                <a:t>Report Card</a:t>
              </a:r>
            </a:p>
          </p:txBody>
        </p:sp>
        <p:sp>
          <p:nvSpPr>
            <p:cNvPr id="15" name="Rectangle 1038">
              <a:extLst>
                <a:ext uri="{FF2B5EF4-FFF2-40B4-BE49-F238E27FC236}">
                  <a16:creationId xmlns:a16="http://schemas.microsoft.com/office/drawing/2014/main" id="{9E2FFEFC-A40D-2C4B-9327-8810010266E4}"/>
                </a:ext>
              </a:extLst>
            </p:cNvPr>
            <p:cNvSpPr>
              <a:spLocks noChangeArrowheads="1"/>
            </p:cNvSpPr>
            <p:nvPr/>
          </p:nvSpPr>
          <p:spPr bwMode="auto">
            <a:xfrm>
              <a:off x="1728" y="809"/>
              <a:ext cx="672" cy="528"/>
            </a:xfrm>
            <a:prstGeom prst="rect">
              <a:avLst/>
            </a:prstGeom>
            <a:solidFill>
              <a:srgbClr val="FFFF99"/>
            </a:solidFill>
            <a:ln w="9525">
              <a:solidFill>
                <a:schemeClr val="tx1"/>
              </a:solidFill>
              <a:miter lim="800000"/>
              <a:headEnd/>
              <a:tailEnd/>
            </a:ln>
          </p:spPr>
          <p:txBody>
            <a:bodyPr wrap="none" anchor="ctr"/>
            <a:lstStyle/>
            <a:p>
              <a:pPr algn="ctr"/>
              <a:r>
                <a:rPr lang="en-US" sz="900" b="1">
                  <a:latin typeface="Verdana" charset="0"/>
                </a:rPr>
                <a:t>000</a:t>
              </a:r>
            </a:p>
            <a:p>
              <a:pPr algn="ctr"/>
              <a:endParaRPr lang="en-US" sz="900" b="1">
                <a:latin typeface="Verdana" charset="0"/>
              </a:endParaRPr>
            </a:p>
            <a:p>
              <a:pPr algn="ctr"/>
              <a:r>
                <a:rPr lang="en-US" sz="900" b="1">
                  <a:latin typeface="Verdana" charset="0"/>
                </a:rPr>
                <a:t>Produce</a:t>
              </a:r>
            </a:p>
            <a:p>
              <a:pPr algn="ctr"/>
              <a:r>
                <a:rPr lang="en-US" sz="900" b="1">
                  <a:latin typeface="Verdana" charset="0"/>
                </a:rPr>
                <a:t>Student Report</a:t>
              </a:r>
            </a:p>
            <a:p>
              <a:pPr algn="ctr"/>
              <a:r>
                <a:rPr lang="en-US" sz="900" b="1">
                  <a:latin typeface="Verdana" charset="0"/>
                </a:rPr>
                <a:t>Card</a:t>
              </a:r>
            </a:p>
          </p:txBody>
        </p:sp>
      </p:grpSp>
    </p:spTree>
    <p:extLst>
      <p:ext uri="{BB962C8B-B14F-4D97-AF65-F5344CB8AC3E}">
        <p14:creationId xmlns:p14="http://schemas.microsoft.com/office/powerpoint/2010/main" val="3395189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DFD TO STUCTURE CHART Example</a:t>
            </a:r>
            <a:endParaRPr lang="en-US" altLang="en-US" sz="4800" dirty="0">
              <a:solidFill>
                <a:srgbClr val="85103F"/>
              </a:solidFill>
              <a:latin typeface="Calibri Light" panose="020F0302020204030204" pitchFamily="34" charset="0"/>
            </a:endParaRPr>
          </a:p>
        </p:txBody>
      </p:sp>
      <p:graphicFrame>
        <p:nvGraphicFramePr>
          <p:cNvPr id="3" name="Object 2">
            <a:extLst>
              <a:ext uri="{FF2B5EF4-FFF2-40B4-BE49-F238E27FC236}">
                <a16:creationId xmlns:a16="http://schemas.microsoft.com/office/drawing/2014/main" id="{481C47E7-EB8A-2143-ACE7-5E3E15811CDA}"/>
              </a:ext>
            </a:extLst>
          </p:cNvPr>
          <p:cNvGraphicFramePr>
            <a:graphicFrameLocks noChangeAspect="1"/>
          </p:cNvGraphicFramePr>
          <p:nvPr>
            <p:extLst>
              <p:ext uri="{D42A27DB-BD31-4B8C-83A1-F6EECF244321}">
                <p14:modId xmlns:p14="http://schemas.microsoft.com/office/powerpoint/2010/main" val="4252376999"/>
              </p:ext>
            </p:extLst>
          </p:nvPr>
        </p:nvGraphicFramePr>
        <p:xfrm>
          <a:off x="1024738" y="1288952"/>
          <a:ext cx="4259605" cy="5361459"/>
        </p:xfrm>
        <a:graphic>
          <a:graphicData uri="http://schemas.openxmlformats.org/presentationml/2006/ole">
            <mc:AlternateContent xmlns:mc="http://schemas.openxmlformats.org/markup-compatibility/2006">
              <mc:Choice xmlns:v="urn:schemas-microsoft-com:vml" Requires="v">
                <p:oleObj spid="_x0000_s15373" name="Image" r:id="rId3" imgW="4025397" imgH="5066667" progId="">
                  <p:embed/>
                </p:oleObj>
              </mc:Choice>
              <mc:Fallback>
                <p:oleObj name="Image" r:id="rId3" imgW="4025397" imgH="5066667" progId="">
                  <p:embed/>
                  <p:pic>
                    <p:nvPicPr>
                      <p:cNvPr id="102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738" y="1288952"/>
                        <a:ext cx="4259605" cy="5361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39F0F27C-043F-7F44-8C51-CD63CBCD1AE8}"/>
              </a:ext>
            </a:extLst>
          </p:cNvPr>
          <p:cNvGraphicFramePr>
            <a:graphicFrameLocks noChangeAspect="1"/>
          </p:cNvGraphicFramePr>
          <p:nvPr>
            <p:extLst>
              <p:ext uri="{D42A27DB-BD31-4B8C-83A1-F6EECF244321}">
                <p14:modId xmlns:p14="http://schemas.microsoft.com/office/powerpoint/2010/main" val="1838078773"/>
              </p:ext>
            </p:extLst>
          </p:nvPr>
        </p:nvGraphicFramePr>
        <p:xfrm>
          <a:off x="7226159" y="1484073"/>
          <a:ext cx="4447123" cy="4620387"/>
        </p:xfrm>
        <a:graphic>
          <a:graphicData uri="http://schemas.openxmlformats.org/presentationml/2006/ole">
            <mc:AlternateContent xmlns:mc="http://schemas.openxmlformats.org/markup-compatibility/2006">
              <mc:Choice xmlns:v="urn:schemas-microsoft-com:vml" Requires="v">
                <p:oleObj spid="_x0000_s15374" name="Image" r:id="rId5" imgW="4888889" imgH="5079365" progId="">
                  <p:embed/>
                </p:oleObj>
              </mc:Choice>
              <mc:Fallback>
                <p:oleObj name="Image" r:id="rId5" imgW="4888889" imgH="5079365" progId="">
                  <p:embed/>
                  <p:pic>
                    <p:nvPicPr>
                      <p:cNvPr id="102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26159" y="1484073"/>
                        <a:ext cx="4447123" cy="462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ight Arrow 1">
            <a:extLst>
              <a:ext uri="{FF2B5EF4-FFF2-40B4-BE49-F238E27FC236}">
                <a16:creationId xmlns:a16="http://schemas.microsoft.com/office/drawing/2014/main" id="{14E70319-7C4F-4A4A-8156-77FDBAC0F767}"/>
              </a:ext>
            </a:extLst>
          </p:cNvPr>
          <p:cNvSpPr/>
          <p:nvPr/>
        </p:nvSpPr>
        <p:spPr>
          <a:xfrm>
            <a:off x="5284343" y="2774023"/>
            <a:ext cx="1941816" cy="523982"/>
          </a:xfrm>
          <a:prstGeom prst="rightArrow">
            <a:avLst/>
          </a:prstGeom>
          <a:solidFill>
            <a:srgbClr val="820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8456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3C7699-2977-684C-9E38-9AF75D7B8A71}"/>
              </a:ext>
            </a:extLst>
          </p:cNvPr>
          <p:cNvSpPr/>
          <p:nvPr/>
        </p:nvSpPr>
        <p:spPr>
          <a:xfrm>
            <a:off x="0" y="893852"/>
            <a:ext cx="284251" cy="413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B0649DA-2491-034E-8553-F72DA57AADF3}"/>
              </a:ext>
            </a:extLst>
          </p:cNvPr>
          <p:cNvPicPr>
            <a:picLocks noChangeAspect="1"/>
          </p:cNvPicPr>
          <p:nvPr/>
        </p:nvPicPr>
        <p:blipFill>
          <a:blip r:embed="rId3"/>
          <a:stretch>
            <a:fillRect/>
          </a:stretch>
        </p:blipFill>
        <p:spPr>
          <a:xfrm>
            <a:off x="6236413" y="1307831"/>
            <a:ext cx="5381616" cy="5231081"/>
          </a:xfrm>
          <a:prstGeom prst="rect">
            <a:avLst/>
          </a:prstGeom>
        </p:spPr>
      </p:pic>
      <p:pic>
        <p:nvPicPr>
          <p:cNvPr id="6" name="Picture 7" descr="Image result for discussion png">
            <a:extLst>
              <a:ext uri="{FF2B5EF4-FFF2-40B4-BE49-F238E27FC236}">
                <a16:creationId xmlns:a16="http://schemas.microsoft.com/office/drawing/2014/main" id="{9E3B0F12-0BFF-9549-AF5E-CB8C4B550A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84" y="126251"/>
            <a:ext cx="2743485" cy="1670387"/>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12">
            <a:extLst>
              <a:ext uri="{FF2B5EF4-FFF2-40B4-BE49-F238E27FC236}">
                <a16:creationId xmlns:a16="http://schemas.microsoft.com/office/drawing/2014/main" id="{F9C3898B-21C2-9F4F-B316-3CDEBC7FC352}"/>
              </a:ext>
            </a:extLst>
          </p:cNvPr>
          <p:cNvSpPr>
            <a:spLocks noGrp="1"/>
          </p:cNvSpPr>
          <p:nvPr>
            <p:ph type="sldNum" sz="quarter" idx="12"/>
          </p:nvPr>
        </p:nvSpPr>
        <p:spPr/>
        <p:txBody>
          <a:bodyPr/>
          <a:lstStyle/>
          <a:p>
            <a:pPr>
              <a:defRPr/>
            </a:pPr>
            <a:fld id="{D1A9425D-9892-784D-B3BB-790F829805F1}" type="slidenum">
              <a:rPr lang="en-US" smtClean="0"/>
              <a:pPr>
                <a:defRPr/>
              </a:pPr>
              <a:t>23</a:t>
            </a:fld>
            <a:endParaRPr lang="en-US"/>
          </a:p>
        </p:txBody>
      </p:sp>
      <p:sp>
        <p:nvSpPr>
          <p:cNvPr id="7" name="Title 1">
            <a:extLst>
              <a:ext uri="{FF2B5EF4-FFF2-40B4-BE49-F238E27FC236}">
                <a16:creationId xmlns:a16="http://schemas.microsoft.com/office/drawing/2014/main" id="{B23BBCDD-077B-3F46-AA08-61B993EE24FF}"/>
              </a:ext>
            </a:extLst>
          </p:cNvPr>
          <p:cNvSpPr txBox="1">
            <a:spLocks noChangeArrowheads="1"/>
          </p:cNvSpPr>
          <p:nvPr/>
        </p:nvSpPr>
        <p:spPr bwMode="auto">
          <a:xfrm>
            <a:off x="2470864" y="136525"/>
            <a:ext cx="9721136" cy="122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LET’S TRY</a:t>
            </a:r>
          </a:p>
          <a:p>
            <a:pPr>
              <a:lnSpc>
                <a:spcPct val="90000"/>
              </a:lnSpc>
            </a:pPr>
            <a:r>
              <a:rPr lang="en-US" altLang="en-US" sz="3600" dirty="0">
                <a:solidFill>
                  <a:srgbClr val="85103F"/>
                </a:solidFill>
              </a:rPr>
              <a:t>Checkpoint 1: DFD to Structure Chart </a:t>
            </a:r>
            <a:r>
              <a:rPr lang="en-US" altLang="en-US" sz="2800" dirty="0">
                <a:solidFill>
                  <a:srgbClr val="85103F"/>
                </a:solidFill>
              </a:rPr>
              <a:t>(Final 2016/2017)</a:t>
            </a:r>
            <a:endParaRPr lang="en-US" altLang="en-US" sz="3600" dirty="0">
              <a:solidFill>
                <a:srgbClr val="85103F"/>
              </a:solidFill>
            </a:endParaRPr>
          </a:p>
        </p:txBody>
      </p:sp>
      <p:sp>
        <p:nvSpPr>
          <p:cNvPr id="2" name="Rectangle 1">
            <a:extLst>
              <a:ext uri="{FF2B5EF4-FFF2-40B4-BE49-F238E27FC236}">
                <a16:creationId xmlns:a16="http://schemas.microsoft.com/office/drawing/2014/main" id="{251AA861-18BF-2A4F-A389-774BBF1ED437}"/>
              </a:ext>
            </a:extLst>
          </p:cNvPr>
          <p:cNvSpPr/>
          <p:nvPr/>
        </p:nvSpPr>
        <p:spPr>
          <a:xfrm>
            <a:off x="284251" y="2505670"/>
            <a:ext cx="6077379" cy="923330"/>
          </a:xfrm>
          <a:prstGeom prst="rect">
            <a:avLst/>
          </a:prstGeom>
        </p:spPr>
        <p:txBody>
          <a:bodyPr wrap="square">
            <a:spAutoFit/>
          </a:bodyPr>
          <a:lstStyle/>
          <a:p>
            <a:r>
              <a:rPr lang="en-US" dirty="0"/>
              <a:t>Figure 1 shows the physical Data Flow Diagram for Book Rental System. Based on Figure 1, convert the DFD into a structure chart.</a:t>
            </a:r>
          </a:p>
        </p:txBody>
      </p:sp>
      <p:sp>
        <p:nvSpPr>
          <p:cNvPr id="5" name="Rectangle 4">
            <a:extLst>
              <a:ext uri="{FF2B5EF4-FFF2-40B4-BE49-F238E27FC236}">
                <a16:creationId xmlns:a16="http://schemas.microsoft.com/office/drawing/2014/main" id="{AF901179-737C-7245-B427-75A433A028B9}"/>
              </a:ext>
            </a:extLst>
          </p:cNvPr>
          <p:cNvSpPr/>
          <p:nvPr/>
        </p:nvSpPr>
        <p:spPr>
          <a:xfrm>
            <a:off x="4582235" y="6352143"/>
            <a:ext cx="4448718" cy="369332"/>
          </a:xfrm>
          <a:prstGeom prst="rect">
            <a:avLst/>
          </a:prstGeom>
        </p:spPr>
        <p:txBody>
          <a:bodyPr wrap="none">
            <a:spAutoFit/>
          </a:bodyPr>
          <a:lstStyle/>
          <a:p>
            <a:r>
              <a:rPr lang="en-US" dirty="0"/>
              <a:t>Figure 1: Physical DFD for Book Rental System</a:t>
            </a:r>
          </a:p>
        </p:txBody>
      </p:sp>
    </p:spTree>
    <p:extLst>
      <p:ext uri="{BB962C8B-B14F-4D97-AF65-F5344CB8AC3E}">
        <p14:creationId xmlns:p14="http://schemas.microsoft.com/office/powerpoint/2010/main" val="4031221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3705323785"/>
              </p:ext>
            </p:extLst>
          </p:nvPr>
        </p:nvGraphicFramePr>
        <p:xfrm>
          <a:off x="427038" y="2086475"/>
          <a:ext cx="11398250" cy="2300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EAA3F93E-1136-AB41-86C4-1A4F94C0B6A0}"/>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496329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A3F93E-1136-AB41-86C4-1A4F94C0B6A0}"/>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WHAT IS ER DIAGRAM?</a:t>
            </a:r>
            <a:endParaRPr lang="en-US" altLang="en-US" sz="5400" dirty="0">
              <a:solidFill>
                <a:srgbClr val="85103F"/>
              </a:solidFill>
              <a:latin typeface="Calibri Light" panose="020F0302020204030204" pitchFamily="34" charset="0"/>
            </a:endParaRPr>
          </a:p>
        </p:txBody>
      </p:sp>
      <p:sp>
        <p:nvSpPr>
          <p:cNvPr id="5" name="Rectangle 3">
            <a:extLst>
              <a:ext uri="{FF2B5EF4-FFF2-40B4-BE49-F238E27FC236}">
                <a16:creationId xmlns:a16="http://schemas.microsoft.com/office/drawing/2014/main" id="{2A26B732-5E31-F84D-8E84-36300652B518}"/>
              </a:ext>
            </a:extLst>
          </p:cNvPr>
          <p:cNvSpPr txBox="1">
            <a:spLocks noChangeArrowheads="1"/>
          </p:cNvSpPr>
          <p:nvPr/>
        </p:nvSpPr>
        <p:spPr>
          <a:xfrm>
            <a:off x="303087" y="1802927"/>
            <a:ext cx="11734800" cy="492941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A diagram used to define the data storage requirements is called the entity-relationship diagram (ERD)</a:t>
            </a:r>
          </a:p>
          <a:p>
            <a:r>
              <a:rPr lang="en-US" sz="3600"/>
              <a:t>Data storage requirements include the data entities, their attributes, and the relationships among the data entities. </a:t>
            </a:r>
            <a:endParaRPr lang="en-US" sz="3600" dirty="0"/>
          </a:p>
        </p:txBody>
      </p:sp>
    </p:spTree>
    <p:extLst>
      <p:ext uri="{BB962C8B-B14F-4D97-AF65-F5344CB8AC3E}">
        <p14:creationId xmlns:p14="http://schemas.microsoft.com/office/powerpoint/2010/main" val="436216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A3F93E-1136-AB41-86C4-1A4F94C0B6A0}"/>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ERD BASIC CONCEPTS</a:t>
            </a:r>
            <a:endParaRPr lang="en-US" altLang="en-US" sz="5400" dirty="0">
              <a:solidFill>
                <a:srgbClr val="85103F"/>
              </a:solidFill>
              <a:latin typeface="Calibri Light" panose="020F0302020204030204" pitchFamily="34" charset="0"/>
            </a:endParaRPr>
          </a:p>
        </p:txBody>
      </p:sp>
      <p:graphicFrame>
        <p:nvGraphicFramePr>
          <p:cNvPr id="3" name="Group 108">
            <a:extLst>
              <a:ext uri="{FF2B5EF4-FFF2-40B4-BE49-F238E27FC236}">
                <a16:creationId xmlns:a16="http://schemas.microsoft.com/office/drawing/2014/main" id="{BC770A96-600B-5F44-87A4-9D81CDB522C6}"/>
              </a:ext>
            </a:extLst>
          </p:cNvPr>
          <p:cNvGraphicFramePr>
            <a:graphicFrameLocks noGrp="1"/>
          </p:cNvGraphicFramePr>
          <p:nvPr>
            <p:extLst>
              <p:ext uri="{D42A27DB-BD31-4B8C-83A1-F6EECF244321}">
                <p14:modId xmlns:p14="http://schemas.microsoft.com/office/powerpoint/2010/main" val="2491869854"/>
              </p:ext>
            </p:extLst>
          </p:nvPr>
        </p:nvGraphicFramePr>
        <p:xfrm>
          <a:off x="440737" y="1495058"/>
          <a:ext cx="11009386" cy="4572000"/>
        </p:xfrm>
        <a:graphic>
          <a:graphicData uri="http://schemas.openxmlformats.org/drawingml/2006/table">
            <a:tbl>
              <a:tblPr/>
              <a:tblGrid>
                <a:gridCol w="2700415">
                  <a:extLst>
                    <a:ext uri="{9D8B030D-6E8A-4147-A177-3AD203B41FA5}">
                      <a16:colId xmlns:a16="http://schemas.microsoft.com/office/drawing/2014/main" val="20000"/>
                    </a:ext>
                  </a:extLst>
                </a:gridCol>
                <a:gridCol w="8308971">
                  <a:extLst>
                    <a:ext uri="{9D8B030D-6E8A-4147-A177-3AD203B41FA5}">
                      <a16:colId xmlns:a16="http://schemas.microsoft.com/office/drawing/2014/main" val="20001"/>
                    </a:ext>
                  </a:extLst>
                </a:gridCol>
              </a:tblGrid>
              <a:tr h="36576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a:ln>
                            <a:noFill/>
                          </a:ln>
                          <a:solidFill>
                            <a:schemeClr val="bg1"/>
                          </a:solidFill>
                          <a:effectLst/>
                          <a:latin typeface="Verdana" pitchFamily="34" charset="0"/>
                        </a:rPr>
                        <a:t>CONCEPTS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820F3E"/>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a:ln>
                            <a:noFill/>
                          </a:ln>
                          <a:solidFill>
                            <a:schemeClr val="bg1"/>
                          </a:solidFill>
                          <a:effectLst/>
                          <a:latin typeface="Verdana" pitchFamily="34" charset="0"/>
                        </a:rPr>
                        <a:t>DESCRIPTIONS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820F3E"/>
                    </a:solidFill>
                  </a:tcPr>
                </a:tc>
                <a:extLst>
                  <a:ext uri="{0D108BD9-81ED-4DB2-BD59-A6C34878D82A}">
                    <a16:rowId xmlns:a16="http://schemas.microsoft.com/office/drawing/2014/main" val="10000"/>
                  </a:ext>
                </a:extLst>
              </a:tr>
              <a:tr h="13106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1600" b="0" i="0" u="none" strike="noStrike" cap="none" normalizeH="0" baseline="0">
                          <a:ln>
                            <a:noFill/>
                          </a:ln>
                          <a:solidFill>
                            <a:schemeClr val="tx1"/>
                          </a:solidFill>
                          <a:effectLst/>
                          <a:latin typeface="Verdana" pitchFamily="34" charset="0"/>
                        </a:rPr>
                        <a:t>Entity type</a:t>
                      </a:r>
                      <a:endParaRPr kumimoji="0" lang="en-US" sz="1600" b="0" i="0" u="none" strike="noStrike" cap="none" normalizeH="0" baseline="0">
                        <a:ln>
                          <a:noFill/>
                        </a:ln>
                        <a:solidFill>
                          <a:schemeClr val="tx1"/>
                        </a:solidFill>
                        <a:effectLst/>
                        <a:latin typeface="Verdan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600" b="0" i="0" u="none" strike="noStrike" cap="none" normalizeH="0" baseline="0" dirty="0">
                          <a:ln>
                            <a:noFill/>
                          </a:ln>
                          <a:solidFill>
                            <a:schemeClr val="tx1"/>
                          </a:solidFill>
                          <a:effectLst/>
                          <a:latin typeface="Verdana" pitchFamily="34" charset="0"/>
                          <a:cs typeface="Times New Roman" pitchFamily="18" charset="0"/>
                        </a:rPr>
                        <a:t>Group of objects with same properties, identified by enterprise as having an independent existence. </a:t>
                      </a:r>
                      <a:r>
                        <a:rPr kumimoji="0" lang="en-US" sz="1600" b="0" i="0" u="none" strike="noStrike" cap="none" normalizeH="0" baseline="0" dirty="0">
                          <a:ln>
                            <a:noFill/>
                          </a:ln>
                          <a:solidFill>
                            <a:schemeClr val="tx1"/>
                          </a:solidFill>
                          <a:effectLst/>
                          <a:latin typeface="Verdana" pitchFamily="34" charset="0"/>
                        </a:rPr>
                        <a:t>A class of persons, places, objects, events, or concepts about which we need to capture and store data. Examples are person, object, place, event, and concepts.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8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1600" b="0" i="0" u="none" strike="noStrike" cap="none" normalizeH="0" baseline="0" dirty="0">
                          <a:ln>
                            <a:noFill/>
                          </a:ln>
                          <a:solidFill>
                            <a:schemeClr val="tx1"/>
                          </a:solidFill>
                          <a:effectLst/>
                          <a:latin typeface="Verdana" pitchFamily="34" charset="0"/>
                        </a:rPr>
                        <a:t>Entity occurrence</a:t>
                      </a:r>
                      <a:endParaRPr kumimoji="0" lang="en-US" sz="1600" b="0" i="0" u="none" strike="noStrike" cap="none" normalizeH="0" baseline="0" dirty="0">
                        <a:ln>
                          <a:noFill/>
                        </a:ln>
                        <a:solidFill>
                          <a:schemeClr val="tx1"/>
                        </a:solidFill>
                        <a:effectLst/>
                        <a:latin typeface="Verdan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600" b="0" i="0" u="none" strike="noStrike" cap="none" normalizeH="0" baseline="0">
                          <a:ln>
                            <a:noFill/>
                          </a:ln>
                          <a:solidFill>
                            <a:schemeClr val="tx1"/>
                          </a:solidFill>
                          <a:effectLst/>
                          <a:latin typeface="Verdana" pitchFamily="34" charset="0"/>
                          <a:cs typeface="Times New Roman" pitchFamily="18" charset="0"/>
                        </a:rPr>
                        <a:t>Uniquely identifiable object of an entity type.</a:t>
                      </a:r>
                      <a:endParaRPr kumimoji="0" lang="en-US" sz="1600" b="0" i="0" u="none" strike="noStrike" cap="none" normalizeH="0" baseline="0">
                        <a:ln>
                          <a:noFill/>
                        </a:ln>
                        <a:solidFill>
                          <a:schemeClr val="tx1"/>
                        </a:solidFill>
                        <a:effectLst/>
                        <a:latin typeface="Verdana" pitchFamily="34" charset="0"/>
                        <a:cs typeface="Times New Roman" pitchFamily="18"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8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1600" b="0" i="0" u="none" strike="noStrike" cap="none" normalizeH="0" baseline="0">
                          <a:ln>
                            <a:noFill/>
                          </a:ln>
                          <a:solidFill>
                            <a:schemeClr val="tx1"/>
                          </a:solidFill>
                          <a:effectLst/>
                          <a:latin typeface="Verdana" pitchFamily="34" charset="0"/>
                        </a:rPr>
                        <a:t>Relationship type</a:t>
                      </a:r>
                      <a:endParaRPr kumimoji="0" lang="en-US" sz="1600" b="0" i="0" u="none" strike="noStrike" cap="none" normalizeH="0" baseline="0">
                        <a:ln>
                          <a:noFill/>
                        </a:ln>
                        <a:solidFill>
                          <a:schemeClr val="tx1"/>
                        </a:solidFill>
                        <a:effectLst/>
                        <a:latin typeface="Verdan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600" b="0" i="0" u="none" strike="noStrike" cap="none" normalizeH="0" baseline="0">
                          <a:ln>
                            <a:noFill/>
                          </a:ln>
                          <a:solidFill>
                            <a:schemeClr val="tx1"/>
                          </a:solidFill>
                          <a:effectLst/>
                          <a:latin typeface="Verdana" pitchFamily="34" charset="0"/>
                          <a:cs typeface="Times New Roman" pitchFamily="18" charset="0"/>
                        </a:rPr>
                        <a:t>Set of meaningful associations among entity types.</a:t>
                      </a:r>
                      <a:endParaRPr kumimoji="0" lang="en-US" sz="1600" b="0" i="0" u="none" strike="noStrike" cap="none" normalizeH="0" baseline="0">
                        <a:ln>
                          <a:noFill/>
                        </a:ln>
                        <a:solidFill>
                          <a:schemeClr val="tx1"/>
                        </a:solidFill>
                        <a:effectLst/>
                        <a:latin typeface="Verdana" pitchFamily="34" charset="0"/>
                        <a:cs typeface="Times New Roman" pitchFamily="18"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1600" b="0" i="0" u="none" strike="noStrike" cap="none" normalizeH="0" baseline="0">
                          <a:ln>
                            <a:noFill/>
                          </a:ln>
                          <a:solidFill>
                            <a:schemeClr val="tx1"/>
                          </a:solidFill>
                          <a:effectLst/>
                          <a:latin typeface="Verdana" pitchFamily="34" charset="0"/>
                        </a:rPr>
                        <a:t>Relationship occurrence</a:t>
                      </a:r>
                      <a:endParaRPr kumimoji="0" lang="en-US" sz="1600" b="0" i="0" u="none" strike="noStrike" cap="none" normalizeH="0" baseline="0">
                        <a:ln>
                          <a:noFill/>
                        </a:ln>
                        <a:solidFill>
                          <a:schemeClr val="tx1"/>
                        </a:solidFill>
                        <a:effectLst/>
                        <a:latin typeface="Verdan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600" b="0" i="0" u="none" strike="noStrike" cap="none" normalizeH="0" baseline="0">
                          <a:ln>
                            <a:noFill/>
                          </a:ln>
                          <a:solidFill>
                            <a:schemeClr val="tx1"/>
                          </a:solidFill>
                          <a:effectLst/>
                          <a:latin typeface="Verdana" pitchFamily="34" charset="0"/>
                          <a:cs typeface="Times New Roman" pitchFamily="18" charset="0"/>
                        </a:rPr>
                        <a:t>Uniquely identifiable association, which includes one occurrence from each participating entity type.</a:t>
                      </a:r>
                      <a:r>
                        <a:rPr kumimoji="0" lang="en-GB" sz="1600" b="0" i="0" u="none" strike="noStrike" cap="none" normalizeH="0" baseline="0">
                          <a:ln>
                            <a:noFill/>
                          </a:ln>
                          <a:solidFill>
                            <a:schemeClr val="tx1"/>
                          </a:solidFill>
                          <a:effectLst/>
                          <a:latin typeface="Verdana" pitchFamily="34" charset="0"/>
                        </a:rPr>
                        <a:t> </a:t>
                      </a:r>
                      <a:endParaRPr kumimoji="0" lang="en-US" sz="1600" b="0" i="0" u="none" strike="noStrike" cap="none" normalizeH="0" baseline="0">
                        <a:ln>
                          <a:noFill/>
                        </a:ln>
                        <a:solidFill>
                          <a:schemeClr val="tx1"/>
                        </a:solidFill>
                        <a:effectLst/>
                        <a:latin typeface="Verdana"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66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1600" b="0" i="0" u="none" strike="noStrike" cap="none" normalizeH="0" baseline="0">
                          <a:ln>
                            <a:noFill/>
                          </a:ln>
                          <a:solidFill>
                            <a:schemeClr val="tx1"/>
                          </a:solidFill>
                          <a:effectLst/>
                          <a:latin typeface="Verdana" pitchFamily="34" charset="0"/>
                        </a:rPr>
                        <a:t>Degree of a Relationship</a:t>
                      </a:r>
                      <a:endParaRPr kumimoji="0" lang="en-US" sz="1600" b="0" i="0" u="none" strike="noStrike" cap="none" normalizeH="0" baseline="0">
                        <a:ln>
                          <a:noFill/>
                        </a:ln>
                        <a:solidFill>
                          <a:schemeClr val="tx1"/>
                        </a:solidFill>
                        <a:effectLst/>
                        <a:latin typeface="Verdan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1600" b="0" i="0" u="none" strike="noStrike" cap="none" normalizeH="0" baseline="0">
                          <a:ln>
                            <a:noFill/>
                          </a:ln>
                          <a:solidFill>
                            <a:schemeClr val="tx1"/>
                          </a:solidFill>
                          <a:effectLst/>
                          <a:latin typeface="Verdana" pitchFamily="34" charset="0"/>
                        </a:rPr>
                        <a:t>Number of participating entities in relationship. It is limited by constraints such as cardinality and participation (mandatory {All}, optional {Not All}, disjoint {or}), nondisjoint {and})</a:t>
                      </a:r>
                      <a:endParaRPr kumimoji="0" lang="en-US" sz="1600" b="0" i="0" u="none" strike="noStrike" cap="none" normalizeH="0" baseline="0">
                        <a:ln>
                          <a:noFill/>
                        </a:ln>
                        <a:solidFill>
                          <a:schemeClr val="tx1"/>
                        </a:solidFill>
                        <a:effectLst/>
                        <a:latin typeface="Verdana"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600" b="0" i="0" u="none" strike="noStrike" cap="none" normalizeH="0" baseline="0">
                          <a:ln>
                            <a:noFill/>
                          </a:ln>
                          <a:solidFill>
                            <a:schemeClr val="tx1"/>
                          </a:solidFill>
                          <a:effectLst/>
                          <a:latin typeface="Verdana" pitchFamily="34" charset="0"/>
                          <a:cs typeface="Times New Roman" pitchFamily="18" charset="0"/>
                        </a:rPr>
                        <a:t>Relationship of degree</a:t>
                      </a:r>
                      <a:endParaRPr kumimoji="0" lang="en-US" sz="1600" b="0" i="0" u="none" strike="noStrike" cap="none" normalizeH="0" baseline="0">
                        <a:ln>
                          <a:noFill/>
                        </a:ln>
                        <a:solidFill>
                          <a:schemeClr val="tx1"/>
                        </a:solidFill>
                        <a:effectLst/>
                        <a:latin typeface="Verdana" pitchFamily="34" charset="0"/>
                        <a:cs typeface="Times New Roman" pitchFamily="18"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600" b="0" i="0" u="none" strike="noStrike" cap="none" normalizeH="0" baseline="0" dirty="0">
                          <a:ln>
                            <a:noFill/>
                          </a:ln>
                          <a:solidFill>
                            <a:schemeClr val="tx1"/>
                          </a:solidFill>
                          <a:effectLst/>
                          <a:latin typeface="Verdana" pitchFamily="34" charset="0"/>
                          <a:cs typeface="Times New Roman" pitchFamily="18" charset="0"/>
                        </a:rPr>
                        <a:t>A degree of relationship, for examples are : binary, ternary, quaternary or n-nary relationship</a:t>
                      </a:r>
                      <a:endParaRPr kumimoji="0" lang="en-US" sz="1600" b="0" i="0" u="none" strike="noStrike" cap="none" normalizeH="0" baseline="0" dirty="0">
                        <a:ln>
                          <a:noFill/>
                        </a:ln>
                        <a:solidFill>
                          <a:schemeClr val="tx1"/>
                        </a:solidFill>
                        <a:effectLst/>
                        <a:latin typeface="Verdana" pitchFamily="34" charset="0"/>
                        <a:cs typeface="Times New Roman" pitchFamily="18"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56787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A3F93E-1136-AB41-86C4-1A4F94C0B6A0}"/>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ERD BASIC CONCEPTS</a:t>
            </a:r>
            <a:endParaRPr lang="en-US" altLang="en-US" sz="5400" dirty="0">
              <a:solidFill>
                <a:srgbClr val="85103F"/>
              </a:solidFill>
              <a:latin typeface="Calibri Light" panose="020F0302020204030204" pitchFamily="34" charset="0"/>
            </a:endParaRPr>
          </a:p>
        </p:txBody>
      </p:sp>
      <p:graphicFrame>
        <p:nvGraphicFramePr>
          <p:cNvPr id="6" name="Group 60">
            <a:extLst>
              <a:ext uri="{FF2B5EF4-FFF2-40B4-BE49-F238E27FC236}">
                <a16:creationId xmlns:a16="http://schemas.microsoft.com/office/drawing/2014/main" id="{EE12CEC5-2C5F-AB4D-8B8A-7A67DC35409E}"/>
              </a:ext>
            </a:extLst>
          </p:cNvPr>
          <p:cNvGraphicFramePr>
            <a:graphicFrameLocks noGrp="1"/>
          </p:cNvGraphicFramePr>
          <p:nvPr>
            <p:extLst>
              <p:ext uri="{D42A27DB-BD31-4B8C-83A1-F6EECF244321}">
                <p14:modId xmlns:p14="http://schemas.microsoft.com/office/powerpoint/2010/main" val="2109369022"/>
              </p:ext>
            </p:extLst>
          </p:nvPr>
        </p:nvGraphicFramePr>
        <p:xfrm>
          <a:off x="467543" y="1484784"/>
          <a:ext cx="11491575" cy="4022163"/>
        </p:xfrm>
        <a:graphic>
          <a:graphicData uri="http://schemas.openxmlformats.org/drawingml/2006/table">
            <a:tbl>
              <a:tblPr/>
              <a:tblGrid>
                <a:gridCol w="2447280">
                  <a:extLst>
                    <a:ext uri="{9D8B030D-6E8A-4147-A177-3AD203B41FA5}">
                      <a16:colId xmlns:a16="http://schemas.microsoft.com/office/drawing/2014/main" val="20000"/>
                    </a:ext>
                  </a:extLst>
                </a:gridCol>
                <a:gridCol w="9044295">
                  <a:extLst>
                    <a:ext uri="{9D8B030D-6E8A-4147-A177-3AD203B41FA5}">
                      <a16:colId xmlns:a16="http://schemas.microsoft.com/office/drawing/2014/main" val="20001"/>
                    </a:ext>
                  </a:extLst>
                </a:gridCol>
              </a:tblGrid>
              <a:tr h="39237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800" b="1" i="0" u="none" strike="noStrike" cap="none" normalizeH="0" baseline="0" dirty="0">
                          <a:ln>
                            <a:noFill/>
                          </a:ln>
                          <a:solidFill>
                            <a:schemeClr val="bg1"/>
                          </a:solidFill>
                          <a:effectLst/>
                          <a:latin typeface="Verdana" charset="0"/>
                          <a:ea typeface="ＭＳ Ｐゴシック" charset="0"/>
                          <a:cs typeface="Arial" charset="0"/>
                        </a:rPr>
                        <a:t>CONCEPTS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820F3E"/>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800" b="1" i="0" u="none" strike="noStrike" cap="none" normalizeH="0" baseline="0" dirty="0">
                          <a:ln>
                            <a:noFill/>
                          </a:ln>
                          <a:solidFill>
                            <a:schemeClr val="bg1"/>
                          </a:solidFill>
                          <a:effectLst/>
                          <a:latin typeface="Verdana" charset="0"/>
                          <a:ea typeface="ＭＳ Ｐゴシック" charset="0"/>
                          <a:cs typeface="Arial" charset="0"/>
                        </a:rPr>
                        <a:t>DESCRIPTIONS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820F3E"/>
                    </a:solidFill>
                  </a:tcPr>
                </a:tc>
                <a:extLst>
                  <a:ext uri="{0D108BD9-81ED-4DB2-BD59-A6C34878D82A}">
                    <a16:rowId xmlns:a16="http://schemas.microsoft.com/office/drawing/2014/main" val="10000"/>
                  </a:ext>
                </a:extLst>
              </a:tr>
              <a:tr h="114442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Arial" charset="0"/>
                        </a:rPr>
                        <a:t>Attributes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Arial" charset="0"/>
                        </a:rPr>
                        <a:t>A descriptive property or characteristics of an entity. Synonyms include element, property and field. In example as Student (Entity), StudentID (Attribute). There are many type of attributes such as simple, composite, single-valued, multi-valued and derived attribute.</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28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Arial" charset="0"/>
                        </a:rPr>
                        <a:t>Keys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dirty="0">
                          <a:ln>
                            <a:noFill/>
                          </a:ln>
                          <a:solidFill>
                            <a:schemeClr val="tx1"/>
                          </a:solidFill>
                          <a:effectLst/>
                          <a:latin typeface="Verdana" charset="0"/>
                          <a:ea typeface="ＭＳ Ｐゴシック" charset="0"/>
                          <a:cs typeface="Times New Roman" charset="0"/>
                        </a:rPr>
                        <a:t>An attribute, or a group of attributes, that assumes a unique value for each entity instance. It is sometimes called an identifier. There are candidate key, primary key, alternate key, foreign key and composite key.</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125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Arial" charset="0"/>
                        </a:rPr>
                        <a:t>Generalization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Times New Roman" charset="0"/>
                        </a:rPr>
                        <a:t>A concept wherein the attributes that are common to several types of an entity (inheritance relationship)</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15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Arial" charset="0"/>
                        </a:rPr>
                        <a:t>Supertype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Times New Roman" charset="0"/>
                        </a:rPr>
                        <a:t>An entity whose instances store attributes that are common to one or more entity substypes.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96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a:ln>
                            <a:noFill/>
                          </a:ln>
                          <a:solidFill>
                            <a:schemeClr val="tx1"/>
                          </a:solidFill>
                          <a:effectLst/>
                          <a:latin typeface="Verdana" charset="0"/>
                          <a:ea typeface="ＭＳ Ｐゴシック" charset="0"/>
                          <a:cs typeface="Arial" charset="0"/>
                        </a:rPr>
                        <a:t>Subtype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charset="0"/>
                        <a:buNone/>
                        <a:tabLst/>
                      </a:pPr>
                      <a:r>
                        <a:rPr kumimoji="0" lang="en-US" sz="1600" b="0" i="0" u="none" strike="noStrike" cap="none" normalizeH="0" baseline="0" dirty="0">
                          <a:ln>
                            <a:noFill/>
                          </a:ln>
                          <a:solidFill>
                            <a:schemeClr val="tx1"/>
                          </a:solidFill>
                          <a:effectLst/>
                          <a:latin typeface="Verdana" charset="0"/>
                          <a:ea typeface="ＭＳ Ｐゴシック" charset="0"/>
                          <a:cs typeface="Times New Roman" charset="0"/>
                        </a:rPr>
                        <a:t>An entity whose instances may inherit common attributes from its entity </a:t>
                      </a:r>
                      <a:r>
                        <a:rPr kumimoji="0" lang="en-US" sz="1600" b="0" i="0" u="none" strike="noStrike" cap="none" normalizeH="0" baseline="0" dirty="0" err="1">
                          <a:ln>
                            <a:noFill/>
                          </a:ln>
                          <a:solidFill>
                            <a:schemeClr val="tx1"/>
                          </a:solidFill>
                          <a:effectLst/>
                          <a:latin typeface="Verdana" charset="0"/>
                          <a:ea typeface="ＭＳ Ｐゴシック" charset="0"/>
                          <a:cs typeface="Times New Roman" charset="0"/>
                        </a:rPr>
                        <a:t>supertype</a:t>
                      </a:r>
                      <a:r>
                        <a:rPr kumimoji="0" lang="en-US" sz="1600" b="0" i="0" u="none" strike="noStrike" cap="none" normalizeH="0" baseline="0" dirty="0">
                          <a:ln>
                            <a:noFill/>
                          </a:ln>
                          <a:solidFill>
                            <a:schemeClr val="tx1"/>
                          </a:solidFill>
                          <a:effectLst/>
                          <a:latin typeface="Verdana" charset="0"/>
                          <a:ea typeface="ＭＳ Ｐゴシック" charset="0"/>
                          <a:cs typeface="Times New Roman" charset="0"/>
                        </a:rPr>
                        <a: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57554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4294967295"/>
          </p:nvPr>
        </p:nvSpPr>
        <p:spPr>
          <a:xfrm>
            <a:off x="452063" y="2214599"/>
            <a:ext cx="11287874" cy="3693041"/>
          </a:xfrm>
        </p:spPr>
        <p:txBody>
          <a:bodyPr/>
          <a:lstStyle/>
          <a:p>
            <a:r>
              <a:rPr lang="en-US" sz="3200" dirty="0"/>
              <a:t>DFDs and ERDs are both used to model systems, but they show two very different perspectives on the system</a:t>
            </a:r>
          </a:p>
          <a:p>
            <a:r>
              <a:rPr lang="en-US" sz="3200" dirty="0"/>
              <a:t>A DFD shows what the system </a:t>
            </a:r>
            <a:r>
              <a:rPr lang="en-US" sz="3200" b="1" i="1" dirty="0">
                <a:solidFill>
                  <a:schemeClr val="accent2"/>
                </a:solidFill>
              </a:rPr>
              <a:t>does</a:t>
            </a:r>
            <a:r>
              <a:rPr lang="en-US" sz="3200" dirty="0"/>
              <a:t> as well as the </a:t>
            </a:r>
            <a:r>
              <a:rPr lang="en-US" sz="3200" b="1" i="1" dirty="0">
                <a:solidFill>
                  <a:schemeClr val="accent2"/>
                </a:solidFill>
              </a:rPr>
              <a:t>data</a:t>
            </a:r>
            <a:r>
              <a:rPr lang="en-US" sz="3200" dirty="0"/>
              <a:t> that the system manipulates</a:t>
            </a:r>
          </a:p>
          <a:p>
            <a:r>
              <a:rPr lang="en-US" sz="3200" dirty="0"/>
              <a:t>An ERD shows </a:t>
            </a:r>
            <a:r>
              <a:rPr lang="en-US" sz="3200" b="1" dirty="0">
                <a:solidFill>
                  <a:srgbClr val="FF0000"/>
                </a:solidFill>
              </a:rPr>
              <a:t>only</a:t>
            </a:r>
            <a:r>
              <a:rPr lang="en-US" sz="3200" dirty="0"/>
              <a:t> the </a:t>
            </a:r>
            <a:r>
              <a:rPr lang="en-US" sz="3200" b="1" i="1" dirty="0">
                <a:solidFill>
                  <a:schemeClr val="accent2"/>
                </a:solidFill>
              </a:rPr>
              <a:t>data</a:t>
            </a:r>
            <a:r>
              <a:rPr lang="en-US" sz="3200" dirty="0"/>
              <a:t> that the system manipulates.</a:t>
            </a:r>
          </a:p>
        </p:txBody>
      </p:sp>
      <p:sp>
        <p:nvSpPr>
          <p:cNvPr id="4" name="Title 1">
            <a:extLst>
              <a:ext uri="{FF2B5EF4-FFF2-40B4-BE49-F238E27FC236}">
                <a16:creationId xmlns:a16="http://schemas.microsoft.com/office/drawing/2014/main" id="{1925F38F-24C6-2D4E-85AC-3909600ED4C7}"/>
              </a:ext>
            </a:extLst>
          </p:cNvPr>
          <p:cNvSpPr txBox="1">
            <a:spLocks noChangeArrowheads="1"/>
          </p:cNvSpPr>
          <p:nvPr/>
        </p:nvSpPr>
        <p:spPr bwMode="auto">
          <a:xfrm>
            <a:off x="427038" y="596900"/>
            <a:ext cx="1147043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 (DFD) AND ENTITY RELATIONSHIP DIAGRAM (ERD)</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408410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4294967295"/>
          </p:nvPr>
        </p:nvSpPr>
        <p:spPr>
          <a:xfrm>
            <a:off x="455488" y="2146300"/>
            <a:ext cx="11281024" cy="4264774"/>
          </a:xfrm>
        </p:spPr>
        <p:txBody>
          <a:bodyPr/>
          <a:lstStyle/>
          <a:p>
            <a:r>
              <a:rPr lang="en-US" sz="3200" b="1" dirty="0"/>
              <a:t>ENTITIES</a:t>
            </a:r>
            <a:r>
              <a:rPr lang="en-US" sz="3200" dirty="0"/>
              <a:t> on an ERD often (but not always) correspond to </a:t>
            </a:r>
            <a:r>
              <a:rPr lang="en-US" sz="3200" b="1" dirty="0"/>
              <a:t>DATA STORES</a:t>
            </a:r>
            <a:r>
              <a:rPr lang="en-US" sz="3200" dirty="0"/>
              <a:t> on a DFD</a:t>
            </a:r>
          </a:p>
          <a:p>
            <a:r>
              <a:rPr lang="en-US" sz="3200" b="1" dirty="0"/>
              <a:t>ATTRIBUTES</a:t>
            </a:r>
            <a:r>
              <a:rPr lang="en-US" sz="3200" dirty="0"/>
              <a:t> on an ERD usually correspond to </a:t>
            </a:r>
            <a:r>
              <a:rPr lang="en-US" sz="3200" b="1" dirty="0"/>
              <a:t>DATA ELEMENTS </a:t>
            </a:r>
            <a:r>
              <a:rPr lang="en-US" sz="3200" dirty="0"/>
              <a:t>(listed in the data dictionary) that make up the data store and data flows on a DFD</a:t>
            </a:r>
          </a:p>
          <a:p>
            <a:r>
              <a:rPr lang="en-US" sz="3200" dirty="0"/>
              <a:t>Relationships on an ERD </a:t>
            </a:r>
            <a:r>
              <a:rPr lang="en-US" sz="3200" b="1" dirty="0"/>
              <a:t>DO NOT</a:t>
            </a:r>
            <a:r>
              <a:rPr lang="en-US" sz="3200" dirty="0"/>
              <a:t> correspond to processes on a DFD. </a:t>
            </a:r>
          </a:p>
          <a:p>
            <a:r>
              <a:rPr lang="en-US" sz="3200" dirty="0"/>
              <a:t>Sources on a DFD usually </a:t>
            </a:r>
            <a:r>
              <a:rPr lang="en-US" sz="3200" b="1" dirty="0"/>
              <a:t>DO NOT</a:t>
            </a:r>
            <a:r>
              <a:rPr lang="en-US" sz="3200" dirty="0"/>
              <a:t> show up as entities on an ERD</a:t>
            </a:r>
          </a:p>
          <a:p>
            <a:endParaRPr lang="en-US" sz="3200" dirty="0"/>
          </a:p>
        </p:txBody>
      </p:sp>
      <p:sp>
        <p:nvSpPr>
          <p:cNvPr id="4" name="Title 1">
            <a:extLst>
              <a:ext uri="{FF2B5EF4-FFF2-40B4-BE49-F238E27FC236}">
                <a16:creationId xmlns:a16="http://schemas.microsoft.com/office/drawing/2014/main" id="{0B43257C-0FFA-9743-9E00-4D93D57931BC}"/>
              </a:ext>
            </a:extLst>
          </p:cNvPr>
          <p:cNvSpPr txBox="1">
            <a:spLocks noChangeArrowheads="1"/>
          </p:cNvSpPr>
          <p:nvPr/>
        </p:nvSpPr>
        <p:spPr bwMode="auto">
          <a:xfrm>
            <a:off x="427038" y="596900"/>
            <a:ext cx="1147043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 (DFD) AND ENTITY RELATIONSHIP DIAGRAM (ERD)</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018916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7" name="Object 8"/>
          <p:cNvGraphicFramePr>
            <a:graphicFrameLocks noChangeAspect="1"/>
          </p:cNvGraphicFramePr>
          <p:nvPr/>
        </p:nvGraphicFramePr>
        <p:xfrm>
          <a:off x="1905000" y="1524000"/>
          <a:ext cx="3900488" cy="4859338"/>
        </p:xfrm>
        <a:graphic>
          <a:graphicData uri="http://schemas.openxmlformats.org/presentationml/2006/ole">
            <mc:AlternateContent xmlns:mc="http://schemas.openxmlformats.org/markup-compatibility/2006">
              <mc:Choice xmlns:v="urn:schemas-microsoft-com:vml" Requires="v">
                <p:oleObj spid="_x0000_s1057" name="VISIO" r:id="rId3" imgW="4619160" imgH="5756040" progId="Visio.Drawing.6">
                  <p:embed/>
                </p:oleObj>
              </mc:Choice>
              <mc:Fallback>
                <p:oleObj name="VISIO" r:id="rId3" imgW="4619160" imgH="5756040" progId="Visio.Drawing.6">
                  <p:embed/>
                  <p:pic>
                    <p:nvPicPr>
                      <p:cNvPr id="1027"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524000"/>
                        <a:ext cx="3900488"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6" name="Object 3"/>
          <p:cNvGraphicFramePr>
            <a:graphicFrameLocks noChangeAspect="1"/>
          </p:cNvGraphicFramePr>
          <p:nvPr/>
        </p:nvGraphicFramePr>
        <p:xfrm>
          <a:off x="6324600" y="2133600"/>
          <a:ext cx="4110038" cy="2514600"/>
        </p:xfrm>
        <a:graphic>
          <a:graphicData uri="http://schemas.openxmlformats.org/presentationml/2006/ole">
            <mc:AlternateContent xmlns:mc="http://schemas.openxmlformats.org/markup-compatibility/2006">
              <mc:Choice xmlns:v="urn:schemas-microsoft-com:vml" Requires="v">
                <p:oleObj spid="_x0000_s1058" name="VISIO" r:id="rId5" imgW="5019120" imgH="2898720" progId="Visio.Drawing.6">
                  <p:embed/>
                </p:oleObj>
              </mc:Choice>
              <mc:Fallback>
                <p:oleObj name="VISIO" r:id="rId5" imgW="5019120" imgH="2898720" progId="Visio.Drawing.6">
                  <p:embed/>
                  <p:pic>
                    <p:nvPicPr>
                      <p:cNvPr id="102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2133600"/>
                        <a:ext cx="4110038"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Rectangle 4"/>
          <p:cNvSpPr>
            <a:spLocks noChangeArrowheads="1"/>
          </p:cNvSpPr>
          <p:nvPr/>
        </p:nvSpPr>
        <p:spPr bwMode="auto">
          <a:xfrm>
            <a:off x="1752600" y="1447800"/>
            <a:ext cx="4267200" cy="5105400"/>
          </a:xfrm>
          <a:prstGeom prst="rect">
            <a:avLst/>
          </a:prstGeom>
          <a:noFill/>
          <a:ln w="9525">
            <a:solidFill>
              <a:schemeClr val="tx1"/>
            </a:solidFill>
            <a:prstDash val="sysDot"/>
            <a:miter lim="800000"/>
            <a:headEnd/>
            <a:tailEnd/>
          </a:ln>
        </p:spPr>
        <p:txBody>
          <a:bodyPr wrap="none" anchor="ctr"/>
          <a:lstStyle/>
          <a:p>
            <a:endParaRPr lang="en-MY"/>
          </a:p>
        </p:txBody>
      </p:sp>
      <p:sp>
        <p:nvSpPr>
          <p:cNvPr id="1030" name="Rectangle 5"/>
          <p:cNvSpPr>
            <a:spLocks noChangeArrowheads="1"/>
          </p:cNvSpPr>
          <p:nvPr/>
        </p:nvSpPr>
        <p:spPr bwMode="auto">
          <a:xfrm>
            <a:off x="6172200" y="1447800"/>
            <a:ext cx="4343400" cy="5105400"/>
          </a:xfrm>
          <a:prstGeom prst="rect">
            <a:avLst/>
          </a:prstGeom>
          <a:noFill/>
          <a:ln w="9525">
            <a:solidFill>
              <a:schemeClr val="tx1"/>
            </a:solidFill>
            <a:prstDash val="sysDot"/>
            <a:miter lim="800000"/>
            <a:headEnd/>
            <a:tailEnd/>
          </a:ln>
        </p:spPr>
        <p:txBody>
          <a:bodyPr wrap="none" anchor="ctr"/>
          <a:lstStyle/>
          <a:p>
            <a:endParaRPr lang="en-MY"/>
          </a:p>
        </p:txBody>
      </p:sp>
      <p:sp>
        <p:nvSpPr>
          <p:cNvPr id="9" name="Title 1">
            <a:extLst>
              <a:ext uri="{FF2B5EF4-FFF2-40B4-BE49-F238E27FC236}">
                <a16:creationId xmlns:a16="http://schemas.microsoft.com/office/drawing/2014/main" id="{D59C40DE-45D1-C24D-88BB-A7535774348E}"/>
              </a:ext>
            </a:extLst>
          </p:cNvPr>
          <p:cNvSpPr txBox="1">
            <a:spLocks noChangeArrowheads="1"/>
          </p:cNvSpPr>
          <p:nvPr/>
        </p:nvSpPr>
        <p:spPr bwMode="auto">
          <a:xfrm>
            <a:off x="427038" y="596900"/>
            <a:ext cx="1147043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EXAMPLE OF DFD AND ERD</a:t>
            </a:r>
            <a:endParaRPr lang="en-US" altLang="en-US" sz="5400" dirty="0">
              <a:solidFill>
                <a:srgbClr val="85103F"/>
              </a:solidFill>
              <a:latin typeface="Calibri Light" panose="020F0302020204030204" pitchFamily="34" charset="0"/>
            </a:endParaRPr>
          </a:p>
        </p:txBody>
      </p:sp>
      <p:sp>
        <p:nvSpPr>
          <p:cNvPr id="10" name="Text Box 7">
            <a:extLst>
              <a:ext uri="{FF2B5EF4-FFF2-40B4-BE49-F238E27FC236}">
                <a16:creationId xmlns:a16="http://schemas.microsoft.com/office/drawing/2014/main" id="{05EDA0A6-DFCD-FA41-9A93-BFB95B0004AF}"/>
              </a:ext>
            </a:extLst>
          </p:cNvPr>
          <p:cNvSpPr txBox="1">
            <a:spLocks noChangeArrowheads="1"/>
          </p:cNvSpPr>
          <p:nvPr/>
        </p:nvSpPr>
        <p:spPr bwMode="auto">
          <a:xfrm>
            <a:off x="1752600" y="1447800"/>
            <a:ext cx="966188" cy="584775"/>
          </a:xfrm>
          <a:prstGeom prst="rect">
            <a:avLst/>
          </a:prstGeom>
          <a:solidFill>
            <a:srgbClr val="85103F"/>
          </a:solidFill>
          <a:ln w="9525">
            <a:noFill/>
            <a:miter lim="800000"/>
            <a:headEnd/>
            <a:tailEnd/>
          </a:ln>
        </p:spPr>
        <p:txBody>
          <a:bodyPr wrap="square">
            <a:spAutoFit/>
          </a:bodyPr>
          <a:lstStyle/>
          <a:p>
            <a:r>
              <a:rPr lang="en-US" sz="3200" b="1" dirty="0">
                <a:solidFill>
                  <a:schemeClr val="bg1"/>
                </a:solidFill>
              </a:rPr>
              <a:t>DFD</a:t>
            </a:r>
          </a:p>
        </p:txBody>
      </p:sp>
      <p:sp>
        <p:nvSpPr>
          <p:cNvPr id="11" name="Text Box 6">
            <a:extLst>
              <a:ext uri="{FF2B5EF4-FFF2-40B4-BE49-F238E27FC236}">
                <a16:creationId xmlns:a16="http://schemas.microsoft.com/office/drawing/2014/main" id="{E42E1BBE-4C44-544C-8878-3DF3406C81DC}"/>
              </a:ext>
            </a:extLst>
          </p:cNvPr>
          <p:cNvSpPr txBox="1">
            <a:spLocks noChangeArrowheads="1"/>
          </p:cNvSpPr>
          <p:nvPr/>
        </p:nvSpPr>
        <p:spPr bwMode="auto">
          <a:xfrm>
            <a:off x="6172201" y="5638801"/>
            <a:ext cx="4343400" cy="584775"/>
          </a:xfrm>
          <a:prstGeom prst="rect">
            <a:avLst/>
          </a:prstGeom>
          <a:solidFill>
            <a:srgbClr val="85103F"/>
          </a:solidFill>
          <a:ln w="9525">
            <a:noFill/>
            <a:miter lim="800000"/>
            <a:headEnd/>
            <a:tailEnd/>
          </a:ln>
        </p:spPr>
        <p:txBody>
          <a:bodyPr wrap="square">
            <a:spAutoFit/>
          </a:bodyPr>
          <a:lstStyle/>
          <a:p>
            <a:r>
              <a:rPr lang="en-US" sz="3200" b="1" dirty="0">
                <a:solidFill>
                  <a:schemeClr val="bg1"/>
                </a:solidFill>
              </a:rPr>
              <a:t>INCORRECT ERD</a:t>
            </a:r>
          </a:p>
        </p:txBody>
      </p:sp>
    </p:spTree>
    <p:extLst>
      <p:ext uri="{BB962C8B-B14F-4D97-AF65-F5344CB8AC3E}">
        <p14:creationId xmlns:p14="http://schemas.microsoft.com/office/powerpoint/2010/main" val="3248261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3"/>
          <p:cNvSpPr>
            <a:spLocks noChangeArrowheads="1"/>
          </p:cNvSpPr>
          <p:nvPr/>
        </p:nvSpPr>
        <p:spPr bwMode="auto">
          <a:xfrm>
            <a:off x="1752600" y="1447800"/>
            <a:ext cx="4267200" cy="5105400"/>
          </a:xfrm>
          <a:prstGeom prst="rect">
            <a:avLst/>
          </a:prstGeom>
          <a:noFill/>
          <a:ln w="9525">
            <a:solidFill>
              <a:schemeClr val="tx1"/>
            </a:solidFill>
            <a:prstDash val="sysDot"/>
            <a:miter lim="800000"/>
            <a:headEnd/>
            <a:tailEnd/>
          </a:ln>
        </p:spPr>
        <p:txBody>
          <a:bodyPr wrap="none" anchor="ctr"/>
          <a:lstStyle/>
          <a:p>
            <a:endParaRPr lang="en-MY"/>
          </a:p>
        </p:txBody>
      </p:sp>
      <p:sp>
        <p:nvSpPr>
          <p:cNvPr id="2054" name="Rectangle 4"/>
          <p:cNvSpPr>
            <a:spLocks noChangeArrowheads="1"/>
          </p:cNvSpPr>
          <p:nvPr/>
        </p:nvSpPr>
        <p:spPr bwMode="auto">
          <a:xfrm>
            <a:off x="6172200" y="1447800"/>
            <a:ext cx="4343400" cy="5105400"/>
          </a:xfrm>
          <a:prstGeom prst="rect">
            <a:avLst/>
          </a:prstGeom>
          <a:noFill/>
          <a:ln w="9525">
            <a:solidFill>
              <a:schemeClr val="tx1"/>
            </a:solidFill>
            <a:prstDash val="sysDot"/>
            <a:miter lim="800000"/>
            <a:headEnd/>
            <a:tailEnd/>
          </a:ln>
        </p:spPr>
        <p:txBody>
          <a:bodyPr wrap="none" anchor="ctr"/>
          <a:lstStyle/>
          <a:p>
            <a:endParaRPr lang="en-MY"/>
          </a:p>
        </p:txBody>
      </p:sp>
      <p:graphicFrame>
        <p:nvGraphicFramePr>
          <p:cNvPr id="2050" name="Object 5"/>
          <p:cNvGraphicFramePr>
            <a:graphicFrameLocks noChangeAspect="1"/>
          </p:cNvGraphicFramePr>
          <p:nvPr/>
        </p:nvGraphicFramePr>
        <p:xfrm>
          <a:off x="1905000" y="1524000"/>
          <a:ext cx="3900488" cy="4859338"/>
        </p:xfrm>
        <a:graphic>
          <a:graphicData uri="http://schemas.openxmlformats.org/presentationml/2006/ole">
            <mc:AlternateContent xmlns:mc="http://schemas.openxmlformats.org/markup-compatibility/2006">
              <mc:Choice xmlns:v="urn:schemas-microsoft-com:vml" Requires="v">
                <p:oleObj spid="_x0000_s2081" name="VISIO" r:id="rId3" imgW="4619160" imgH="5756040" progId="Visio.Drawing.6">
                  <p:embed/>
                </p:oleObj>
              </mc:Choice>
              <mc:Fallback>
                <p:oleObj name="VISIO" r:id="rId3" imgW="4619160" imgH="5756040" progId="Visio.Drawing.6">
                  <p:embed/>
                  <p:pic>
                    <p:nvPicPr>
                      <p:cNvPr id="205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524000"/>
                        <a:ext cx="3900488"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5" name="Text Box 6"/>
          <p:cNvSpPr txBox="1">
            <a:spLocks noChangeArrowheads="1"/>
          </p:cNvSpPr>
          <p:nvPr/>
        </p:nvSpPr>
        <p:spPr bwMode="auto">
          <a:xfrm>
            <a:off x="6172201" y="5638801"/>
            <a:ext cx="4343400" cy="584775"/>
          </a:xfrm>
          <a:prstGeom prst="rect">
            <a:avLst/>
          </a:prstGeom>
          <a:solidFill>
            <a:srgbClr val="85103F"/>
          </a:solidFill>
          <a:ln w="9525">
            <a:noFill/>
            <a:miter lim="800000"/>
            <a:headEnd/>
            <a:tailEnd/>
          </a:ln>
        </p:spPr>
        <p:txBody>
          <a:bodyPr wrap="square">
            <a:spAutoFit/>
          </a:bodyPr>
          <a:lstStyle/>
          <a:p>
            <a:r>
              <a:rPr lang="en-US" sz="3200" b="1" dirty="0">
                <a:solidFill>
                  <a:schemeClr val="bg1"/>
                </a:solidFill>
              </a:rPr>
              <a:t>CORRECT ERD</a:t>
            </a:r>
          </a:p>
        </p:txBody>
      </p:sp>
      <p:sp>
        <p:nvSpPr>
          <p:cNvPr id="2056" name="Text Box 7"/>
          <p:cNvSpPr txBox="1">
            <a:spLocks noChangeArrowheads="1"/>
          </p:cNvSpPr>
          <p:nvPr/>
        </p:nvSpPr>
        <p:spPr bwMode="auto">
          <a:xfrm>
            <a:off x="1752600" y="1447800"/>
            <a:ext cx="966188" cy="584775"/>
          </a:xfrm>
          <a:prstGeom prst="rect">
            <a:avLst/>
          </a:prstGeom>
          <a:solidFill>
            <a:srgbClr val="85103F"/>
          </a:solidFill>
          <a:ln w="9525">
            <a:noFill/>
            <a:miter lim="800000"/>
            <a:headEnd/>
            <a:tailEnd/>
          </a:ln>
        </p:spPr>
        <p:txBody>
          <a:bodyPr wrap="square">
            <a:spAutoFit/>
          </a:bodyPr>
          <a:lstStyle/>
          <a:p>
            <a:r>
              <a:rPr lang="en-US" sz="3200" b="1" dirty="0">
                <a:solidFill>
                  <a:schemeClr val="bg1"/>
                </a:solidFill>
              </a:rPr>
              <a:t>DFD</a:t>
            </a:r>
          </a:p>
        </p:txBody>
      </p:sp>
      <p:graphicFrame>
        <p:nvGraphicFramePr>
          <p:cNvPr id="2051" name="Object 8"/>
          <p:cNvGraphicFramePr>
            <a:graphicFrameLocks noChangeAspect="1"/>
          </p:cNvGraphicFramePr>
          <p:nvPr/>
        </p:nvGraphicFramePr>
        <p:xfrm>
          <a:off x="6324600" y="1600200"/>
          <a:ext cx="4114800" cy="3810000"/>
        </p:xfrm>
        <a:graphic>
          <a:graphicData uri="http://schemas.openxmlformats.org/presentationml/2006/ole">
            <mc:AlternateContent xmlns:mc="http://schemas.openxmlformats.org/markup-compatibility/2006">
              <mc:Choice xmlns:v="urn:schemas-microsoft-com:vml" Requires="v">
                <p:oleObj spid="_x0000_s2082" name="VISIO" r:id="rId5" imgW="5419440" imgH="4905000" progId="Visio.Drawing.6">
                  <p:embed/>
                </p:oleObj>
              </mc:Choice>
              <mc:Fallback>
                <p:oleObj name="VISIO" r:id="rId5" imgW="5419440" imgH="4905000" progId="Visio.Drawing.6">
                  <p:embed/>
                  <p:pic>
                    <p:nvPicPr>
                      <p:cNvPr id="2051"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1600200"/>
                        <a:ext cx="41148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itle 1">
            <a:extLst>
              <a:ext uri="{FF2B5EF4-FFF2-40B4-BE49-F238E27FC236}">
                <a16:creationId xmlns:a16="http://schemas.microsoft.com/office/drawing/2014/main" id="{1DC1D819-093D-814E-A45F-A302089DAB57}"/>
              </a:ext>
            </a:extLst>
          </p:cNvPr>
          <p:cNvSpPr txBox="1">
            <a:spLocks noChangeArrowheads="1"/>
          </p:cNvSpPr>
          <p:nvPr/>
        </p:nvSpPr>
        <p:spPr bwMode="auto">
          <a:xfrm>
            <a:off x="284582" y="575496"/>
            <a:ext cx="1147043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EXAMPLE OF DFD AND ERD</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507512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DC1D819-093D-814E-A45F-A302089DAB57}"/>
              </a:ext>
            </a:extLst>
          </p:cNvPr>
          <p:cNvSpPr txBox="1">
            <a:spLocks noChangeArrowheads="1"/>
          </p:cNvSpPr>
          <p:nvPr/>
        </p:nvSpPr>
        <p:spPr bwMode="auto">
          <a:xfrm>
            <a:off x="284582" y="575496"/>
            <a:ext cx="1147043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WHEN SHOULD BE USED?</a:t>
            </a:r>
            <a:endParaRPr lang="en-US" altLang="en-US" sz="5400" dirty="0">
              <a:solidFill>
                <a:srgbClr val="85103F"/>
              </a:solidFill>
              <a:latin typeface="Calibri Light" panose="020F0302020204030204" pitchFamily="34" charset="0"/>
            </a:endParaRPr>
          </a:p>
        </p:txBody>
      </p:sp>
      <p:sp>
        <p:nvSpPr>
          <p:cNvPr id="10" name="Freeform 9">
            <a:extLst>
              <a:ext uri="{FF2B5EF4-FFF2-40B4-BE49-F238E27FC236}">
                <a16:creationId xmlns:a16="http://schemas.microsoft.com/office/drawing/2014/main" id="{ABCEEB79-4DF4-4842-AB42-653CD3F6CB86}"/>
              </a:ext>
            </a:extLst>
          </p:cNvPr>
          <p:cNvSpPr/>
          <p:nvPr/>
        </p:nvSpPr>
        <p:spPr>
          <a:xfrm>
            <a:off x="427038" y="1643866"/>
            <a:ext cx="11291299" cy="2034764"/>
          </a:xfrm>
          <a:custGeom>
            <a:avLst/>
            <a:gdLst>
              <a:gd name="connsiteX0" fmla="*/ 0 w 11291299"/>
              <a:gd name="connsiteY0" fmla="*/ 203476 h 2034764"/>
              <a:gd name="connsiteX1" fmla="*/ 203476 w 11291299"/>
              <a:gd name="connsiteY1" fmla="*/ 0 h 2034764"/>
              <a:gd name="connsiteX2" fmla="*/ 11087823 w 11291299"/>
              <a:gd name="connsiteY2" fmla="*/ 0 h 2034764"/>
              <a:gd name="connsiteX3" fmla="*/ 11291299 w 11291299"/>
              <a:gd name="connsiteY3" fmla="*/ 203476 h 2034764"/>
              <a:gd name="connsiteX4" fmla="*/ 11291299 w 11291299"/>
              <a:gd name="connsiteY4" fmla="*/ 1831288 h 2034764"/>
              <a:gd name="connsiteX5" fmla="*/ 11087823 w 11291299"/>
              <a:gd name="connsiteY5" fmla="*/ 2034764 h 2034764"/>
              <a:gd name="connsiteX6" fmla="*/ 203476 w 11291299"/>
              <a:gd name="connsiteY6" fmla="*/ 2034764 h 2034764"/>
              <a:gd name="connsiteX7" fmla="*/ 0 w 11291299"/>
              <a:gd name="connsiteY7" fmla="*/ 1831288 h 2034764"/>
              <a:gd name="connsiteX8" fmla="*/ 0 w 11291299"/>
              <a:gd name="connsiteY8" fmla="*/ 203476 h 203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91299" h="2034764">
                <a:moveTo>
                  <a:pt x="0" y="203476"/>
                </a:moveTo>
                <a:cubicBezTo>
                  <a:pt x="0" y="91099"/>
                  <a:pt x="91099" y="0"/>
                  <a:pt x="203476" y="0"/>
                </a:cubicBezTo>
                <a:lnTo>
                  <a:pt x="11087823" y="0"/>
                </a:lnTo>
                <a:cubicBezTo>
                  <a:pt x="11200200" y="0"/>
                  <a:pt x="11291299" y="91099"/>
                  <a:pt x="11291299" y="203476"/>
                </a:cubicBezTo>
                <a:lnTo>
                  <a:pt x="11291299" y="1831288"/>
                </a:lnTo>
                <a:cubicBezTo>
                  <a:pt x="11291299" y="1943665"/>
                  <a:pt x="11200200" y="2034764"/>
                  <a:pt x="11087823" y="2034764"/>
                </a:cubicBezTo>
                <a:lnTo>
                  <a:pt x="203476" y="2034764"/>
                </a:lnTo>
                <a:cubicBezTo>
                  <a:pt x="91099" y="2034764"/>
                  <a:pt x="0" y="1943665"/>
                  <a:pt x="0" y="1831288"/>
                </a:cubicBezTo>
                <a:lnTo>
                  <a:pt x="0" y="20347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556986" tIns="95250" rIns="95251" bIns="95250" numCol="1" spcCol="1270" anchor="t" anchorCtr="0">
            <a:noAutofit/>
          </a:bodyPr>
          <a:lstStyle/>
          <a:p>
            <a:pPr marL="0" lvl="0" indent="0" algn="l" defTabSz="1111250">
              <a:lnSpc>
                <a:spcPct val="90000"/>
              </a:lnSpc>
              <a:spcBef>
                <a:spcPct val="0"/>
              </a:spcBef>
              <a:spcAft>
                <a:spcPct val="35000"/>
              </a:spcAft>
              <a:buNone/>
            </a:pPr>
            <a:r>
              <a:rPr lang="en-US" sz="2500" b="1" kern="1200" dirty="0"/>
              <a:t>STRUCTURE CHART</a:t>
            </a:r>
            <a:endParaRPr lang="en-MY" sz="2500" b="1" kern="1200" dirty="0"/>
          </a:p>
          <a:p>
            <a:pPr lvl="0" algn="just" eaLnBrk="1" hangingPunct="1">
              <a:spcBef>
                <a:spcPct val="20000"/>
              </a:spcBef>
              <a:buClr>
                <a:schemeClr val="folHlink"/>
              </a:buClr>
              <a:buSzPct val="60000"/>
            </a:pPr>
            <a:r>
              <a:rPr lang="en-US" sz="2000" dirty="0">
                <a:solidFill>
                  <a:schemeClr val="bg1"/>
                </a:solidFill>
              </a:rPr>
              <a:t>When we want to design a program code, usually we will </a:t>
            </a:r>
            <a:r>
              <a:rPr lang="en-US" sz="2000" b="1" dirty="0">
                <a:solidFill>
                  <a:schemeClr val="bg1"/>
                </a:solidFill>
              </a:rPr>
              <a:t>transform logical DFD</a:t>
            </a:r>
            <a:r>
              <a:rPr lang="en-US" sz="2000" dirty="0">
                <a:solidFill>
                  <a:schemeClr val="bg1"/>
                </a:solidFill>
              </a:rPr>
              <a:t> (to-be) to a set of structure chart. From a structure chart, we can write a pseudocode or draw a flow chart before to start programming.  </a:t>
            </a:r>
          </a:p>
        </p:txBody>
      </p:sp>
      <p:sp>
        <p:nvSpPr>
          <p:cNvPr id="11" name="Freeform 10">
            <a:extLst>
              <a:ext uri="{FF2B5EF4-FFF2-40B4-BE49-F238E27FC236}">
                <a16:creationId xmlns:a16="http://schemas.microsoft.com/office/drawing/2014/main" id="{4D5EE50F-1F84-6C42-9801-79C47692C77A}"/>
              </a:ext>
            </a:extLst>
          </p:cNvPr>
          <p:cNvSpPr/>
          <p:nvPr/>
        </p:nvSpPr>
        <p:spPr>
          <a:xfrm>
            <a:off x="427038" y="3882106"/>
            <a:ext cx="11291299" cy="2034764"/>
          </a:xfrm>
          <a:custGeom>
            <a:avLst/>
            <a:gdLst>
              <a:gd name="connsiteX0" fmla="*/ 0 w 11291299"/>
              <a:gd name="connsiteY0" fmla="*/ 203476 h 2034764"/>
              <a:gd name="connsiteX1" fmla="*/ 203476 w 11291299"/>
              <a:gd name="connsiteY1" fmla="*/ 0 h 2034764"/>
              <a:gd name="connsiteX2" fmla="*/ 11087823 w 11291299"/>
              <a:gd name="connsiteY2" fmla="*/ 0 h 2034764"/>
              <a:gd name="connsiteX3" fmla="*/ 11291299 w 11291299"/>
              <a:gd name="connsiteY3" fmla="*/ 203476 h 2034764"/>
              <a:gd name="connsiteX4" fmla="*/ 11291299 w 11291299"/>
              <a:gd name="connsiteY4" fmla="*/ 1831288 h 2034764"/>
              <a:gd name="connsiteX5" fmla="*/ 11087823 w 11291299"/>
              <a:gd name="connsiteY5" fmla="*/ 2034764 h 2034764"/>
              <a:gd name="connsiteX6" fmla="*/ 203476 w 11291299"/>
              <a:gd name="connsiteY6" fmla="*/ 2034764 h 2034764"/>
              <a:gd name="connsiteX7" fmla="*/ 0 w 11291299"/>
              <a:gd name="connsiteY7" fmla="*/ 1831288 h 2034764"/>
              <a:gd name="connsiteX8" fmla="*/ 0 w 11291299"/>
              <a:gd name="connsiteY8" fmla="*/ 203476 h 203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91299" h="2034764">
                <a:moveTo>
                  <a:pt x="0" y="203476"/>
                </a:moveTo>
                <a:cubicBezTo>
                  <a:pt x="0" y="91099"/>
                  <a:pt x="91099" y="0"/>
                  <a:pt x="203476" y="0"/>
                </a:cubicBezTo>
                <a:lnTo>
                  <a:pt x="11087823" y="0"/>
                </a:lnTo>
                <a:cubicBezTo>
                  <a:pt x="11200200" y="0"/>
                  <a:pt x="11291299" y="91099"/>
                  <a:pt x="11291299" y="203476"/>
                </a:cubicBezTo>
                <a:lnTo>
                  <a:pt x="11291299" y="1831288"/>
                </a:lnTo>
                <a:cubicBezTo>
                  <a:pt x="11291299" y="1943665"/>
                  <a:pt x="11200200" y="2034764"/>
                  <a:pt x="11087823" y="2034764"/>
                </a:cubicBezTo>
                <a:lnTo>
                  <a:pt x="203476" y="2034764"/>
                </a:lnTo>
                <a:cubicBezTo>
                  <a:pt x="91099" y="2034764"/>
                  <a:pt x="0" y="1943665"/>
                  <a:pt x="0" y="1831288"/>
                </a:cubicBezTo>
                <a:lnTo>
                  <a:pt x="0" y="203476"/>
                </a:lnTo>
                <a:close/>
              </a:path>
            </a:pathLst>
          </a:custGeom>
        </p:spPr>
        <p:style>
          <a:lnRef idx="2">
            <a:schemeClr val="lt1">
              <a:hueOff val="0"/>
              <a:satOff val="0"/>
              <a:lumOff val="0"/>
              <a:alphaOff val="0"/>
            </a:schemeClr>
          </a:lnRef>
          <a:fillRef idx="1">
            <a:schemeClr val="accent2">
              <a:hueOff val="-1455363"/>
              <a:satOff val="-83928"/>
              <a:lumOff val="8628"/>
              <a:alphaOff val="0"/>
            </a:schemeClr>
          </a:fillRef>
          <a:effectRef idx="0">
            <a:schemeClr val="accent2">
              <a:hueOff val="-1455363"/>
              <a:satOff val="-83928"/>
              <a:lumOff val="8628"/>
              <a:alphaOff val="0"/>
            </a:schemeClr>
          </a:effectRef>
          <a:fontRef idx="minor">
            <a:schemeClr val="lt1"/>
          </a:fontRef>
        </p:style>
        <p:txBody>
          <a:bodyPr spcFirstLastPara="0" vert="horz" wrap="square" lIns="2556986" tIns="95250" rIns="95251" bIns="95250" numCol="1" spcCol="1270" anchor="t" anchorCtr="0">
            <a:noAutofit/>
          </a:bodyPr>
          <a:lstStyle/>
          <a:p>
            <a:pPr marL="0" lvl="0" indent="0" algn="l" defTabSz="1111250">
              <a:lnSpc>
                <a:spcPct val="90000"/>
              </a:lnSpc>
              <a:spcBef>
                <a:spcPct val="0"/>
              </a:spcBef>
              <a:spcAft>
                <a:spcPct val="35000"/>
              </a:spcAft>
              <a:buNone/>
            </a:pPr>
            <a:r>
              <a:rPr lang="en-US" sz="2500" b="1" kern="1200" dirty="0"/>
              <a:t>ER DIAGRAM</a:t>
            </a:r>
            <a:endParaRPr lang="en-MY" sz="2500" b="1" kern="1200" dirty="0"/>
          </a:p>
          <a:p>
            <a:pPr marL="0" lvl="1" algn="just" defTabSz="889000">
              <a:lnSpc>
                <a:spcPct val="90000"/>
              </a:lnSpc>
              <a:spcAft>
                <a:spcPct val="15000"/>
              </a:spcAft>
            </a:pPr>
            <a:r>
              <a:rPr lang="en-US" sz="2000" dirty="0">
                <a:solidFill>
                  <a:schemeClr val="bg1"/>
                </a:solidFill>
              </a:rPr>
              <a:t>We will need this very useful data modeling tool when to design database. </a:t>
            </a:r>
            <a:r>
              <a:rPr lang="en-US" sz="2000" b="1" dirty="0">
                <a:solidFill>
                  <a:schemeClr val="bg1"/>
                </a:solidFill>
              </a:rPr>
              <a:t>From DFD</a:t>
            </a:r>
            <a:r>
              <a:rPr lang="en-US" sz="2000" dirty="0">
                <a:solidFill>
                  <a:schemeClr val="bg1"/>
                </a:solidFill>
              </a:rPr>
              <a:t>, we have many data storage elements which will may to be automated. We use E-R diagram to design database for them. Meaning, how to systematically store all data as computer format</a:t>
            </a:r>
            <a:endParaRPr lang="en-MY" sz="2000" kern="1200" dirty="0">
              <a:solidFill>
                <a:schemeClr val="bg1"/>
              </a:solidFill>
            </a:endParaRPr>
          </a:p>
        </p:txBody>
      </p:sp>
      <p:pic>
        <p:nvPicPr>
          <p:cNvPr id="3" name="Picture 2">
            <a:extLst>
              <a:ext uri="{FF2B5EF4-FFF2-40B4-BE49-F238E27FC236}">
                <a16:creationId xmlns:a16="http://schemas.microsoft.com/office/drawing/2014/main" id="{DFD81198-6AED-1049-83DC-868BFE828B2A}"/>
              </a:ext>
            </a:extLst>
          </p:cNvPr>
          <p:cNvPicPr>
            <a:picLocks noChangeAspect="1"/>
          </p:cNvPicPr>
          <p:nvPr/>
        </p:nvPicPr>
        <p:blipFill rotWithShape="1">
          <a:blip r:embed="rId2">
            <a:extLst>
              <a:ext uri="{28A0092B-C50C-407E-A947-70E740481C1C}">
                <a14:useLocalDpi xmlns:a14="http://schemas.microsoft.com/office/drawing/2010/main" val="0"/>
              </a:ext>
            </a:extLst>
          </a:blip>
          <a:srcRect l="18326"/>
          <a:stretch/>
        </p:blipFill>
        <p:spPr>
          <a:xfrm>
            <a:off x="616430" y="1848517"/>
            <a:ext cx="2088770" cy="1580483"/>
          </a:xfrm>
          <a:prstGeom prst="rect">
            <a:avLst/>
          </a:prstGeom>
        </p:spPr>
      </p:pic>
      <p:pic>
        <p:nvPicPr>
          <p:cNvPr id="5" name="Picture 4">
            <a:extLst>
              <a:ext uri="{FF2B5EF4-FFF2-40B4-BE49-F238E27FC236}">
                <a16:creationId xmlns:a16="http://schemas.microsoft.com/office/drawing/2014/main" id="{FF3F6A5B-6BE8-4544-9090-3F8F55FC1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430" y="4109662"/>
            <a:ext cx="2088770" cy="1572707"/>
          </a:xfrm>
          <a:prstGeom prst="rect">
            <a:avLst/>
          </a:prstGeom>
        </p:spPr>
      </p:pic>
    </p:spTree>
    <p:extLst>
      <p:ext uri="{BB962C8B-B14F-4D97-AF65-F5344CB8AC3E}">
        <p14:creationId xmlns:p14="http://schemas.microsoft.com/office/powerpoint/2010/main" val="4166001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EB338B-FB39-BC4C-A2CA-57F55D59D6F4}"/>
              </a:ext>
            </a:extLst>
          </p:cNvPr>
          <p:cNvSpPr txBox="1"/>
          <p:nvPr/>
        </p:nvSpPr>
        <p:spPr>
          <a:xfrm>
            <a:off x="9952234" y="4454207"/>
            <a:ext cx="2239766" cy="246221"/>
          </a:xfrm>
          <a:prstGeom prst="rect">
            <a:avLst/>
          </a:prstGeom>
          <a:noFill/>
        </p:spPr>
        <p:txBody>
          <a:bodyPr wrap="square" rtlCol="0">
            <a:spAutoFit/>
          </a:bodyPr>
          <a:lstStyle/>
          <a:p>
            <a:pPr algn="r"/>
            <a:r>
              <a:rPr lang="en-US" sz="1000" dirty="0">
                <a:solidFill>
                  <a:schemeClr val="bg1"/>
                </a:solidFill>
              </a:rPr>
              <a:t>update: August 2019 (</a:t>
            </a:r>
            <a:r>
              <a:rPr lang="en-US" sz="1000" dirty="0" err="1">
                <a:solidFill>
                  <a:schemeClr val="bg1"/>
                </a:solidFill>
              </a:rPr>
              <a:t>sharinhh</a:t>
            </a:r>
            <a:r>
              <a:rPr lang="en-US" sz="1000" dirty="0">
                <a:solidFill>
                  <a:schemeClr val="bg1"/>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TotalTime>
  <Words>1369</Words>
  <Application>Microsoft Macintosh PowerPoint</Application>
  <PresentationFormat>Widescreen</PresentationFormat>
  <Paragraphs>233</Paragraphs>
  <Slides>33</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3" baseType="lpstr">
      <vt:lpstr>Arial</vt:lpstr>
      <vt:lpstr>Avenir Book</vt:lpstr>
      <vt:lpstr>Calibri</vt:lpstr>
      <vt:lpstr>Calibri Light</vt:lpstr>
      <vt:lpstr>Jester</vt:lpstr>
      <vt:lpstr>Verdana</vt:lpstr>
      <vt:lpstr>Wingdings</vt:lpstr>
      <vt:lpstr>Office Theme</vt:lpstr>
      <vt:lpstr>Image</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acidfed</dc:creator>
  <cp:lastModifiedBy>Azmi Kamis</cp:lastModifiedBy>
  <cp:revision>40</cp:revision>
  <dcterms:created xsi:type="dcterms:W3CDTF">2019-01-15T04:04:43Z</dcterms:created>
  <dcterms:modified xsi:type="dcterms:W3CDTF">2019-08-27T13:48:04Z</dcterms:modified>
</cp:coreProperties>
</file>